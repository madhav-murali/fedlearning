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12192000"/>
  <p:notesSz cx="6858000" cy="9144000"/>
  <p:embeddedFontLst>
    <p:embeddedFont>
      <p:font typeface="Robo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h6S1w8EerIblStm0k7AiSw/aoe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423510-A241-49EB-94F7-8464A1D09D61}">
  <a:tblStyle styleId="{F9423510-A241-49EB-94F7-8464A1D09D6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regular.fntdata"/><Relationship Id="rId47" Type="http://schemas.openxmlformats.org/officeDocument/2006/relationships/slide" Target="slides/slide42.xml"/><Relationship Id="rId49"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Italic.fntdata"/><Relationship Id="rId50" Type="http://schemas.openxmlformats.org/officeDocument/2006/relationships/font" Target="fonts/Roboto-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d3844482c_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bd3844482c_1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3bd3844482c_1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8aac116b48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8aac116b48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a:latin typeface="Arial"/>
                <a:ea typeface="Arial"/>
                <a:cs typeface="Arial"/>
                <a:sym typeface="Arial"/>
              </a:rPr>
              <a:t>Privacy, Security &amp; Compliance</a:t>
            </a:r>
            <a:endParaRPr b="1">
              <a:latin typeface="Arial"/>
              <a:ea typeface="Arial"/>
              <a:cs typeface="Arial"/>
              <a:sym typeface="Arial"/>
            </a:endParaRPr>
          </a:p>
          <a:p>
            <a:pPr indent="-279400" lvl="0" marL="457200" rtl="0" algn="l">
              <a:lnSpc>
                <a:spcPct val="115000"/>
              </a:lnSpc>
              <a:spcBef>
                <a:spcPts val="1200"/>
              </a:spcBef>
              <a:spcAft>
                <a:spcPts val="0"/>
              </a:spcAft>
              <a:buClr>
                <a:schemeClr val="dk1"/>
              </a:buClr>
              <a:buSzPts val="800"/>
              <a:buChar char="●"/>
            </a:pPr>
            <a:r>
              <a:rPr b="1" lang="en-IN" sz="800">
                <a:latin typeface="Arial"/>
                <a:ea typeface="Arial"/>
                <a:cs typeface="Arial"/>
                <a:sym typeface="Arial"/>
              </a:rPr>
              <a:t>HIPAA / GDPR issues</a:t>
            </a:r>
            <a:r>
              <a:rPr lang="en-IN" sz="800">
                <a:latin typeface="Arial"/>
                <a:ea typeface="Arial"/>
                <a:cs typeface="Arial"/>
                <a:sym typeface="Arial"/>
              </a:rPr>
              <a:t> – Privacy regulations, system mismatches.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DP (Differential Privacy)</a:t>
            </a:r>
            <a:r>
              <a:rPr lang="en-IN" sz="800">
                <a:latin typeface="Arial"/>
                <a:ea typeface="Arial"/>
                <a:cs typeface="Arial"/>
                <a:sym typeface="Arial"/>
              </a:rPr>
              <a:t> – Adds noise to protect individual data.</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HE (Homomorphic Encryption)</a:t>
            </a:r>
            <a:r>
              <a:rPr lang="en-IN" sz="800">
                <a:latin typeface="Arial"/>
                <a:ea typeface="Arial"/>
                <a:cs typeface="Arial"/>
                <a:sym typeface="Arial"/>
              </a:rPr>
              <a:t> – Compute on encrypted data.</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TEE (Trusted Execution Environment)</a:t>
            </a:r>
            <a:r>
              <a:rPr lang="en-IN" sz="800">
                <a:latin typeface="Arial"/>
                <a:ea typeface="Arial"/>
                <a:cs typeface="Arial"/>
                <a:sym typeface="Arial"/>
              </a:rPr>
              <a:t> – Hardware-based secure enclaves.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Privacy–accuracy trade-off</a:t>
            </a:r>
            <a:r>
              <a:rPr lang="en-IN" sz="800">
                <a:latin typeface="Arial"/>
                <a:ea typeface="Arial"/>
                <a:cs typeface="Arial"/>
                <a:sym typeface="Arial"/>
              </a:rPr>
              <a:t> – Strong privacy often reduces model performance.</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Attacks</a:t>
            </a:r>
            <a:r>
              <a:rPr lang="en-IN" sz="800">
                <a:latin typeface="Arial"/>
                <a:ea typeface="Arial"/>
                <a:cs typeface="Arial"/>
                <a:sym typeface="Arial"/>
              </a:rPr>
              <a:t> –</a:t>
            </a:r>
            <a:endParaRPr sz="800">
              <a:latin typeface="Arial"/>
              <a:ea typeface="Arial"/>
              <a:cs typeface="Arial"/>
              <a:sym typeface="Arial"/>
            </a:endParaRPr>
          </a:p>
          <a:p>
            <a:pPr indent="-279400" lvl="1" marL="914400" rtl="0" algn="l">
              <a:lnSpc>
                <a:spcPct val="115000"/>
              </a:lnSpc>
              <a:spcBef>
                <a:spcPts val="0"/>
              </a:spcBef>
              <a:spcAft>
                <a:spcPts val="0"/>
              </a:spcAft>
              <a:buClr>
                <a:schemeClr val="dk1"/>
              </a:buClr>
              <a:buSzPts val="800"/>
              <a:buChar char="○"/>
            </a:pPr>
            <a:r>
              <a:rPr lang="en-IN" sz="800">
                <a:latin typeface="Arial"/>
                <a:ea typeface="Arial"/>
                <a:cs typeface="Arial"/>
                <a:sym typeface="Arial"/>
              </a:rPr>
              <a:t>Poisoning: Malicious updates.</a:t>
            </a:r>
            <a:endParaRPr sz="800">
              <a:latin typeface="Arial"/>
              <a:ea typeface="Arial"/>
              <a:cs typeface="Arial"/>
              <a:sym typeface="Arial"/>
            </a:endParaRPr>
          </a:p>
          <a:p>
            <a:pPr indent="-279400" lvl="1" marL="914400" rtl="0" algn="l">
              <a:lnSpc>
                <a:spcPct val="115000"/>
              </a:lnSpc>
              <a:spcBef>
                <a:spcPts val="0"/>
              </a:spcBef>
              <a:spcAft>
                <a:spcPts val="0"/>
              </a:spcAft>
              <a:buClr>
                <a:schemeClr val="dk1"/>
              </a:buClr>
              <a:buSzPts val="800"/>
              <a:buChar char="○"/>
            </a:pPr>
            <a:r>
              <a:rPr lang="en-IN" sz="800">
                <a:latin typeface="Arial"/>
                <a:ea typeface="Arial"/>
                <a:cs typeface="Arial"/>
                <a:sym typeface="Arial"/>
              </a:rPr>
              <a:t>Inference: Extracting sensitive data.</a:t>
            </a:r>
            <a:endParaRPr sz="800">
              <a:latin typeface="Arial"/>
              <a:ea typeface="Arial"/>
              <a:cs typeface="Arial"/>
              <a:sym typeface="Arial"/>
            </a:endParaRPr>
          </a:p>
          <a:p>
            <a:pPr indent="-279400" lvl="1" marL="914400" rtl="0" algn="l">
              <a:lnSpc>
                <a:spcPct val="115000"/>
              </a:lnSpc>
              <a:spcBef>
                <a:spcPts val="0"/>
              </a:spcBef>
              <a:spcAft>
                <a:spcPts val="0"/>
              </a:spcAft>
              <a:buClr>
                <a:schemeClr val="dk1"/>
              </a:buClr>
              <a:buSzPts val="800"/>
              <a:buChar char="○"/>
            </a:pPr>
            <a:r>
              <a:rPr lang="en-IN" sz="800">
                <a:latin typeface="Arial"/>
                <a:ea typeface="Arial"/>
                <a:cs typeface="Arial"/>
                <a:sym typeface="Arial"/>
              </a:rPr>
              <a:t>Adversarial manipulation: Crafted updates to mislead.</a:t>
            </a:r>
            <a:endParaRPr sz="900"/>
          </a:p>
        </p:txBody>
      </p:sp>
      <p:sp>
        <p:nvSpPr>
          <p:cNvPr id="118" name="Google Shape;118;g38aac116b48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aac116b48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8aac116b48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8aac116b48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aac116b48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8aac116b48_0_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8aac116b48_0_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aac116b48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8aac116b48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8aac116b48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aac116b48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38aac116b48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38aac116b48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35b86f96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835b86f96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835b86f96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aac116b48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8aac116b48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8aac116b48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aac116b48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8aac116b48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8aac116b48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IN" sz="800">
                <a:latin typeface="Arial"/>
                <a:ea typeface="Arial"/>
                <a:cs typeface="Arial"/>
                <a:sym typeface="Arial"/>
              </a:rPr>
              <a:t> </a:t>
            </a:r>
            <a:r>
              <a:rPr b="1" lang="en-IN" sz="900">
                <a:latin typeface="Arial"/>
                <a:ea typeface="Arial"/>
                <a:cs typeface="Arial"/>
                <a:sym typeface="Arial"/>
              </a:rPr>
              <a:t>Privacy, Security &amp; Compliance</a:t>
            </a:r>
            <a:endParaRPr b="1" sz="900">
              <a:latin typeface="Arial"/>
              <a:ea typeface="Arial"/>
              <a:cs typeface="Arial"/>
              <a:sym typeface="Arial"/>
            </a:endParaRPr>
          </a:p>
          <a:p>
            <a:pPr indent="-273050" lvl="0" marL="457200" rtl="0" algn="l">
              <a:lnSpc>
                <a:spcPct val="115000"/>
              </a:lnSpc>
              <a:spcBef>
                <a:spcPts val="1200"/>
              </a:spcBef>
              <a:spcAft>
                <a:spcPts val="0"/>
              </a:spcAft>
              <a:buClr>
                <a:schemeClr val="dk1"/>
              </a:buClr>
              <a:buSzPts val="700"/>
              <a:buChar char="●"/>
            </a:pPr>
            <a:r>
              <a:rPr b="1" lang="en-IN" sz="700">
                <a:latin typeface="Arial"/>
                <a:ea typeface="Arial"/>
                <a:cs typeface="Arial"/>
                <a:sym typeface="Arial"/>
              </a:rPr>
              <a:t>HIPAA / GDPR issues</a:t>
            </a:r>
            <a:r>
              <a:rPr lang="en-IN" sz="700">
                <a:latin typeface="Arial"/>
                <a:ea typeface="Arial"/>
                <a:cs typeface="Arial"/>
                <a:sym typeface="Arial"/>
              </a:rPr>
              <a:t> – Privacy regulations, system mismatches.</a:t>
            </a:r>
            <a:endParaRPr sz="700">
              <a:latin typeface="Arial"/>
              <a:ea typeface="Arial"/>
              <a:cs typeface="Arial"/>
              <a:sym typeface="Arial"/>
            </a:endParaRPr>
          </a:p>
          <a:p>
            <a:pPr indent="-273050" lvl="0" marL="457200" rtl="0" algn="l">
              <a:lnSpc>
                <a:spcPct val="115000"/>
              </a:lnSpc>
              <a:spcBef>
                <a:spcPts val="0"/>
              </a:spcBef>
              <a:spcAft>
                <a:spcPts val="0"/>
              </a:spcAft>
              <a:buClr>
                <a:schemeClr val="dk1"/>
              </a:buClr>
              <a:buSzPts val="700"/>
              <a:buChar char="●"/>
            </a:pPr>
            <a:r>
              <a:rPr b="1" lang="en-IN" sz="700">
                <a:latin typeface="Arial"/>
                <a:ea typeface="Arial"/>
                <a:cs typeface="Arial"/>
                <a:sym typeface="Arial"/>
              </a:rPr>
              <a:t>DP (Differential Privacy)</a:t>
            </a:r>
            <a:r>
              <a:rPr lang="en-IN" sz="700">
                <a:latin typeface="Arial"/>
                <a:ea typeface="Arial"/>
                <a:cs typeface="Arial"/>
                <a:sym typeface="Arial"/>
              </a:rPr>
              <a:t> – Adds noise to protect individual data.</a:t>
            </a:r>
            <a:endParaRPr sz="700">
              <a:latin typeface="Arial"/>
              <a:ea typeface="Arial"/>
              <a:cs typeface="Arial"/>
              <a:sym typeface="Arial"/>
            </a:endParaRPr>
          </a:p>
          <a:p>
            <a:pPr indent="-273050" lvl="0" marL="457200" rtl="0" algn="l">
              <a:lnSpc>
                <a:spcPct val="115000"/>
              </a:lnSpc>
              <a:spcBef>
                <a:spcPts val="0"/>
              </a:spcBef>
              <a:spcAft>
                <a:spcPts val="0"/>
              </a:spcAft>
              <a:buClr>
                <a:schemeClr val="dk1"/>
              </a:buClr>
              <a:buSzPts val="700"/>
              <a:buChar char="●"/>
            </a:pPr>
            <a:r>
              <a:rPr b="1" lang="en-IN" sz="700">
                <a:latin typeface="Arial"/>
                <a:ea typeface="Arial"/>
                <a:cs typeface="Arial"/>
                <a:sym typeface="Arial"/>
              </a:rPr>
              <a:t>HE (Homomorphic Encryption)</a:t>
            </a:r>
            <a:r>
              <a:rPr lang="en-IN" sz="700">
                <a:latin typeface="Arial"/>
                <a:ea typeface="Arial"/>
                <a:cs typeface="Arial"/>
                <a:sym typeface="Arial"/>
              </a:rPr>
              <a:t> – Compute on encrypted data.</a:t>
            </a:r>
            <a:endParaRPr sz="700">
              <a:latin typeface="Arial"/>
              <a:ea typeface="Arial"/>
              <a:cs typeface="Arial"/>
              <a:sym typeface="Arial"/>
            </a:endParaRPr>
          </a:p>
          <a:p>
            <a:pPr indent="-273050" lvl="0" marL="457200" rtl="0" algn="l">
              <a:lnSpc>
                <a:spcPct val="115000"/>
              </a:lnSpc>
              <a:spcBef>
                <a:spcPts val="0"/>
              </a:spcBef>
              <a:spcAft>
                <a:spcPts val="0"/>
              </a:spcAft>
              <a:buClr>
                <a:schemeClr val="dk1"/>
              </a:buClr>
              <a:buSzPts val="700"/>
              <a:buChar char="●"/>
            </a:pPr>
            <a:r>
              <a:rPr b="1" lang="en-IN" sz="700">
                <a:latin typeface="Arial"/>
                <a:ea typeface="Arial"/>
                <a:cs typeface="Arial"/>
                <a:sym typeface="Arial"/>
              </a:rPr>
              <a:t>TEE (Trusted Execution Environment)</a:t>
            </a:r>
            <a:r>
              <a:rPr lang="en-IN" sz="700">
                <a:latin typeface="Arial"/>
                <a:ea typeface="Arial"/>
                <a:cs typeface="Arial"/>
                <a:sym typeface="Arial"/>
              </a:rPr>
              <a:t> – Hardware-based secure enclaves.</a:t>
            </a:r>
            <a:endParaRPr sz="700">
              <a:latin typeface="Arial"/>
              <a:ea typeface="Arial"/>
              <a:cs typeface="Arial"/>
              <a:sym typeface="Arial"/>
            </a:endParaRPr>
          </a:p>
          <a:p>
            <a:pPr indent="-273050" lvl="0" marL="457200" rtl="0" algn="l">
              <a:lnSpc>
                <a:spcPct val="115000"/>
              </a:lnSpc>
              <a:spcBef>
                <a:spcPts val="0"/>
              </a:spcBef>
              <a:spcAft>
                <a:spcPts val="0"/>
              </a:spcAft>
              <a:buClr>
                <a:schemeClr val="dk1"/>
              </a:buClr>
              <a:buSzPts val="700"/>
              <a:buChar char="●"/>
            </a:pPr>
            <a:r>
              <a:rPr b="1" lang="en-IN" sz="700">
                <a:latin typeface="Arial"/>
                <a:ea typeface="Arial"/>
                <a:cs typeface="Arial"/>
                <a:sym typeface="Arial"/>
              </a:rPr>
              <a:t>Privacy–accuracy trade-off</a:t>
            </a:r>
            <a:r>
              <a:rPr lang="en-IN" sz="700">
                <a:latin typeface="Arial"/>
                <a:ea typeface="Arial"/>
                <a:cs typeface="Arial"/>
                <a:sym typeface="Arial"/>
              </a:rPr>
              <a:t> – Strong privacy often reduces model performance.</a:t>
            </a:r>
            <a:endParaRPr sz="700">
              <a:latin typeface="Arial"/>
              <a:ea typeface="Arial"/>
              <a:cs typeface="Arial"/>
              <a:sym typeface="Arial"/>
            </a:endParaRPr>
          </a:p>
          <a:p>
            <a:pPr indent="-273050" lvl="0" marL="457200" rtl="0" algn="l">
              <a:lnSpc>
                <a:spcPct val="115000"/>
              </a:lnSpc>
              <a:spcBef>
                <a:spcPts val="0"/>
              </a:spcBef>
              <a:spcAft>
                <a:spcPts val="0"/>
              </a:spcAft>
              <a:buClr>
                <a:schemeClr val="dk1"/>
              </a:buClr>
              <a:buSzPts val="700"/>
              <a:buChar char="●"/>
            </a:pPr>
            <a:r>
              <a:rPr b="1" lang="en-IN" sz="700">
                <a:latin typeface="Arial"/>
                <a:ea typeface="Arial"/>
                <a:cs typeface="Arial"/>
                <a:sym typeface="Arial"/>
              </a:rPr>
              <a:t>Attacks</a:t>
            </a:r>
            <a:r>
              <a:rPr lang="en-IN" sz="700">
                <a:latin typeface="Arial"/>
                <a:ea typeface="Arial"/>
                <a:cs typeface="Arial"/>
                <a:sym typeface="Arial"/>
              </a:rPr>
              <a:t> –</a:t>
            </a:r>
            <a:endParaRPr sz="700">
              <a:latin typeface="Arial"/>
              <a:ea typeface="Arial"/>
              <a:cs typeface="Arial"/>
              <a:sym typeface="Arial"/>
            </a:endParaRPr>
          </a:p>
          <a:p>
            <a:pPr indent="-273050" lvl="1" marL="914400" rtl="0" algn="l">
              <a:lnSpc>
                <a:spcPct val="115000"/>
              </a:lnSpc>
              <a:spcBef>
                <a:spcPts val="0"/>
              </a:spcBef>
              <a:spcAft>
                <a:spcPts val="0"/>
              </a:spcAft>
              <a:buClr>
                <a:schemeClr val="dk1"/>
              </a:buClr>
              <a:buSzPts val="700"/>
              <a:buChar char="○"/>
            </a:pPr>
            <a:r>
              <a:rPr lang="en-IN" sz="700">
                <a:latin typeface="Arial"/>
                <a:ea typeface="Arial"/>
                <a:cs typeface="Arial"/>
                <a:sym typeface="Arial"/>
              </a:rPr>
              <a:t>Poisoning: Malicious updates.</a:t>
            </a:r>
            <a:endParaRPr sz="700">
              <a:latin typeface="Arial"/>
              <a:ea typeface="Arial"/>
              <a:cs typeface="Arial"/>
              <a:sym typeface="Arial"/>
            </a:endParaRPr>
          </a:p>
          <a:p>
            <a:pPr indent="-273050" lvl="1" marL="914400" rtl="0" algn="l">
              <a:lnSpc>
                <a:spcPct val="115000"/>
              </a:lnSpc>
              <a:spcBef>
                <a:spcPts val="0"/>
              </a:spcBef>
              <a:spcAft>
                <a:spcPts val="0"/>
              </a:spcAft>
              <a:buClr>
                <a:schemeClr val="dk1"/>
              </a:buClr>
              <a:buSzPts val="700"/>
              <a:buChar char="○"/>
            </a:pPr>
            <a:r>
              <a:rPr lang="en-IN" sz="700">
                <a:latin typeface="Arial"/>
                <a:ea typeface="Arial"/>
                <a:cs typeface="Arial"/>
                <a:sym typeface="Arial"/>
              </a:rPr>
              <a:t>Inference: Extracting sensitive data.</a:t>
            </a:r>
            <a:endParaRPr sz="700">
              <a:latin typeface="Arial"/>
              <a:ea typeface="Arial"/>
              <a:cs typeface="Arial"/>
              <a:sym typeface="Arial"/>
            </a:endParaRPr>
          </a:p>
          <a:p>
            <a:pPr indent="-273050" lvl="1" marL="914400" rtl="0" algn="l">
              <a:lnSpc>
                <a:spcPct val="115000"/>
              </a:lnSpc>
              <a:spcBef>
                <a:spcPts val="0"/>
              </a:spcBef>
              <a:spcAft>
                <a:spcPts val="0"/>
              </a:spcAft>
              <a:buClr>
                <a:schemeClr val="dk1"/>
              </a:buClr>
              <a:buSzPts val="700"/>
              <a:buChar char="○"/>
            </a:pPr>
            <a:r>
              <a:rPr lang="en-IN" sz="700">
                <a:latin typeface="Arial"/>
                <a:ea typeface="Arial"/>
                <a:cs typeface="Arial"/>
                <a:sym typeface="Arial"/>
              </a:rPr>
              <a:t>Adversarial manipulation: Crafted updates to mislead.</a:t>
            </a:r>
            <a:endParaRPr b="1" sz="4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Overheads</a:t>
            </a:r>
            <a:r>
              <a:rPr lang="en-IN" sz="800">
                <a:latin typeface="Arial"/>
                <a:ea typeface="Arial"/>
                <a:cs typeface="Arial"/>
                <a:sym typeface="Arial"/>
              </a:rPr>
              <a:t> – Frequent updates consume bandwidth.</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Device heterogeneity</a:t>
            </a:r>
            <a:r>
              <a:rPr lang="en-IN" sz="800">
                <a:latin typeface="Arial"/>
                <a:ea typeface="Arial"/>
                <a:cs typeface="Arial"/>
                <a:sym typeface="Arial"/>
              </a:rPr>
              <a:t> – Different hardware/software.</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Scalability issues</a:t>
            </a:r>
            <a:r>
              <a:rPr lang="en-IN" sz="800">
                <a:latin typeface="Arial"/>
                <a:ea typeface="Arial"/>
                <a:cs typeface="Arial"/>
                <a:sym typeface="Arial"/>
              </a:rPr>
              <a:t> – Expanding to many hospitals is complex.</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IoMT limits</a:t>
            </a:r>
            <a:r>
              <a:rPr lang="en-IN" sz="800">
                <a:latin typeface="Arial"/>
                <a:ea typeface="Arial"/>
                <a:cs typeface="Arial"/>
                <a:sym typeface="Arial"/>
              </a:rPr>
              <a:t> – Low power, bandwidth, security on wearables/sensors.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Energy-aware methods</a:t>
            </a:r>
            <a:r>
              <a:rPr lang="en-IN" sz="800">
                <a:latin typeface="Arial"/>
                <a:ea typeface="Arial"/>
                <a:cs typeface="Arial"/>
                <a:sym typeface="Arial"/>
              </a:rPr>
              <a:t> – Optimize FL for battery-powered devices.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b="1" lang="en-IN" sz="800">
                <a:latin typeface="Arial"/>
                <a:ea typeface="Arial"/>
                <a:cs typeface="Arial"/>
                <a:sym typeface="Arial"/>
              </a:rPr>
              <a:t>Model compression</a:t>
            </a:r>
            <a:r>
              <a:rPr lang="en-IN" sz="800">
                <a:latin typeface="Arial"/>
                <a:ea typeface="Arial"/>
                <a:cs typeface="Arial"/>
                <a:sym typeface="Arial"/>
              </a:rPr>
              <a:t> – Reduce model size to cut costs.</a:t>
            </a:r>
            <a:endParaRPr sz="800">
              <a:latin typeface="Arial"/>
              <a:ea typeface="Arial"/>
              <a:cs typeface="Arial"/>
              <a:sym typeface="Arial"/>
            </a:endParaRPr>
          </a:p>
          <a:p>
            <a:pPr indent="0" lvl="0" marL="0" rtl="0" algn="l">
              <a:spcBef>
                <a:spcPts val="1200"/>
              </a:spcBef>
              <a:spcAft>
                <a:spcPts val="0"/>
              </a:spcAft>
              <a:buNone/>
            </a:pPr>
            <a:r>
              <a:t/>
            </a:r>
            <a:endParaRPr/>
          </a:p>
        </p:txBody>
      </p:sp>
      <p:sp>
        <p:nvSpPr>
          <p:cNvPr id="208" name="Google Shape;2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cd6bca61b_3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8cd6bca61b_3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8cd6bca61b_3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d16a3255e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bd16a3255e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3bd16a3255e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aac116b48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8aac116b48_0_1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400"/>
              </a:spcAft>
              <a:buNone/>
            </a:pPr>
            <a:r>
              <a:rPr b="1" lang="en-IN" sz="1100">
                <a:latin typeface="Arial"/>
                <a:ea typeface="Arial"/>
                <a:cs typeface="Arial"/>
                <a:sym typeface="Arial"/>
              </a:rPr>
              <a:t>Objective: </a:t>
            </a:r>
            <a:r>
              <a:rPr lang="en-IN" sz="900">
                <a:latin typeface="Arial"/>
                <a:ea typeface="Arial"/>
                <a:cs typeface="Arial"/>
                <a:sym typeface="Arial"/>
              </a:rPr>
              <a:t>The proposed architecture aims to build a privacy-preserving, adaptive, and efficient </a:t>
            </a:r>
            <a:r>
              <a:rPr b="1" lang="en-IN" sz="900">
                <a:latin typeface="Arial"/>
                <a:ea typeface="Arial"/>
                <a:cs typeface="Arial"/>
                <a:sym typeface="Arial"/>
              </a:rPr>
              <a:t>Edge AI system</a:t>
            </a:r>
            <a:r>
              <a:rPr lang="en-IN" sz="900">
                <a:latin typeface="Arial"/>
                <a:ea typeface="Arial"/>
                <a:cs typeface="Arial"/>
                <a:sym typeface="Arial"/>
              </a:rPr>
              <a:t> for healthcare using </a:t>
            </a:r>
            <a:r>
              <a:rPr b="1" lang="en-IN" sz="900">
                <a:latin typeface="Arial"/>
                <a:ea typeface="Arial"/>
                <a:cs typeface="Arial"/>
                <a:sym typeface="Arial"/>
              </a:rPr>
              <a:t>federated learning</a:t>
            </a:r>
            <a:r>
              <a:rPr lang="en-IN" sz="900">
                <a:latin typeface="Arial"/>
                <a:ea typeface="Arial"/>
                <a:cs typeface="Arial"/>
                <a:sym typeface="Arial"/>
              </a:rPr>
              <a:t>, </a:t>
            </a:r>
            <a:r>
              <a:rPr b="1" lang="en-IN" sz="900">
                <a:latin typeface="Arial"/>
                <a:ea typeface="Arial"/>
                <a:cs typeface="Arial"/>
                <a:sym typeface="Arial"/>
              </a:rPr>
              <a:t>transfer learning</a:t>
            </a:r>
            <a:r>
              <a:rPr lang="en-IN" sz="900">
                <a:latin typeface="Arial"/>
                <a:ea typeface="Arial"/>
                <a:cs typeface="Arial"/>
                <a:sym typeface="Arial"/>
              </a:rPr>
              <a:t>, and </a:t>
            </a:r>
            <a:r>
              <a:rPr b="1" lang="en-IN" sz="900">
                <a:latin typeface="Arial"/>
                <a:ea typeface="Arial"/>
                <a:cs typeface="Arial"/>
                <a:sym typeface="Arial"/>
              </a:rPr>
              <a:t>digital twin integration</a:t>
            </a:r>
            <a:r>
              <a:rPr lang="en-IN" sz="900">
                <a:latin typeface="Arial"/>
                <a:ea typeface="Arial"/>
                <a:cs typeface="Arial"/>
                <a:sym typeface="Arial"/>
              </a:rPr>
              <a:t>. It ensures that models are trained locally on edge devices with Electronic Health Record (EHR) data, protecting patient privacy and allowing scalable, distributed model deployment and evaluation.</a:t>
            </a:r>
            <a:endParaRPr sz="900">
              <a:latin typeface="Arial"/>
              <a:ea typeface="Arial"/>
              <a:cs typeface="Arial"/>
              <a:sym typeface="Arial"/>
            </a:endParaRPr>
          </a:p>
        </p:txBody>
      </p:sp>
      <p:sp>
        <p:nvSpPr>
          <p:cNvPr id="249" name="Google Shape;249;g38aac116b48_0_1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3072fe6a8_1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a3072fe6a8_1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3a3072fe6a8_1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d3844482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bd3844482c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400"/>
              </a:spcAft>
              <a:buNone/>
            </a:pPr>
            <a:r>
              <a:rPr b="1" lang="en-IN" sz="1100">
                <a:latin typeface="Arial"/>
                <a:ea typeface="Arial"/>
                <a:cs typeface="Arial"/>
                <a:sym typeface="Arial"/>
              </a:rPr>
              <a:t>Objective: </a:t>
            </a:r>
            <a:r>
              <a:rPr lang="en-IN" sz="900">
                <a:latin typeface="Arial"/>
                <a:ea typeface="Arial"/>
                <a:cs typeface="Arial"/>
                <a:sym typeface="Arial"/>
              </a:rPr>
              <a:t>The proposed architecture aims to build a privacy-preserving, adaptive, and efficient </a:t>
            </a:r>
            <a:r>
              <a:rPr b="1" lang="en-IN" sz="900">
                <a:latin typeface="Arial"/>
                <a:ea typeface="Arial"/>
                <a:cs typeface="Arial"/>
                <a:sym typeface="Arial"/>
              </a:rPr>
              <a:t>Edge AI system</a:t>
            </a:r>
            <a:r>
              <a:rPr lang="en-IN" sz="900">
                <a:latin typeface="Arial"/>
                <a:ea typeface="Arial"/>
                <a:cs typeface="Arial"/>
                <a:sym typeface="Arial"/>
              </a:rPr>
              <a:t> for healthcare using </a:t>
            </a:r>
            <a:r>
              <a:rPr b="1" lang="en-IN" sz="900">
                <a:latin typeface="Arial"/>
                <a:ea typeface="Arial"/>
                <a:cs typeface="Arial"/>
                <a:sym typeface="Arial"/>
              </a:rPr>
              <a:t>federated learning</a:t>
            </a:r>
            <a:r>
              <a:rPr lang="en-IN" sz="900">
                <a:latin typeface="Arial"/>
                <a:ea typeface="Arial"/>
                <a:cs typeface="Arial"/>
                <a:sym typeface="Arial"/>
              </a:rPr>
              <a:t>, </a:t>
            </a:r>
            <a:r>
              <a:rPr b="1" lang="en-IN" sz="900">
                <a:latin typeface="Arial"/>
                <a:ea typeface="Arial"/>
                <a:cs typeface="Arial"/>
                <a:sym typeface="Arial"/>
              </a:rPr>
              <a:t>transfer learning</a:t>
            </a:r>
            <a:r>
              <a:rPr lang="en-IN" sz="900">
                <a:latin typeface="Arial"/>
                <a:ea typeface="Arial"/>
                <a:cs typeface="Arial"/>
                <a:sym typeface="Arial"/>
              </a:rPr>
              <a:t>, and </a:t>
            </a:r>
            <a:r>
              <a:rPr b="1" lang="en-IN" sz="900">
                <a:latin typeface="Arial"/>
                <a:ea typeface="Arial"/>
                <a:cs typeface="Arial"/>
                <a:sym typeface="Arial"/>
              </a:rPr>
              <a:t>digital twin integration</a:t>
            </a:r>
            <a:r>
              <a:rPr lang="en-IN" sz="900">
                <a:latin typeface="Arial"/>
                <a:ea typeface="Arial"/>
                <a:cs typeface="Arial"/>
                <a:sym typeface="Arial"/>
              </a:rPr>
              <a:t>. It ensures that models are trained locally on edge devices with Electronic Health Record (EHR) data, protecting patient privacy and allowing scalable, distributed model deployment and evaluation.</a:t>
            </a:r>
            <a:endParaRPr sz="900">
              <a:latin typeface="Arial"/>
              <a:ea typeface="Arial"/>
              <a:cs typeface="Arial"/>
              <a:sym typeface="Arial"/>
            </a:endParaRPr>
          </a:p>
        </p:txBody>
      </p:sp>
      <p:sp>
        <p:nvSpPr>
          <p:cNvPr id="269" name="Google Shape;269;g3bd3844482c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3072fe6a8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a3072fe6a8_1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a3072fe6a8_1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3072fe6a8_1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a3072fe6a8_1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3a3072fe6a8_1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a3072fe6a8_1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3a3072fe6a8_1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3a3072fe6a8_1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3072fe6a8_1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3a3072fe6a8_1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a3072fe6a8_1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d3844482c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bd3844482c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3bd3844482c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bcf4afe8ba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3bcf4afe8ba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3bcf4afe8ba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bcf4afe8ba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3bcf4afe8ba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bcf4afe8ba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bcf4afe8ba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g3bcf4afe8ba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bcf4afe8ba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bd3844482c_3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bd3844482c_3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g3bd3844482c_3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d16a3255e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bd16a3255e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g3bd16a3255e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bd16a3255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3bd16a3255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g3bd16a3255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d16a3255e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3bd16a3255e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g3bd16a3255e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bd16a3255e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bd16a3255e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g3bd16a3255e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d16a3255e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bd16a3255e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bd16a3255e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bcf4afe8ba_1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bcf4afe8ba_1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bcf4afe8ba_1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bd16a3255e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bd16a3255e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g3bd16a3255e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a3072fe6a8_1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a3072fe6a8_1_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g3a3072fe6a8_1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a3072fe6a8_1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3a3072fe6a8_1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g3a3072fe6a8_1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a2b7ac1c2d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a2b7ac1c2d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g3a2b7ac1c2d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2fa9a96b1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a2fa9a96b1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g3a2fa9a96b1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8cd6bca61b_3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g38cd6bca61b_3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g38cd6bca61b_3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8cd6bca61b_3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g38cd6bca61b_3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g38cd6bca61b_3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8"/>
          <p:cNvSpPr/>
          <p:nvPr>
            <p:ph idx="2" type="pic"/>
          </p:nvPr>
        </p:nvSpPr>
        <p:spPr>
          <a:xfrm>
            <a:off x="5183188" y="987425"/>
            <a:ext cx="6172200" cy="4873625"/>
          </a:xfrm>
          <a:prstGeom prst="rect">
            <a:avLst/>
          </a:prstGeom>
          <a:noFill/>
          <a:ln>
            <a:noFill/>
          </a:ln>
        </p:spPr>
      </p:sp>
      <p:sp>
        <p:nvSpPr>
          <p:cNvPr id="68" name="Google Shape;68;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kaggle.com/datasets/nih-chest-xrays/data" TargetMode="External"/><Relationship Id="rId4" Type="http://schemas.openxmlformats.org/officeDocument/2006/relationships/hyperlink" Target="https://www.kaggle.com/datasets/khanfashee/nih-chest-x-ray-14-224x224-resized" TargetMode="External"/><Relationship Id="rId5" Type="http://schemas.openxmlformats.org/officeDocument/2006/relationships/hyperlink" Target="https://physionet.org/about/database/" TargetMode="External"/><Relationship Id="rId6"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jpg"/><Relationship Id="rId4" Type="http://schemas.openxmlformats.org/officeDocument/2006/relationships/image" Target="../media/image7.jpg"/><Relationship Id="rId5"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728075" y="1122375"/>
            <a:ext cx="10558500" cy="19464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14893"/>
              <a:buFont typeface="Calibri"/>
              <a:buNone/>
            </a:pPr>
            <a:r>
              <a:rPr b="1" lang="en-IN" sz="4700">
                <a:latin typeface="Arial"/>
                <a:ea typeface="Arial"/>
                <a:cs typeface="Arial"/>
                <a:sym typeface="Arial"/>
              </a:rPr>
              <a:t>Edge AI based Federated Learning Architecture for Healthcare Applications</a:t>
            </a:r>
            <a:endParaRPr b="1" sz="4700">
              <a:latin typeface="Arial"/>
              <a:ea typeface="Arial"/>
              <a:cs typeface="Arial"/>
              <a:sym typeface="Arial"/>
            </a:endParaRPr>
          </a:p>
        </p:txBody>
      </p:sp>
      <p:sp>
        <p:nvSpPr>
          <p:cNvPr id="90" name="Google Shape;90;p1"/>
          <p:cNvSpPr txBox="1"/>
          <p:nvPr>
            <p:ph idx="1" type="subTitle"/>
          </p:nvPr>
        </p:nvSpPr>
        <p:spPr>
          <a:xfrm>
            <a:off x="1280425" y="3068775"/>
            <a:ext cx="10140900" cy="35397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ctr">
              <a:lnSpc>
                <a:spcPct val="90000"/>
              </a:lnSpc>
              <a:spcBef>
                <a:spcPts val="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rPr lang="en-IN" sz="2141">
                <a:latin typeface="Arial"/>
                <a:ea typeface="Arial"/>
                <a:cs typeface="Arial"/>
                <a:sym typeface="Arial"/>
              </a:rPr>
              <a:t>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36166"/>
              <a:buNone/>
            </a:pPr>
            <a:r>
              <a:rPr lang="en-IN" sz="7741">
                <a:latin typeface="Arial"/>
                <a:ea typeface="Arial"/>
                <a:cs typeface="Arial"/>
                <a:sym typeface="Arial"/>
              </a:rPr>
              <a:t>                                        </a:t>
            </a:r>
            <a:r>
              <a:rPr lang="en-IN" sz="7741">
                <a:latin typeface="Arial"/>
                <a:ea typeface="Arial"/>
                <a:cs typeface="Arial"/>
                <a:sym typeface="Arial"/>
              </a:rPr>
              <a:t>          BY</a:t>
            </a:r>
            <a:endParaRPr sz="7741">
              <a:latin typeface="Arial"/>
              <a:ea typeface="Arial"/>
              <a:cs typeface="Arial"/>
              <a:sym typeface="Arial"/>
            </a:endParaRPr>
          </a:p>
          <a:p>
            <a:pPr indent="0" lvl="0" marL="0" rtl="0" algn="l">
              <a:lnSpc>
                <a:spcPct val="90000"/>
              </a:lnSpc>
              <a:spcBef>
                <a:spcPts val="1000"/>
              </a:spcBef>
              <a:spcAft>
                <a:spcPts val="0"/>
              </a:spcAft>
              <a:buClr>
                <a:schemeClr val="dk1"/>
              </a:buClr>
              <a:buSzPct val="36166"/>
              <a:buNone/>
            </a:pPr>
            <a:br>
              <a:rPr lang="en-IN" sz="7741">
                <a:latin typeface="Arial"/>
                <a:ea typeface="Arial"/>
                <a:cs typeface="Arial"/>
                <a:sym typeface="Arial"/>
              </a:rPr>
            </a:br>
            <a:r>
              <a:rPr lang="en-IN" sz="7741">
                <a:latin typeface="Arial"/>
                <a:ea typeface="Arial"/>
                <a:cs typeface="Arial"/>
                <a:sym typeface="Arial"/>
              </a:rPr>
              <a:t>                           </a:t>
            </a:r>
            <a:r>
              <a:rPr lang="en-IN" sz="7741">
                <a:latin typeface="Arial"/>
                <a:ea typeface="Arial"/>
                <a:cs typeface="Arial"/>
                <a:sym typeface="Arial"/>
              </a:rPr>
              <a:t>Harshitha Dondeti (2022BCS0209)</a:t>
            </a:r>
            <a:endParaRPr sz="7741">
              <a:latin typeface="Arial"/>
              <a:ea typeface="Arial"/>
              <a:cs typeface="Arial"/>
              <a:sym typeface="Arial"/>
            </a:endParaRPr>
          </a:p>
          <a:p>
            <a:pPr indent="0" lvl="0" marL="0" rtl="0" algn="l">
              <a:lnSpc>
                <a:spcPct val="90000"/>
              </a:lnSpc>
              <a:spcBef>
                <a:spcPts val="1000"/>
              </a:spcBef>
              <a:spcAft>
                <a:spcPts val="0"/>
              </a:spcAft>
              <a:buClr>
                <a:schemeClr val="dk1"/>
              </a:buClr>
              <a:buSzPct val="36166"/>
              <a:buNone/>
            </a:pPr>
            <a:r>
              <a:rPr lang="en-IN" sz="7741">
                <a:latin typeface="Arial"/>
                <a:ea typeface="Arial"/>
                <a:cs typeface="Arial"/>
                <a:sym typeface="Arial"/>
              </a:rPr>
              <a:t>                         </a:t>
            </a:r>
            <a:r>
              <a:rPr lang="en-IN" sz="7741">
                <a:latin typeface="Arial"/>
                <a:ea typeface="Arial"/>
                <a:cs typeface="Arial"/>
                <a:sym typeface="Arial"/>
              </a:rPr>
              <a:t>  </a:t>
            </a:r>
            <a:r>
              <a:rPr lang="en-IN" sz="7741">
                <a:latin typeface="Arial"/>
                <a:ea typeface="Arial"/>
                <a:cs typeface="Arial"/>
                <a:sym typeface="Arial"/>
              </a:rPr>
              <a:t>Madhav Murali (2022BCS0050)</a:t>
            </a:r>
            <a:endParaRPr sz="7741">
              <a:latin typeface="Arial"/>
              <a:ea typeface="Arial"/>
              <a:cs typeface="Arial"/>
              <a:sym typeface="Arial"/>
            </a:endParaRPr>
          </a:p>
          <a:p>
            <a:pPr indent="0" lvl="0" marL="0" rtl="0" algn="l">
              <a:lnSpc>
                <a:spcPct val="90000"/>
              </a:lnSpc>
              <a:spcBef>
                <a:spcPts val="1000"/>
              </a:spcBef>
              <a:spcAft>
                <a:spcPts val="0"/>
              </a:spcAft>
              <a:buClr>
                <a:schemeClr val="dk1"/>
              </a:buClr>
              <a:buSzPct val="36166"/>
              <a:buNone/>
            </a:pPr>
            <a:r>
              <a:rPr lang="en-IN" sz="7741">
                <a:latin typeface="Arial"/>
                <a:ea typeface="Arial"/>
                <a:cs typeface="Arial"/>
                <a:sym typeface="Arial"/>
              </a:rPr>
              <a:t>                         </a:t>
            </a:r>
            <a:r>
              <a:rPr lang="en-IN" sz="7741">
                <a:latin typeface="Arial"/>
                <a:ea typeface="Arial"/>
                <a:cs typeface="Arial"/>
                <a:sym typeface="Arial"/>
              </a:rPr>
              <a:t>  </a:t>
            </a:r>
            <a:r>
              <a:rPr lang="en-IN" sz="7741">
                <a:latin typeface="Arial"/>
                <a:ea typeface="Arial"/>
                <a:cs typeface="Arial"/>
                <a:sym typeface="Arial"/>
              </a:rPr>
              <a:t>Thadi Sushmitha Mani (2022BCD005)</a:t>
            </a:r>
            <a:endParaRPr sz="7741">
              <a:latin typeface="Arial"/>
              <a:ea typeface="Arial"/>
              <a:cs typeface="Arial"/>
              <a:sym typeface="Arial"/>
            </a:endParaRPr>
          </a:p>
          <a:p>
            <a:pPr indent="0" lvl="0" marL="0" rtl="0" algn="l">
              <a:lnSpc>
                <a:spcPct val="90000"/>
              </a:lnSpc>
              <a:spcBef>
                <a:spcPts val="1000"/>
              </a:spcBef>
              <a:spcAft>
                <a:spcPts val="0"/>
              </a:spcAft>
              <a:buClr>
                <a:schemeClr val="dk1"/>
              </a:buClr>
              <a:buSzPct val="36166"/>
              <a:buNone/>
            </a:pPr>
            <a:r>
              <a:rPr lang="en-IN" sz="7741">
                <a:latin typeface="Arial"/>
                <a:ea typeface="Arial"/>
                <a:cs typeface="Arial"/>
                <a:sym typeface="Arial"/>
              </a:rPr>
              <a:t>                         </a:t>
            </a:r>
            <a:r>
              <a:rPr lang="en-IN" sz="7741">
                <a:latin typeface="Arial"/>
                <a:ea typeface="Arial"/>
                <a:cs typeface="Arial"/>
                <a:sym typeface="Arial"/>
              </a:rPr>
              <a:t>  </a:t>
            </a:r>
            <a:r>
              <a:rPr lang="en-IN" sz="7741">
                <a:latin typeface="Arial"/>
                <a:ea typeface="Arial"/>
                <a:cs typeface="Arial"/>
                <a:sym typeface="Arial"/>
              </a:rPr>
              <a:t>Maddela Manoj (2022BCS0126)</a:t>
            </a:r>
            <a:endParaRPr sz="77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30725"/>
              <a:buNone/>
            </a:pPr>
            <a:r>
              <a:t/>
            </a:r>
            <a:endParaRPr sz="2141">
              <a:latin typeface="Arial"/>
              <a:ea typeface="Arial"/>
              <a:cs typeface="Arial"/>
              <a:sym typeface="Arial"/>
            </a:endParaRPr>
          </a:p>
          <a:p>
            <a:pPr indent="0" lvl="0" marL="0" rtl="0" algn="l">
              <a:lnSpc>
                <a:spcPct val="90000"/>
              </a:lnSpc>
              <a:spcBef>
                <a:spcPts val="1000"/>
              </a:spcBef>
              <a:spcAft>
                <a:spcPts val="0"/>
              </a:spcAft>
              <a:buClr>
                <a:schemeClr val="dk1"/>
              </a:buClr>
              <a:buSzPct val="109901"/>
              <a:buNone/>
            </a:pPr>
            <a:r>
              <a:t/>
            </a:r>
            <a:endParaRPr sz="2183">
              <a:latin typeface="Arial"/>
              <a:ea typeface="Arial"/>
              <a:cs typeface="Arial"/>
              <a:sym typeface="Arial"/>
            </a:endParaRPr>
          </a:p>
        </p:txBody>
      </p:sp>
      <p:pic>
        <p:nvPicPr>
          <p:cNvPr id="91" name="Google Shape;91;p1"/>
          <p:cNvPicPr preferRelativeResize="0"/>
          <p:nvPr/>
        </p:nvPicPr>
        <p:blipFill rotWithShape="1">
          <a:blip r:embed="rId3">
            <a:alphaModFix/>
          </a:blip>
          <a:srcRect b="0" l="0" r="0" t="0"/>
          <a:stretch/>
        </p:blipFill>
        <p:spPr>
          <a:xfrm>
            <a:off x="9602421" y="23813"/>
            <a:ext cx="1751379" cy="815788"/>
          </a:xfrm>
          <a:prstGeom prst="rect">
            <a:avLst/>
          </a:prstGeom>
          <a:noFill/>
          <a:ln>
            <a:noFill/>
          </a:ln>
        </p:spPr>
      </p:pic>
      <p:sp>
        <p:nvSpPr>
          <p:cNvPr id="92" name="Google Shape;92;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93" name="Google Shape;93;p1"/>
          <p:cNvSpPr txBox="1"/>
          <p:nvPr/>
        </p:nvSpPr>
        <p:spPr>
          <a:xfrm>
            <a:off x="7865175" y="5443347"/>
            <a:ext cx="3474492" cy="102910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i="0" lang="en-IN" sz="2400" u="none" cap="none" strike="noStrike">
                <a:solidFill>
                  <a:schemeClr val="dk1"/>
                </a:solidFill>
              </a:rPr>
              <a:t>Guided By,</a:t>
            </a:r>
            <a:endParaRPr/>
          </a:p>
          <a:p>
            <a:pPr indent="0" lvl="0" marL="0" marR="0" rtl="0" algn="ctr">
              <a:lnSpc>
                <a:spcPct val="90000"/>
              </a:lnSpc>
              <a:spcBef>
                <a:spcPts val="1000"/>
              </a:spcBef>
              <a:spcAft>
                <a:spcPts val="0"/>
              </a:spcAft>
              <a:buClr>
                <a:schemeClr val="dk1"/>
              </a:buClr>
              <a:buSzPts val="2400"/>
              <a:buFont typeface="Arial"/>
              <a:buNone/>
            </a:pPr>
            <a:r>
              <a:rPr i="1" lang="en-IN" sz="2400">
                <a:solidFill>
                  <a:schemeClr val="dk1"/>
                </a:solidFill>
              </a:rPr>
              <a:t>Dr. Koppala Guravaiah</a:t>
            </a:r>
            <a:endParaRPr i="1" sz="2400" u="none" cap="none" strike="noStrike">
              <a:solidFill>
                <a:schemeClr val="dk1"/>
              </a:solidFill>
            </a:endParaRPr>
          </a:p>
        </p:txBody>
      </p:sp>
      <p:sp>
        <p:nvSpPr>
          <p:cNvPr id="94" name="Google Shape;94;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bd3844482c_1_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IN" sz="4200">
                <a:latin typeface="Arial"/>
                <a:ea typeface="Arial"/>
                <a:cs typeface="Arial"/>
                <a:sym typeface="Arial"/>
              </a:rPr>
              <a:t>Project Updates</a:t>
            </a:r>
            <a:endParaRPr b="1" sz="7400">
              <a:latin typeface="Arial"/>
              <a:ea typeface="Arial"/>
              <a:cs typeface="Arial"/>
              <a:sym typeface="Arial"/>
            </a:endParaRPr>
          </a:p>
        </p:txBody>
      </p:sp>
      <p:pic>
        <p:nvPicPr>
          <p:cNvPr id="101" name="Google Shape;101;g3bd3844482c_1_24"/>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02" name="Google Shape;102;g3bd3844482c_1_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03" name="Google Shape;103;g3bd3844482c_1_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104" name="Google Shape;104;g3bd3844482c_1_24"/>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IN" sz="2000">
                <a:latin typeface="Arial"/>
                <a:ea typeface="Arial"/>
                <a:cs typeface="Arial"/>
                <a:sym typeface="Arial"/>
              </a:rPr>
              <a:t>Baseline (previous work):</a:t>
            </a:r>
            <a:endParaRPr b="1" sz="2000">
              <a:latin typeface="Arial"/>
              <a:ea typeface="Arial"/>
              <a:cs typeface="Arial"/>
              <a:sym typeface="Arial"/>
            </a:endParaRPr>
          </a:p>
          <a:p>
            <a:pPr indent="-330200" lvl="1" marL="914400" rtl="0" algn="l">
              <a:lnSpc>
                <a:spcPct val="115000"/>
              </a:lnSpc>
              <a:spcBef>
                <a:spcPts val="900"/>
              </a:spcBef>
              <a:spcAft>
                <a:spcPts val="0"/>
              </a:spcAft>
              <a:buSzPts val="1600"/>
              <a:buFont typeface="Arial"/>
              <a:buChar char="●"/>
            </a:pPr>
            <a:r>
              <a:rPr lang="en-IN" sz="2000">
                <a:latin typeface="Arial"/>
                <a:ea typeface="Arial"/>
                <a:cs typeface="Arial"/>
                <a:sym typeface="Arial"/>
              </a:rPr>
              <a:t>Implemented FedAvg on:</a:t>
            </a:r>
            <a:endParaRPr sz="2000">
              <a:latin typeface="Arial"/>
              <a:ea typeface="Arial"/>
              <a:cs typeface="Arial"/>
              <a:sym typeface="Arial"/>
            </a:endParaRPr>
          </a:p>
          <a:p>
            <a:pPr indent="-330200" lvl="2" marL="1371600" rtl="0" algn="l">
              <a:lnSpc>
                <a:spcPct val="115000"/>
              </a:lnSpc>
              <a:spcBef>
                <a:spcPts val="0"/>
              </a:spcBef>
              <a:spcAft>
                <a:spcPts val="0"/>
              </a:spcAft>
              <a:buSzPts val="1600"/>
              <a:buFont typeface="Arial"/>
              <a:buChar char="●"/>
            </a:pPr>
            <a:r>
              <a:rPr lang="en-IN">
                <a:latin typeface="Arial"/>
                <a:ea typeface="Arial"/>
                <a:cs typeface="Arial"/>
                <a:sym typeface="Arial"/>
              </a:rPr>
              <a:t>NIH Chest X-ray14 → 92.6% accuracy</a:t>
            </a:r>
            <a:endParaRPr>
              <a:latin typeface="Arial"/>
              <a:ea typeface="Arial"/>
              <a:cs typeface="Arial"/>
              <a:sym typeface="Arial"/>
            </a:endParaRPr>
          </a:p>
          <a:p>
            <a:pPr indent="-330200" lvl="2" marL="1371600" rtl="0" algn="l">
              <a:lnSpc>
                <a:spcPct val="115000"/>
              </a:lnSpc>
              <a:spcBef>
                <a:spcPts val="0"/>
              </a:spcBef>
              <a:spcAft>
                <a:spcPts val="0"/>
              </a:spcAft>
              <a:buSzPts val="1600"/>
              <a:buFont typeface="Arial"/>
              <a:buChar char="●"/>
            </a:pPr>
            <a:r>
              <a:rPr lang="en-IN">
                <a:latin typeface="Arial"/>
                <a:ea typeface="Arial"/>
                <a:cs typeface="Arial"/>
                <a:sym typeface="Arial"/>
              </a:rPr>
              <a:t>MIT-BIH Arrhythmia → 94% accuracy</a:t>
            </a:r>
            <a:endParaRPr>
              <a:latin typeface="Arial"/>
              <a:ea typeface="Arial"/>
              <a:cs typeface="Arial"/>
              <a:sym typeface="Arial"/>
            </a:endParaRPr>
          </a:p>
          <a:p>
            <a:pPr indent="-330200" lvl="1" marL="914400" rtl="0" algn="l">
              <a:lnSpc>
                <a:spcPct val="115000"/>
              </a:lnSpc>
              <a:spcBef>
                <a:spcPts val="0"/>
              </a:spcBef>
              <a:spcAft>
                <a:spcPts val="0"/>
              </a:spcAft>
              <a:buSzPts val="1600"/>
              <a:buFont typeface="Arial"/>
              <a:buChar char="●"/>
            </a:pPr>
            <a:r>
              <a:rPr lang="en-IN" sz="2000">
                <a:latin typeface="Arial"/>
                <a:ea typeface="Arial"/>
                <a:cs typeface="Arial"/>
                <a:sym typeface="Arial"/>
              </a:rPr>
              <a:t>Validated feasibility of Federated Learning for healthcare (images + signals).</a:t>
            </a:r>
            <a:endParaRPr sz="2000">
              <a:latin typeface="Arial"/>
              <a:ea typeface="Arial"/>
              <a:cs typeface="Arial"/>
              <a:sym typeface="Arial"/>
            </a:endParaRPr>
          </a:p>
          <a:p>
            <a:pPr indent="0" lvl="0" marL="0" rtl="0" algn="l">
              <a:lnSpc>
                <a:spcPct val="115000"/>
              </a:lnSpc>
              <a:spcBef>
                <a:spcPts val="900"/>
              </a:spcBef>
              <a:spcAft>
                <a:spcPts val="0"/>
              </a:spcAft>
              <a:buNone/>
            </a:pPr>
            <a:r>
              <a:rPr b="1" lang="en-IN" sz="2000">
                <a:latin typeface="Arial"/>
                <a:ea typeface="Arial"/>
                <a:cs typeface="Arial"/>
                <a:sym typeface="Arial"/>
              </a:rPr>
              <a:t>New in this work:</a:t>
            </a:r>
            <a:endParaRPr b="1" sz="2000">
              <a:latin typeface="Arial"/>
              <a:ea typeface="Arial"/>
              <a:cs typeface="Arial"/>
              <a:sym typeface="Arial"/>
            </a:endParaRPr>
          </a:p>
          <a:p>
            <a:pPr indent="-330200" lvl="1" marL="914400" rtl="0" algn="l">
              <a:lnSpc>
                <a:spcPct val="115000"/>
              </a:lnSpc>
              <a:spcBef>
                <a:spcPts val="900"/>
              </a:spcBef>
              <a:spcAft>
                <a:spcPts val="0"/>
              </a:spcAft>
              <a:buSzPts val="1600"/>
              <a:buFont typeface="Arial"/>
              <a:buChar char="●"/>
            </a:pPr>
            <a:r>
              <a:rPr lang="en-IN" sz="2000">
                <a:latin typeface="Arial"/>
                <a:ea typeface="Arial"/>
                <a:cs typeface="Arial"/>
                <a:sym typeface="Arial"/>
              </a:rPr>
              <a:t>Added Synthetic Patient HealthCare Monitoring Dataset (tabular, 60K records).</a:t>
            </a:r>
            <a:endParaRPr sz="2000">
              <a:latin typeface="Arial"/>
              <a:ea typeface="Arial"/>
              <a:cs typeface="Arial"/>
              <a:sym typeface="Arial"/>
            </a:endParaRPr>
          </a:p>
          <a:p>
            <a:pPr indent="-330200" lvl="1" marL="914400" rtl="0" algn="l">
              <a:lnSpc>
                <a:spcPct val="115000"/>
              </a:lnSpc>
              <a:spcBef>
                <a:spcPts val="0"/>
              </a:spcBef>
              <a:spcAft>
                <a:spcPts val="0"/>
              </a:spcAft>
              <a:buSzPts val="1600"/>
              <a:buFont typeface="Arial"/>
              <a:buChar char="●"/>
            </a:pPr>
            <a:r>
              <a:rPr lang="en-IN" sz="2000">
                <a:latin typeface="Arial"/>
                <a:ea typeface="Arial"/>
                <a:cs typeface="Arial"/>
                <a:sym typeface="Arial"/>
              </a:rPr>
              <a:t>Implemented FedProx and FedAdam for non-IID and fast-convergence scenarios.</a:t>
            </a:r>
            <a:endParaRPr sz="2000">
              <a:latin typeface="Arial"/>
              <a:ea typeface="Arial"/>
              <a:cs typeface="Arial"/>
              <a:sym typeface="Arial"/>
            </a:endParaRPr>
          </a:p>
          <a:p>
            <a:pPr indent="-330200" lvl="1" marL="914400" rtl="0" algn="l">
              <a:lnSpc>
                <a:spcPct val="115000"/>
              </a:lnSpc>
              <a:spcBef>
                <a:spcPts val="0"/>
              </a:spcBef>
              <a:spcAft>
                <a:spcPts val="0"/>
              </a:spcAft>
              <a:buSzPts val="1600"/>
              <a:buFont typeface="Arial"/>
              <a:buChar char="●"/>
            </a:pPr>
            <a:r>
              <a:rPr lang="en-IN" sz="2000">
                <a:latin typeface="Arial"/>
                <a:ea typeface="Arial"/>
                <a:cs typeface="Arial"/>
                <a:sym typeface="Arial"/>
              </a:rPr>
              <a:t>Performed head-to-head comparison: FedAvg vs FedProx vs FedAdam.</a:t>
            </a:r>
            <a:endParaRPr sz="2000">
              <a:latin typeface="Arial"/>
              <a:ea typeface="Arial"/>
              <a:cs typeface="Arial"/>
              <a:sym typeface="Arial"/>
            </a:endParaRPr>
          </a:p>
          <a:p>
            <a:pPr indent="0" lvl="0" marL="0" rtl="0" algn="l">
              <a:lnSpc>
                <a:spcPct val="115000"/>
              </a:lnSpc>
              <a:spcBef>
                <a:spcPts val="900"/>
              </a:spcBef>
              <a:spcAft>
                <a:spcPts val="0"/>
              </a:spcAft>
              <a:buNone/>
            </a:pPr>
            <a:r>
              <a:rPr b="1" lang="en-IN" sz="2000">
                <a:latin typeface="Arial"/>
                <a:ea typeface="Arial"/>
                <a:cs typeface="Arial"/>
                <a:sym typeface="Arial"/>
              </a:rPr>
              <a:t>Current Focus:</a:t>
            </a:r>
            <a:br>
              <a:rPr lang="en-IN" sz="2000">
                <a:latin typeface="Arial"/>
                <a:ea typeface="Arial"/>
                <a:cs typeface="Arial"/>
                <a:sym typeface="Arial"/>
              </a:rPr>
            </a:br>
            <a:r>
              <a:rPr lang="en-IN" sz="2000">
                <a:latin typeface="Arial"/>
                <a:ea typeface="Arial"/>
                <a:cs typeface="Arial"/>
                <a:sym typeface="Arial"/>
              </a:rPr>
              <a:t>How FedProx and FedAdam improve or complement FedAvg under different constraints.</a:t>
            </a:r>
            <a:endParaRPr sz="212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838200" y="33625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IN">
                <a:latin typeface="Arial"/>
                <a:ea typeface="Arial"/>
                <a:cs typeface="Arial"/>
                <a:sym typeface="Arial"/>
              </a:rPr>
              <a:t>Introduction</a:t>
            </a:r>
            <a:endParaRPr b="1">
              <a:latin typeface="Arial"/>
              <a:ea typeface="Arial"/>
              <a:cs typeface="Arial"/>
              <a:sym typeface="Arial"/>
            </a:endParaRPr>
          </a:p>
        </p:txBody>
      </p:sp>
      <p:sp>
        <p:nvSpPr>
          <p:cNvPr id="111" name="Google Shape;111;p2"/>
          <p:cNvSpPr txBox="1"/>
          <p:nvPr>
            <p:ph idx="1" type="body"/>
          </p:nvPr>
        </p:nvSpPr>
        <p:spPr>
          <a:xfrm>
            <a:off x="838200" y="1661950"/>
            <a:ext cx="10788300" cy="4694400"/>
          </a:xfrm>
          <a:prstGeom prst="rect">
            <a:avLst/>
          </a:prstGeom>
          <a:noFill/>
          <a:ln>
            <a:noFill/>
          </a:ln>
        </p:spPr>
        <p:txBody>
          <a:bodyPr anchorCtr="0" anchor="t" bIns="45700" lIns="91425" spcFirstLastPara="1" rIns="91425" wrap="square" tIns="45700">
            <a:noAutofit/>
          </a:bodyPr>
          <a:lstStyle/>
          <a:p>
            <a:pPr indent="-337661" lvl="0" marL="457200" rtl="0" algn="l">
              <a:lnSpc>
                <a:spcPct val="95000"/>
              </a:lnSpc>
              <a:spcBef>
                <a:spcPts val="1200"/>
              </a:spcBef>
              <a:spcAft>
                <a:spcPts val="0"/>
              </a:spcAft>
              <a:buSzPts val="1717"/>
              <a:buChar char="●"/>
            </a:pPr>
            <a:r>
              <a:rPr b="1" lang="en-IN" sz="1717">
                <a:latin typeface="Arial"/>
                <a:ea typeface="Arial"/>
                <a:cs typeface="Arial"/>
                <a:sym typeface="Arial"/>
              </a:rPr>
              <a:t>Current hospital systems: </a:t>
            </a:r>
            <a:endParaRPr b="1" sz="1717">
              <a:latin typeface="Arial"/>
              <a:ea typeface="Arial"/>
              <a:cs typeface="Arial"/>
              <a:sym typeface="Arial"/>
            </a:endParaRPr>
          </a:p>
          <a:p>
            <a:pPr indent="0" lvl="0" marL="457200" rtl="0" algn="l">
              <a:lnSpc>
                <a:spcPct val="95000"/>
              </a:lnSpc>
              <a:spcBef>
                <a:spcPts val="1200"/>
              </a:spcBef>
              <a:spcAft>
                <a:spcPts val="0"/>
              </a:spcAft>
              <a:buNone/>
            </a:pPr>
            <a:r>
              <a:rPr lang="en-IN" sz="1717">
                <a:latin typeface="Arial"/>
                <a:ea typeface="Arial"/>
                <a:cs typeface="Arial"/>
                <a:sym typeface="Arial"/>
              </a:rPr>
              <a:t>- </a:t>
            </a:r>
            <a:r>
              <a:rPr lang="en-IN" sz="1717">
                <a:latin typeface="Arial"/>
                <a:ea typeface="Arial"/>
                <a:cs typeface="Arial"/>
                <a:sym typeface="Arial"/>
              </a:rPr>
              <a:t>Use cloud-based AI with smart devices sending patient data (heart rate, oxygen levels, history) to servers.</a:t>
            </a:r>
            <a:br>
              <a:rPr lang="en-IN" sz="1717">
                <a:latin typeface="Arial"/>
                <a:ea typeface="Arial"/>
                <a:cs typeface="Arial"/>
                <a:sym typeface="Arial"/>
              </a:rPr>
            </a:br>
            <a:r>
              <a:rPr lang="en-IN" sz="1717">
                <a:latin typeface="Arial"/>
                <a:ea typeface="Arial"/>
                <a:cs typeface="Arial"/>
                <a:sym typeface="Arial"/>
              </a:rPr>
              <a:t>- Provides insights but has drawbacks</a:t>
            </a:r>
            <a:r>
              <a:rPr lang="en-IN" sz="1717">
                <a:latin typeface="Arial"/>
                <a:ea typeface="Arial"/>
                <a:cs typeface="Arial"/>
                <a:sym typeface="Arial"/>
              </a:rPr>
              <a:t>.</a:t>
            </a:r>
            <a:endParaRPr sz="1717">
              <a:latin typeface="Arial"/>
              <a:ea typeface="Arial"/>
              <a:cs typeface="Arial"/>
              <a:sym typeface="Arial"/>
            </a:endParaRPr>
          </a:p>
          <a:p>
            <a:pPr indent="-337661" lvl="0" marL="457200" rtl="0" algn="l">
              <a:lnSpc>
                <a:spcPct val="95000"/>
              </a:lnSpc>
              <a:spcBef>
                <a:spcPts val="1200"/>
              </a:spcBef>
              <a:spcAft>
                <a:spcPts val="0"/>
              </a:spcAft>
              <a:buSzPts val="1717"/>
              <a:buChar char="●"/>
            </a:pPr>
            <a:r>
              <a:rPr b="1" lang="en-IN" sz="1717">
                <a:latin typeface="Arial"/>
                <a:ea typeface="Arial"/>
                <a:cs typeface="Arial"/>
                <a:sym typeface="Arial"/>
              </a:rPr>
              <a:t>Challenges:</a:t>
            </a:r>
            <a:br>
              <a:rPr b="1" lang="en-IN" sz="1717">
                <a:latin typeface="Arial"/>
                <a:ea typeface="Arial"/>
                <a:cs typeface="Arial"/>
                <a:sym typeface="Arial"/>
              </a:rPr>
            </a:br>
            <a:r>
              <a:rPr b="1" lang="en-IN" sz="1717">
                <a:latin typeface="Arial"/>
                <a:ea typeface="Arial"/>
                <a:cs typeface="Arial"/>
                <a:sym typeface="Arial"/>
              </a:rPr>
              <a:t>- </a:t>
            </a:r>
            <a:r>
              <a:rPr b="1" lang="en-IN" sz="1717">
                <a:solidFill>
                  <a:srgbClr val="0000FF"/>
                </a:solidFill>
                <a:latin typeface="Arial"/>
                <a:ea typeface="Arial"/>
                <a:cs typeface="Arial"/>
                <a:sym typeface="Arial"/>
              </a:rPr>
              <a:t>Slow &amp; bandwidth-heavy</a:t>
            </a:r>
            <a:r>
              <a:rPr lang="en-IN" sz="1717">
                <a:latin typeface="Arial"/>
                <a:ea typeface="Arial"/>
                <a:cs typeface="Arial"/>
                <a:sym typeface="Arial"/>
              </a:rPr>
              <a:t> data transfer.</a:t>
            </a:r>
            <a:br>
              <a:rPr lang="en-IN" sz="1717">
                <a:latin typeface="Arial"/>
                <a:ea typeface="Arial"/>
                <a:cs typeface="Arial"/>
                <a:sym typeface="Arial"/>
              </a:rPr>
            </a:br>
            <a:r>
              <a:rPr b="1" lang="en-IN" sz="1717">
                <a:latin typeface="Arial"/>
                <a:ea typeface="Arial"/>
                <a:cs typeface="Arial"/>
                <a:sym typeface="Arial"/>
              </a:rPr>
              <a:t>- </a:t>
            </a:r>
            <a:r>
              <a:rPr b="1" lang="en-IN" sz="1717">
                <a:solidFill>
                  <a:srgbClr val="0000FF"/>
                </a:solidFill>
                <a:latin typeface="Arial"/>
                <a:ea typeface="Arial"/>
                <a:cs typeface="Arial"/>
                <a:sym typeface="Arial"/>
              </a:rPr>
              <a:t>Privacy risks</a:t>
            </a:r>
            <a:r>
              <a:rPr lang="en-IN" sz="1717">
                <a:latin typeface="Arial"/>
                <a:ea typeface="Arial"/>
                <a:cs typeface="Arial"/>
                <a:sym typeface="Arial"/>
              </a:rPr>
              <a:t> from centralized storage.</a:t>
            </a:r>
            <a:br>
              <a:rPr lang="en-IN" sz="1717">
                <a:latin typeface="Arial"/>
                <a:ea typeface="Arial"/>
                <a:cs typeface="Arial"/>
                <a:sym typeface="Arial"/>
              </a:rPr>
            </a:br>
            <a:r>
              <a:rPr b="1" lang="en-IN" sz="1717">
                <a:latin typeface="Arial"/>
                <a:ea typeface="Arial"/>
                <a:cs typeface="Arial"/>
                <a:sym typeface="Arial"/>
              </a:rPr>
              <a:t>- </a:t>
            </a:r>
            <a:r>
              <a:rPr b="1" lang="en-IN" sz="1717">
                <a:solidFill>
                  <a:srgbClr val="0000FF"/>
                </a:solidFill>
                <a:latin typeface="Arial"/>
                <a:ea typeface="Arial"/>
                <a:cs typeface="Arial"/>
                <a:sym typeface="Arial"/>
              </a:rPr>
              <a:t>Compliance issues</a:t>
            </a:r>
            <a:r>
              <a:rPr lang="en-IN" sz="1717">
                <a:latin typeface="Arial"/>
                <a:ea typeface="Arial"/>
                <a:cs typeface="Arial"/>
                <a:sym typeface="Arial"/>
              </a:rPr>
              <a:t> with HIPAA/GDPR and system differences.</a:t>
            </a:r>
            <a:br>
              <a:rPr lang="en-IN" sz="1717">
                <a:latin typeface="Arial"/>
                <a:ea typeface="Arial"/>
                <a:cs typeface="Arial"/>
                <a:sym typeface="Arial"/>
              </a:rPr>
            </a:br>
            <a:endParaRPr sz="1717">
              <a:latin typeface="Arial"/>
              <a:ea typeface="Arial"/>
              <a:cs typeface="Arial"/>
              <a:sym typeface="Arial"/>
            </a:endParaRPr>
          </a:p>
          <a:p>
            <a:pPr indent="-337661" lvl="0" marL="457200" rtl="0" algn="l">
              <a:lnSpc>
                <a:spcPct val="95000"/>
              </a:lnSpc>
              <a:spcBef>
                <a:spcPts val="0"/>
              </a:spcBef>
              <a:spcAft>
                <a:spcPts val="0"/>
              </a:spcAft>
              <a:buSzPts val="1717"/>
              <a:buChar char="●"/>
            </a:pPr>
            <a:r>
              <a:rPr b="1" lang="en-IN" sz="1717">
                <a:latin typeface="Arial"/>
                <a:ea typeface="Arial"/>
                <a:cs typeface="Arial"/>
                <a:sym typeface="Arial"/>
              </a:rPr>
              <a:t>Our solution: Edge AI + Federated Learning.</a:t>
            </a:r>
            <a:br>
              <a:rPr b="1" lang="en-IN" sz="1717">
                <a:latin typeface="Arial"/>
                <a:ea typeface="Arial"/>
                <a:cs typeface="Arial"/>
                <a:sym typeface="Arial"/>
              </a:rPr>
            </a:br>
            <a:r>
              <a:rPr lang="en-IN" sz="1717">
                <a:latin typeface="Arial"/>
                <a:ea typeface="Arial"/>
                <a:cs typeface="Arial"/>
                <a:sym typeface="Arial"/>
              </a:rPr>
              <a:t>-</a:t>
            </a:r>
            <a:r>
              <a:rPr b="1" lang="en-IN" sz="1717">
                <a:latin typeface="Arial"/>
                <a:ea typeface="Arial"/>
                <a:cs typeface="Arial"/>
                <a:sym typeface="Arial"/>
              </a:rPr>
              <a:t> </a:t>
            </a:r>
            <a:r>
              <a:rPr lang="en-IN" sz="1717">
                <a:latin typeface="Arial"/>
                <a:ea typeface="Arial"/>
                <a:cs typeface="Arial"/>
                <a:sym typeface="Arial"/>
              </a:rPr>
              <a:t>AI runs on </a:t>
            </a:r>
            <a:r>
              <a:rPr b="1" lang="en-IN" sz="1717">
                <a:solidFill>
                  <a:srgbClr val="0000FF"/>
                </a:solidFill>
                <a:latin typeface="Arial"/>
                <a:ea typeface="Arial"/>
                <a:cs typeface="Arial"/>
                <a:sym typeface="Arial"/>
              </a:rPr>
              <a:t>local hospital devices</a:t>
            </a:r>
            <a:r>
              <a:rPr lang="en-IN" sz="1717">
                <a:latin typeface="Arial"/>
                <a:ea typeface="Arial"/>
                <a:cs typeface="Arial"/>
                <a:sym typeface="Arial"/>
              </a:rPr>
              <a:t>, keeping data private.</a:t>
            </a:r>
            <a:br>
              <a:rPr lang="en-IN" sz="1717">
                <a:latin typeface="Arial"/>
                <a:ea typeface="Arial"/>
                <a:cs typeface="Arial"/>
                <a:sym typeface="Arial"/>
              </a:rPr>
            </a:br>
            <a:r>
              <a:rPr lang="en-IN" sz="1717">
                <a:latin typeface="Arial"/>
                <a:ea typeface="Arial"/>
                <a:cs typeface="Arial"/>
                <a:sym typeface="Arial"/>
              </a:rPr>
              <a:t>- Learns from patterns across hospitals </a:t>
            </a:r>
            <a:r>
              <a:rPr b="1" lang="en-IN" sz="1717">
                <a:solidFill>
                  <a:srgbClr val="0000FF"/>
                </a:solidFill>
                <a:latin typeface="Arial"/>
                <a:ea typeface="Arial"/>
                <a:cs typeface="Arial"/>
                <a:sym typeface="Arial"/>
              </a:rPr>
              <a:t>without sharing raw data</a:t>
            </a:r>
            <a:r>
              <a:rPr lang="en-IN" sz="1717">
                <a:latin typeface="Arial"/>
                <a:ea typeface="Arial"/>
                <a:cs typeface="Arial"/>
                <a:sym typeface="Arial"/>
              </a:rPr>
              <a:t>.</a:t>
            </a:r>
            <a:br>
              <a:rPr lang="en-IN" sz="1717">
                <a:latin typeface="Arial"/>
                <a:ea typeface="Arial"/>
                <a:cs typeface="Arial"/>
                <a:sym typeface="Arial"/>
              </a:rPr>
            </a:br>
            <a:endParaRPr sz="1717">
              <a:latin typeface="Arial"/>
              <a:ea typeface="Arial"/>
              <a:cs typeface="Arial"/>
              <a:sym typeface="Arial"/>
            </a:endParaRPr>
          </a:p>
          <a:p>
            <a:pPr indent="-337661" lvl="0" marL="457200" rtl="0" algn="l">
              <a:lnSpc>
                <a:spcPct val="95000"/>
              </a:lnSpc>
              <a:spcBef>
                <a:spcPts val="0"/>
              </a:spcBef>
              <a:spcAft>
                <a:spcPts val="0"/>
              </a:spcAft>
              <a:buSzPts val="1717"/>
              <a:buChar char="●"/>
            </a:pPr>
            <a:r>
              <a:rPr b="1" lang="en-IN" sz="1717">
                <a:latin typeface="Arial"/>
                <a:ea typeface="Arial"/>
                <a:cs typeface="Arial"/>
                <a:sym typeface="Arial"/>
              </a:rPr>
              <a:t>With Digital Twins</a:t>
            </a:r>
            <a:br>
              <a:rPr b="1" lang="en-IN" sz="1717">
                <a:latin typeface="Arial"/>
                <a:ea typeface="Arial"/>
                <a:cs typeface="Arial"/>
                <a:sym typeface="Arial"/>
              </a:rPr>
            </a:br>
            <a:r>
              <a:rPr lang="en-IN" sz="1717">
                <a:latin typeface="Arial"/>
                <a:ea typeface="Arial"/>
                <a:cs typeface="Arial"/>
                <a:sym typeface="Arial"/>
              </a:rPr>
              <a:t>-</a:t>
            </a:r>
            <a:r>
              <a:rPr b="1" lang="en-IN" sz="1717">
                <a:latin typeface="Arial"/>
                <a:ea typeface="Arial"/>
                <a:cs typeface="Arial"/>
                <a:sym typeface="Arial"/>
              </a:rPr>
              <a:t> </a:t>
            </a:r>
            <a:r>
              <a:rPr lang="en-IN" sz="1717">
                <a:latin typeface="Arial"/>
                <a:ea typeface="Arial"/>
                <a:cs typeface="Arial"/>
                <a:sym typeface="Arial"/>
              </a:rPr>
              <a:t>Virtual models of patients/systems.</a:t>
            </a:r>
            <a:br>
              <a:rPr lang="en-IN" sz="1717">
                <a:latin typeface="Arial"/>
                <a:ea typeface="Arial"/>
                <a:cs typeface="Arial"/>
                <a:sym typeface="Arial"/>
              </a:rPr>
            </a:br>
            <a:r>
              <a:rPr lang="en-IN" sz="1717">
                <a:latin typeface="Arial"/>
                <a:ea typeface="Arial"/>
                <a:cs typeface="Arial"/>
                <a:sym typeface="Arial"/>
              </a:rPr>
              <a:t>- Support </a:t>
            </a:r>
            <a:r>
              <a:rPr b="1" lang="en-IN" sz="1717">
                <a:solidFill>
                  <a:srgbClr val="0000FF"/>
                </a:solidFill>
                <a:latin typeface="Arial"/>
                <a:ea typeface="Arial"/>
                <a:cs typeface="Arial"/>
                <a:sym typeface="Arial"/>
              </a:rPr>
              <a:t>personalized care</a:t>
            </a:r>
            <a:r>
              <a:rPr lang="en-IN" sz="1717">
                <a:solidFill>
                  <a:srgbClr val="0000FF"/>
                </a:solidFill>
                <a:latin typeface="Arial"/>
                <a:ea typeface="Arial"/>
                <a:cs typeface="Arial"/>
                <a:sym typeface="Arial"/>
              </a:rPr>
              <a:t>, </a:t>
            </a:r>
            <a:r>
              <a:rPr b="1" lang="en-IN" sz="1717">
                <a:solidFill>
                  <a:srgbClr val="0000FF"/>
                </a:solidFill>
                <a:latin typeface="Arial"/>
                <a:ea typeface="Arial"/>
                <a:cs typeface="Arial"/>
                <a:sym typeface="Arial"/>
              </a:rPr>
              <a:t>real-time monitoring</a:t>
            </a:r>
            <a:r>
              <a:rPr lang="en-IN" sz="1717">
                <a:latin typeface="Arial"/>
                <a:ea typeface="Arial"/>
                <a:cs typeface="Arial"/>
                <a:sym typeface="Arial"/>
              </a:rPr>
              <a:t>, and </a:t>
            </a:r>
            <a:r>
              <a:rPr b="1" lang="en-IN" sz="1717">
                <a:solidFill>
                  <a:srgbClr val="0000FF"/>
                </a:solidFill>
                <a:latin typeface="Arial"/>
                <a:ea typeface="Arial"/>
                <a:cs typeface="Arial"/>
                <a:sym typeface="Arial"/>
              </a:rPr>
              <a:t>smarter decisions</a:t>
            </a:r>
            <a:r>
              <a:rPr lang="en-IN" sz="1717">
                <a:latin typeface="Arial"/>
                <a:ea typeface="Arial"/>
                <a:cs typeface="Arial"/>
                <a:sym typeface="Arial"/>
              </a:rPr>
              <a:t>.</a:t>
            </a:r>
            <a:endParaRPr sz="2365">
              <a:latin typeface="Arial"/>
              <a:ea typeface="Arial"/>
              <a:cs typeface="Arial"/>
              <a:sym typeface="Arial"/>
            </a:endParaRPr>
          </a:p>
        </p:txBody>
      </p:sp>
      <p:pic>
        <p:nvPicPr>
          <p:cNvPr id="112" name="Google Shape;112;p2"/>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13" name="Google Shape;1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14" name="Google Shape;1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8aac116b48_0_11"/>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100">
                <a:latin typeface="Arial"/>
                <a:ea typeface="Arial"/>
                <a:cs typeface="Arial"/>
                <a:sym typeface="Arial"/>
              </a:rPr>
              <a:t>Literature Review (Survey/Taxonomy Papers)</a:t>
            </a:r>
            <a:endParaRPr b="1" sz="3100">
              <a:latin typeface="Arial"/>
              <a:ea typeface="Arial"/>
              <a:cs typeface="Arial"/>
              <a:sym typeface="Arial"/>
            </a:endParaRPr>
          </a:p>
        </p:txBody>
      </p:sp>
      <p:pic>
        <p:nvPicPr>
          <p:cNvPr id="121" name="Google Shape;121;g38aac116b48_0_11"/>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22" name="Google Shape;122;g38aac116b48_0_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23" name="Google Shape;123;g38aac116b48_0_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124" name="Google Shape;124;g38aac116b48_0_11"/>
          <p:cNvGraphicFramePr/>
          <p:nvPr/>
        </p:nvGraphicFramePr>
        <p:xfrm>
          <a:off x="771150" y="1348300"/>
          <a:ext cx="3000000" cy="3000000"/>
        </p:xfrm>
        <a:graphic>
          <a:graphicData uri="http://schemas.openxmlformats.org/drawingml/2006/table">
            <a:tbl>
              <a:tblPr>
                <a:noFill/>
                <a:tableStyleId>{F9423510-A241-49EB-94F7-8464A1D09D61}</a:tableStyleId>
              </a:tblPr>
              <a:tblGrid>
                <a:gridCol w="787475"/>
                <a:gridCol w="2567600"/>
                <a:gridCol w="3215600"/>
                <a:gridCol w="4011975"/>
              </a:tblGrid>
              <a:tr h="666450">
                <a:tc>
                  <a:txBody>
                    <a:bodyPr/>
                    <a:lstStyle/>
                    <a:p>
                      <a:pPr indent="0" lvl="0" marL="0" rtl="0" algn="ctr">
                        <a:spcBef>
                          <a:spcPts val="0"/>
                        </a:spcBef>
                        <a:spcAft>
                          <a:spcPts val="0"/>
                        </a:spcAft>
                        <a:buNone/>
                      </a:pPr>
                      <a:r>
                        <a:rPr b="1" lang="en-IN" sz="1700"/>
                        <a:t>S.No</a:t>
                      </a:r>
                      <a:endParaRPr b="1" sz="1700"/>
                    </a:p>
                  </a:txBody>
                  <a:tcPr marT="91425" marB="91425" marR="91425" marL="91425"/>
                </a:tc>
                <a:tc>
                  <a:txBody>
                    <a:bodyPr/>
                    <a:lstStyle/>
                    <a:p>
                      <a:pPr indent="0" lvl="0" marL="0" rtl="0" algn="ctr">
                        <a:spcBef>
                          <a:spcPts val="0"/>
                        </a:spcBef>
                        <a:spcAft>
                          <a:spcPts val="0"/>
                        </a:spcAft>
                        <a:buNone/>
                      </a:pPr>
                      <a:r>
                        <a:rPr b="1" lang="en-IN" sz="1700"/>
                        <a:t>Paper with Author</a:t>
                      </a:r>
                      <a:endParaRPr b="1" sz="1700"/>
                    </a:p>
                  </a:txBody>
                  <a:tcPr marT="91425" marB="91425" marR="91425" marL="91425"/>
                </a:tc>
                <a:tc>
                  <a:txBody>
                    <a:bodyPr/>
                    <a:lstStyle/>
                    <a:p>
                      <a:pPr indent="0" lvl="0" marL="0" rtl="0" algn="ctr">
                        <a:spcBef>
                          <a:spcPts val="0"/>
                        </a:spcBef>
                        <a:spcAft>
                          <a:spcPts val="0"/>
                        </a:spcAft>
                        <a:buNone/>
                      </a:pPr>
                      <a:r>
                        <a:rPr b="1" lang="en-IN" sz="1700"/>
                        <a:t>Main Agenda</a:t>
                      </a:r>
                      <a:endParaRPr b="1" sz="1700"/>
                    </a:p>
                  </a:txBody>
                  <a:tcPr marT="91425" marB="91425" marR="91425" marL="91425"/>
                </a:tc>
                <a:tc>
                  <a:txBody>
                    <a:bodyPr/>
                    <a:lstStyle/>
                    <a:p>
                      <a:pPr indent="0" lvl="0" marL="0" rtl="0" algn="ctr">
                        <a:spcBef>
                          <a:spcPts val="0"/>
                        </a:spcBef>
                        <a:spcAft>
                          <a:spcPts val="0"/>
                        </a:spcAft>
                        <a:buNone/>
                      </a:pPr>
                      <a:r>
                        <a:rPr b="1" lang="en-IN" sz="1700"/>
                        <a:t>Limitations </a:t>
                      </a:r>
                      <a:r>
                        <a:rPr b="1" lang="en-IN" sz="1700">
                          <a:solidFill>
                            <a:schemeClr val="dk1"/>
                          </a:solidFill>
                        </a:rPr>
                        <a:t>&amp; Future Works</a:t>
                      </a:r>
                      <a:endParaRPr b="1" sz="1700"/>
                    </a:p>
                  </a:txBody>
                  <a:tcPr marT="91425" marB="91425" marR="91425" marL="91425"/>
                </a:tc>
              </a:tr>
              <a:tr h="2119700">
                <a:tc>
                  <a:txBody>
                    <a:bodyPr/>
                    <a:lstStyle/>
                    <a:p>
                      <a:pPr indent="0" lvl="0" marL="0" rtl="0" algn="ctr">
                        <a:spcBef>
                          <a:spcPts val="0"/>
                        </a:spcBef>
                        <a:spcAft>
                          <a:spcPts val="0"/>
                        </a:spcAft>
                        <a:buNone/>
                      </a:pPr>
                      <a:r>
                        <a:rPr lang="en-IN" sz="1700"/>
                        <a:t>1</a:t>
                      </a:r>
                      <a:r>
                        <a:rPr lang="en-IN" sz="1700"/>
                        <a:t>.</a:t>
                      </a:r>
                      <a:endParaRPr sz="1700"/>
                    </a:p>
                  </a:txBody>
                  <a:tcPr marT="91425" marB="91425" marR="91425" marL="91425"/>
                </a:tc>
                <a:tc>
                  <a:txBody>
                    <a:bodyPr/>
                    <a:lstStyle/>
                    <a:p>
                      <a:pPr indent="0" lvl="0" marL="0" rtl="0" algn="l">
                        <a:lnSpc>
                          <a:spcPct val="115000"/>
                        </a:lnSpc>
                        <a:spcBef>
                          <a:spcPts val="1200"/>
                        </a:spcBef>
                        <a:spcAft>
                          <a:spcPts val="0"/>
                        </a:spcAft>
                        <a:buNone/>
                      </a:pPr>
                      <a:r>
                        <a:rPr b="1" i="1" lang="en-IN" sz="1700">
                          <a:solidFill>
                            <a:schemeClr val="dk1"/>
                          </a:solidFill>
                        </a:rPr>
                        <a:t>Federated learning: a collaborative effort</a:t>
                      </a:r>
                      <a:endParaRPr b="1" i="1" sz="1700">
                        <a:solidFill>
                          <a:schemeClr val="dk1"/>
                        </a:solidFill>
                      </a:endParaRPr>
                    </a:p>
                    <a:p>
                      <a:pPr indent="0" lvl="0" marL="0" rtl="0" algn="l">
                        <a:lnSpc>
                          <a:spcPct val="115000"/>
                        </a:lnSpc>
                        <a:spcBef>
                          <a:spcPts val="1200"/>
                        </a:spcBef>
                        <a:spcAft>
                          <a:spcPts val="1200"/>
                        </a:spcAft>
                        <a:buNone/>
                      </a:pPr>
                      <a:r>
                        <a:rPr b="1" i="1" lang="en-IN" sz="1700">
                          <a:solidFill>
                            <a:schemeClr val="dk1"/>
                          </a:solidFill>
                        </a:rPr>
                        <a:t>(Ng et al., 2021)</a:t>
                      </a:r>
                      <a:endParaRPr b="1" i="1" sz="17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700">
                          <a:solidFill>
                            <a:schemeClr val="dk1"/>
                          </a:solidFill>
                        </a:rPr>
                        <a:t>Proposed FL as a collaborative solution for hospitals with small datasets to build better AI models without sharing private patient data.</a:t>
                      </a:r>
                      <a:endParaRPr sz="1700"/>
                    </a:p>
                  </a:txBody>
                  <a:tcPr marT="91425" marB="91425" marR="91425" marL="91425"/>
                </a:tc>
                <a:tc>
                  <a:txBody>
                    <a:bodyPr/>
                    <a:lstStyle/>
                    <a:p>
                      <a:pPr indent="0" lvl="0" marL="0" rtl="0" algn="l">
                        <a:lnSpc>
                          <a:spcPct val="115000"/>
                        </a:lnSpc>
                        <a:spcBef>
                          <a:spcPts val="1200"/>
                        </a:spcBef>
                        <a:spcAft>
                          <a:spcPts val="0"/>
                        </a:spcAft>
                        <a:buNone/>
                      </a:pPr>
                      <a:r>
                        <a:rPr lang="en-IN" sz="1700">
                          <a:solidFill>
                            <a:schemeClr val="dk1"/>
                          </a:solidFill>
                        </a:rPr>
                        <a:t>Highlights practical challenges like suboptimal model aggregation, hardware/software differences across sites, and lack of data standardization.</a:t>
                      </a:r>
                      <a:endParaRPr sz="1700">
                        <a:solidFill>
                          <a:schemeClr val="dk1"/>
                        </a:solidFill>
                      </a:endParaRPr>
                    </a:p>
                    <a:p>
                      <a:pPr indent="0" lvl="0" marL="0" rtl="0" algn="l">
                        <a:lnSpc>
                          <a:spcPct val="115000"/>
                        </a:lnSpc>
                        <a:spcBef>
                          <a:spcPts val="1200"/>
                        </a:spcBef>
                        <a:spcAft>
                          <a:spcPts val="1200"/>
                        </a:spcAft>
                        <a:buNone/>
                      </a:pPr>
                      <a:r>
                        <a:rPr lang="en-IN" sz="1700">
                          <a:solidFill>
                            <a:schemeClr val="dk1"/>
                          </a:solidFill>
                        </a:rPr>
                        <a:t>Recommends developing better model aggregation strategies and standardized protocols</a:t>
                      </a:r>
                      <a:endParaRPr sz="1700">
                        <a:solidFill>
                          <a:schemeClr val="dk1"/>
                        </a:solidFill>
                      </a:endParaRPr>
                    </a:p>
                  </a:txBody>
                  <a:tcPr marT="91425" marB="91425" marR="91425" marL="91425"/>
                </a:tc>
              </a:tr>
              <a:tr h="2075625">
                <a:tc>
                  <a:txBody>
                    <a:bodyPr/>
                    <a:lstStyle/>
                    <a:p>
                      <a:pPr indent="0" lvl="0" marL="0" rtl="0" algn="ctr">
                        <a:spcBef>
                          <a:spcPts val="0"/>
                        </a:spcBef>
                        <a:spcAft>
                          <a:spcPts val="0"/>
                        </a:spcAft>
                        <a:buNone/>
                      </a:pPr>
                      <a:r>
                        <a:rPr lang="en-IN" sz="1700"/>
                        <a:t>2</a:t>
                      </a:r>
                      <a:r>
                        <a:rPr lang="en-IN" sz="1700"/>
                        <a:t>.</a:t>
                      </a:r>
                      <a:endParaRPr sz="1700"/>
                    </a:p>
                  </a:txBody>
                  <a:tcPr marT="91425" marB="91425" marR="91425" marL="91425"/>
                </a:tc>
                <a:tc>
                  <a:txBody>
                    <a:bodyPr/>
                    <a:lstStyle/>
                    <a:p>
                      <a:pPr indent="0" lvl="0" marL="0" rtl="0" algn="l">
                        <a:lnSpc>
                          <a:spcPct val="115000"/>
                        </a:lnSpc>
                        <a:spcBef>
                          <a:spcPts val="0"/>
                        </a:spcBef>
                        <a:spcAft>
                          <a:spcPts val="0"/>
                        </a:spcAft>
                        <a:buNone/>
                      </a:pPr>
                      <a:r>
                        <a:rPr b="1" i="1" lang="en-IN" sz="1600">
                          <a:solidFill>
                            <a:schemeClr val="dk1"/>
                          </a:solidFill>
                        </a:rPr>
                        <a:t>Federated Learning for Smart Healthcare: A Survey</a:t>
                      </a:r>
                      <a:endParaRPr b="1" i="1" sz="1600">
                        <a:solidFill>
                          <a:schemeClr val="dk1"/>
                        </a:solidFill>
                      </a:endParaRPr>
                    </a:p>
                    <a:p>
                      <a:pPr indent="0" lvl="0" marL="0" rtl="0" algn="l">
                        <a:lnSpc>
                          <a:spcPct val="115000"/>
                        </a:lnSpc>
                        <a:spcBef>
                          <a:spcPts val="0"/>
                        </a:spcBef>
                        <a:spcAft>
                          <a:spcPts val="0"/>
                        </a:spcAft>
                        <a:buNone/>
                      </a:pPr>
                      <a:r>
                        <a:rPr b="1" i="1" lang="en-IN" sz="1600">
                          <a:solidFill>
                            <a:schemeClr val="dk1"/>
                          </a:solidFill>
                        </a:rPr>
                        <a:t>(Nguyen et al., 2022)</a:t>
                      </a:r>
                      <a:endParaRPr b="1" i="1" sz="17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Provide a comprehensive survey on applying FL in smart healthcare; cover architectures, applications, challenges, and enabling technologies.</a:t>
                      </a:r>
                      <a:endParaRPr sz="17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Non-IID/unbalanced data, communication overhead, device heterogeneity, privacy risks, scalability.Lightweight &amp; efficient FL models, stronger privacy (DP, HE, TEE), energy-aware methods, interoperability, standardization, cross-silo healthcare collaborations are some areas to look into.</a:t>
                      </a:r>
                      <a:endParaRPr sz="1700">
                        <a:solidFill>
                          <a:schemeClr val="dk1"/>
                        </a:solidFill>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100">
                <a:latin typeface="Arial"/>
                <a:ea typeface="Arial"/>
                <a:cs typeface="Arial"/>
                <a:sym typeface="Arial"/>
              </a:rPr>
              <a:t>Literature Review (Survey/Taxonomy Papers)</a:t>
            </a:r>
            <a:endParaRPr b="1" sz="3100">
              <a:latin typeface="Arial"/>
              <a:ea typeface="Arial"/>
              <a:cs typeface="Arial"/>
              <a:sym typeface="Arial"/>
            </a:endParaRPr>
          </a:p>
        </p:txBody>
      </p:sp>
      <p:pic>
        <p:nvPicPr>
          <p:cNvPr id="131" name="Google Shape;131;p3"/>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32" name="Google Shape;13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33" name="Google Shape;13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134" name="Google Shape;134;p3"/>
          <p:cNvGraphicFramePr/>
          <p:nvPr/>
        </p:nvGraphicFramePr>
        <p:xfrm>
          <a:off x="838200" y="1466925"/>
          <a:ext cx="3000000" cy="3000000"/>
        </p:xfrm>
        <a:graphic>
          <a:graphicData uri="http://schemas.openxmlformats.org/drawingml/2006/table">
            <a:tbl>
              <a:tblPr>
                <a:noFill/>
                <a:tableStyleId>{F9423510-A241-49EB-94F7-8464A1D09D61}</a:tableStyleId>
              </a:tblPr>
              <a:tblGrid>
                <a:gridCol w="667800"/>
                <a:gridCol w="2860200"/>
                <a:gridCol w="2705975"/>
                <a:gridCol w="4281625"/>
              </a:tblGrid>
              <a:tr h="592700">
                <a:tc>
                  <a:txBody>
                    <a:bodyPr/>
                    <a:lstStyle/>
                    <a:p>
                      <a:pPr indent="0" lvl="0" marL="0" rtl="0" algn="l">
                        <a:spcBef>
                          <a:spcPts val="0"/>
                        </a:spcBef>
                        <a:spcAft>
                          <a:spcPts val="0"/>
                        </a:spcAft>
                        <a:buNone/>
                      </a:pPr>
                      <a:r>
                        <a:rPr b="1" lang="en-IN" sz="1600"/>
                        <a:t>S.No</a:t>
                      </a:r>
                      <a:endParaRPr b="1" sz="1600"/>
                    </a:p>
                  </a:txBody>
                  <a:tcPr marT="91425" marB="91425" marR="91425" marL="91425"/>
                </a:tc>
                <a:tc>
                  <a:txBody>
                    <a:bodyPr/>
                    <a:lstStyle/>
                    <a:p>
                      <a:pPr indent="0" lvl="0" marL="0" rtl="0" algn="l">
                        <a:spcBef>
                          <a:spcPts val="0"/>
                        </a:spcBef>
                        <a:spcAft>
                          <a:spcPts val="0"/>
                        </a:spcAft>
                        <a:buNone/>
                      </a:pPr>
                      <a:r>
                        <a:rPr b="1" lang="en-IN" sz="1600"/>
                        <a:t>Paper with Author</a:t>
                      </a:r>
                      <a:endParaRPr b="1" sz="1600"/>
                    </a:p>
                  </a:txBody>
                  <a:tcPr marT="91425" marB="91425" marR="91425" marL="91425"/>
                </a:tc>
                <a:tc>
                  <a:txBody>
                    <a:bodyPr/>
                    <a:lstStyle/>
                    <a:p>
                      <a:pPr indent="0" lvl="0" marL="0" rtl="0" algn="l">
                        <a:spcBef>
                          <a:spcPts val="0"/>
                        </a:spcBef>
                        <a:spcAft>
                          <a:spcPts val="0"/>
                        </a:spcAft>
                        <a:buNone/>
                      </a:pPr>
                      <a:r>
                        <a:rPr b="1" lang="en-IN" sz="1600"/>
                        <a:t>Main Agenda</a:t>
                      </a:r>
                      <a:endParaRPr b="1" sz="1600"/>
                    </a:p>
                  </a:txBody>
                  <a:tcPr marT="91425" marB="91425" marR="91425" marL="91425"/>
                </a:tc>
                <a:tc>
                  <a:txBody>
                    <a:bodyPr/>
                    <a:lstStyle/>
                    <a:p>
                      <a:pPr indent="0" lvl="0" marL="0" rtl="0" algn="l">
                        <a:spcBef>
                          <a:spcPts val="0"/>
                        </a:spcBef>
                        <a:spcAft>
                          <a:spcPts val="0"/>
                        </a:spcAft>
                        <a:buNone/>
                      </a:pPr>
                      <a:r>
                        <a:rPr b="1" lang="en-IN" sz="1600"/>
                        <a:t>Limitations &amp; Future Works</a:t>
                      </a:r>
                      <a:endParaRPr b="1" sz="1600"/>
                    </a:p>
                  </a:txBody>
                  <a:tcPr marT="91425" marB="91425" marR="91425" marL="91425"/>
                </a:tc>
              </a:tr>
              <a:tr h="1931450">
                <a:tc>
                  <a:txBody>
                    <a:bodyPr/>
                    <a:lstStyle/>
                    <a:p>
                      <a:pPr indent="0" lvl="0" marL="0" rtl="0" algn="l">
                        <a:spcBef>
                          <a:spcPts val="0"/>
                        </a:spcBef>
                        <a:spcAft>
                          <a:spcPts val="0"/>
                        </a:spcAft>
                        <a:buNone/>
                      </a:pPr>
                      <a:r>
                        <a:rPr lang="en-IN" sz="1600"/>
                        <a:t>3</a:t>
                      </a:r>
                      <a:r>
                        <a:rPr lang="en-IN" sz="1600"/>
                        <a:t>.</a:t>
                      </a:r>
                      <a:endParaRPr sz="1600"/>
                    </a:p>
                  </a:txBody>
                  <a:tcPr marT="91425" marB="91425" marR="91425" marL="91425"/>
                </a:tc>
                <a:tc>
                  <a:txBody>
                    <a:bodyPr/>
                    <a:lstStyle/>
                    <a:p>
                      <a:pPr indent="0" lvl="0" marL="0" rtl="0" algn="l">
                        <a:lnSpc>
                          <a:spcPct val="115000"/>
                        </a:lnSpc>
                        <a:spcBef>
                          <a:spcPts val="0"/>
                        </a:spcBef>
                        <a:spcAft>
                          <a:spcPts val="0"/>
                        </a:spcAft>
                        <a:buNone/>
                      </a:pPr>
                      <a:r>
                        <a:rPr b="1" i="1" lang="en-IN" sz="1600">
                          <a:solidFill>
                            <a:schemeClr val="dk1"/>
                          </a:solidFill>
                        </a:rPr>
                        <a:t>Federated Learning for Healthcare </a:t>
                      </a:r>
                      <a:endParaRPr b="1" i="1" sz="1600">
                        <a:solidFill>
                          <a:schemeClr val="dk1"/>
                        </a:solidFill>
                      </a:endParaRPr>
                    </a:p>
                    <a:p>
                      <a:pPr indent="0" lvl="0" marL="0" rtl="0" algn="l">
                        <a:lnSpc>
                          <a:spcPct val="115000"/>
                        </a:lnSpc>
                        <a:spcBef>
                          <a:spcPts val="0"/>
                        </a:spcBef>
                        <a:spcAft>
                          <a:spcPts val="0"/>
                        </a:spcAft>
                        <a:buNone/>
                      </a:pPr>
                      <a:r>
                        <a:rPr b="1" i="1" lang="en-IN" sz="1600">
                          <a:solidFill>
                            <a:schemeClr val="dk1"/>
                          </a:solidFill>
                        </a:rPr>
                        <a:t>(</a:t>
                      </a:r>
                      <a:r>
                        <a:rPr b="1" i="1" lang="en-IN" sz="1600">
                          <a:solidFill>
                            <a:schemeClr val="dk1"/>
                          </a:solidFill>
                        </a:rPr>
                        <a:t>Antunes et al., 2022</a:t>
                      </a:r>
                      <a:endParaRPr b="1" i="1" sz="1600">
                        <a:solidFill>
                          <a:schemeClr val="dk1"/>
                        </a:solidFill>
                      </a:endParaRPr>
                    </a:p>
                    <a:p>
                      <a:pPr indent="0" lvl="0" marL="0" rtl="0" algn="l">
                        <a:lnSpc>
                          <a:spcPct val="115000"/>
                        </a:lnSpc>
                        <a:spcBef>
                          <a:spcPts val="0"/>
                        </a:spcBef>
                        <a:spcAft>
                          <a:spcPts val="0"/>
                        </a:spcAft>
                        <a:buNone/>
                      </a:pPr>
                      <a:r>
                        <a:rPr b="1" i="1" lang="en-IN" sz="1600">
                          <a:solidFill>
                            <a:schemeClr val="dk1"/>
                          </a:solidFill>
                        </a:rPr>
                        <a:t>ACM TIST</a:t>
                      </a:r>
                      <a:r>
                        <a:rPr b="1" i="1" lang="en-IN" sz="1600">
                          <a:solidFill>
                            <a:schemeClr val="dk1"/>
                          </a:solidFill>
                        </a:rPr>
                        <a:t>)</a:t>
                      </a:r>
                      <a:endParaRPr b="1" i="1" sz="1600">
                        <a:solidFill>
                          <a:schemeClr val="dk1"/>
                        </a:solidFill>
                      </a:endParaRPr>
                    </a:p>
                    <a:p>
                      <a:pPr indent="0" lvl="0" marL="0" rtl="0" algn="l">
                        <a:lnSpc>
                          <a:spcPct val="115000"/>
                        </a:lnSpc>
                        <a:spcBef>
                          <a:spcPts val="0"/>
                        </a:spcBef>
                        <a:spcAft>
                          <a:spcPts val="0"/>
                        </a:spcAft>
                        <a:buNone/>
                      </a:pPr>
                      <a:r>
                        <a:t/>
                      </a:r>
                      <a:endParaRPr b="1" i="1" sz="1600">
                        <a:solidFill>
                          <a:schemeClr val="dk1"/>
                        </a:solidFill>
                      </a:endParaRPr>
                    </a:p>
                    <a:p>
                      <a:pPr indent="0" lvl="0" marL="0" rtl="0" algn="l">
                        <a:lnSpc>
                          <a:spcPct val="115000"/>
                        </a:lnSpc>
                        <a:spcBef>
                          <a:spcPts val="0"/>
                        </a:spcBef>
                        <a:spcAft>
                          <a:spcPts val="0"/>
                        </a:spcAft>
                        <a:buNone/>
                      </a:pPr>
                      <a:r>
                        <a:rPr i="1" lang="en-IN" sz="1600">
                          <a:solidFill>
                            <a:schemeClr val="dk1"/>
                          </a:solidFill>
                        </a:rPr>
                        <a:t>(Survey + Research Proposal)</a:t>
                      </a:r>
                      <a:endParaRPr b="1" sz="1600"/>
                    </a:p>
                  </a:txBody>
                  <a:tcPr marT="91425" marB="91425" marR="91425" marL="91425"/>
                </a:tc>
                <a:tc>
                  <a:txBody>
                    <a:bodyPr/>
                    <a:lstStyle/>
                    <a:p>
                      <a:pPr indent="0" lvl="0" marL="0" rtl="0" algn="l">
                        <a:spcBef>
                          <a:spcPts val="0"/>
                        </a:spcBef>
                        <a:spcAft>
                          <a:spcPts val="0"/>
                        </a:spcAft>
                        <a:buNone/>
                      </a:pPr>
                      <a:r>
                        <a:rPr lang="en-IN" sz="1600">
                          <a:solidFill>
                            <a:schemeClr val="dk1"/>
                          </a:solidFill>
                        </a:rPr>
                        <a:t>- </a:t>
                      </a:r>
                      <a:r>
                        <a:rPr lang="en-IN" sz="1600">
                          <a:solidFill>
                            <a:schemeClr val="dk1"/>
                          </a:solidFill>
                        </a:rPr>
                        <a:t>Systematic review of FL in healthcare </a:t>
                      </a:r>
                      <a:endParaRPr sz="1600">
                        <a:solidFill>
                          <a:schemeClr val="dk1"/>
                        </a:solidFill>
                      </a:endParaRPr>
                    </a:p>
                    <a:p>
                      <a:pPr indent="0" lvl="0" marL="0" rtl="0" algn="l">
                        <a:spcBef>
                          <a:spcPts val="0"/>
                        </a:spcBef>
                        <a:spcAft>
                          <a:spcPts val="0"/>
                        </a:spcAft>
                        <a:buNone/>
                      </a:pPr>
                      <a:r>
                        <a:rPr lang="en-IN" sz="1600">
                          <a:solidFill>
                            <a:schemeClr val="dk1"/>
                          </a:solidFill>
                        </a:rPr>
                        <a:t>- </a:t>
                      </a:r>
                      <a:r>
                        <a:rPr lang="en-IN" sz="1600">
                          <a:solidFill>
                            <a:schemeClr val="dk1"/>
                          </a:solidFill>
                        </a:rPr>
                        <a:t>propose EHR-based FL architecture</a:t>
                      </a:r>
                      <a:endParaRPr sz="1600"/>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Non-IID data handling, privacy-accuracy trade-off, scalability, lack of standardization, security risks</a:t>
                      </a:r>
                      <a:endParaRPr sz="1600">
                        <a:solidFill>
                          <a:schemeClr val="dk1"/>
                        </a:solidFill>
                      </a:endParaRPr>
                    </a:p>
                    <a:p>
                      <a:pPr indent="0" lvl="0" marL="0" rtl="0" algn="l">
                        <a:lnSpc>
                          <a:spcPct val="115000"/>
                        </a:lnSpc>
                        <a:spcBef>
                          <a:spcPts val="0"/>
                        </a:spcBef>
                        <a:spcAft>
                          <a:spcPts val="0"/>
                        </a:spcAft>
                        <a:buNone/>
                      </a:pPr>
                      <a:r>
                        <a:t/>
                      </a:r>
                      <a:endParaRPr sz="1600">
                        <a:solidFill>
                          <a:schemeClr val="dk1"/>
                        </a:solidFill>
                      </a:endParaRPr>
                    </a:p>
                    <a:p>
                      <a:pPr indent="0" lvl="0" marL="0" rtl="0" algn="l">
                        <a:lnSpc>
                          <a:spcPct val="115000"/>
                        </a:lnSpc>
                        <a:spcBef>
                          <a:spcPts val="0"/>
                        </a:spcBef>
                        <a:spcAft>
                          <a:spcPts val="0"/>
                        </a:spcAft>
                        <a:buNone/>
                      </a:pPr>
                      <a:r>
                        <a:rPr lang="en-IN" sz="1600">
                          <a:solidFill>
                            <a:schemeClr val="dk1"/>
                          </a:solidFill>
                        </a:rPr>
                        <a:t>Improve Non-IID handling, add DP/HE/TEE, better scalability, privacy-preserving methods</a:t>
                      </a:r>
                      <a:endParaRPr sz="1600">
                        <a:solidFill>
                          <a:schemeClr val="dk1"/>
                        </a:solidFill>
                      </a:endParaRPr>
                    </a:p>
                  </a:txBody>
                  <a:tcPr marT="91425" marB="91425" marR="91425" marL="91425"/>
                </a:tc>
              </a:tr>
              <a:tr h="2067150">
                <a:tc>
                  <a:txBody>
                    <a:bodyPr/>
                    <a:lstStyle/>
                    <a:p>
                      <a:pPr indent="0" lvl="0" marL="0" rtl="0" algn="l">
                        <a:spcBef>
                          <a:spcPts val="0"/>
                        </a:spcBef>
                        <a:spcAft>
                          <a:spcPts val="0"/>
                        </a:spcAft>
                        <a:buNone/>
                      </a:pPr>
                      <a:r>
                        <a:rPr lang="en-IN" sz="1600"/>
                        <a:t>4.</a:t>
                      </a:r>
                      <a:endParaRPr sz="1600"/>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b="1" i="1" lang="en-IN" sz="1600">
                          <a:solidFill>
                            <a:schemeClr val="dk1"/>
                          </a:solidFill>
                        </a:rPr>
                        <a:t>FL in Smart Healthcare </a:t>
                      </a:r>
                      <a:r>
                        <a:rPr b="1" lang="en-IN" sz="1600">
                          <a:solidFill>
                            <a:schemeClr val="dk1"/>
                          </a:solidFill>
                        </a:rPr>
                        <a:t>(</a:t>
                      </a:r>
                      <a:r>
                        <a:rPr b="1" i="1" lang="en-IN" sz="1600">
                          <a:solidFill>
                            <a:schemeClr val="dk1"/>
                          </a:solidFill>
                        </a:rPr>
                        <a:t>Cluster Computing</a:t>
                      </a:r>
                      <a:r>
                        <a:rPr b="1" lang="en-IN" sz="1600">
                          <a:solidFill>
                            <a:schemeClr val="dk1"/>
                          </a:solidFill>
                        </a:rPr>
                        <a:t>)</a:t>
                      </a:r>
                      <a:r>
                        <a:rPr b="1" i="1" lang="en-IN" sz="1600">
                          <a:solidFill>
                            <a:schemeClr val="dk1"/>
                          </a:solidFill>
                        </a:rPr>
                        <a:t> </a:t>
                      </a:r>
                      <a:endParaRPr b="1" i="1" sz="1600">
                        <a:solidFill>
                          <a:schemeClr val="dk1"/>
                        </a:solidFill>
                      </a:endParaRPr>
                    </a:p>
                    <a:p>
                      <a:pPr indent="0" lvl="0" marL="0" rtl="0" algn="l">
                        <a:lnSpc>
                          <a:spcPct val="115000"/>
                        </a:lnSpc>
                        <a:spcBef>
                          <a:spcPts val="0"/>
                        </a:spcBef>
                        <a:spcAft>
                          <a:spcPts val="0"/>
                        </a:spcAft>
                        <a:buNone/>
                      </a:pPr>
                      <a:r>
                        <a:rPr b="1" i="1" lang="en-IN" sz="1600">
                          <a:solidFill>
                            <a:schemeClr val="dk1"/>
                          </a:solidFill>
                        </a:rPr>
                        <a:t>(Rahman et al., 2023)</a:t>
                      </a:r>
                      <a:endParaRPr b="1" i="1" sz="16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700">
                          <a:solidFill>
                            <a:schemeClr val="dk1"/>
                          </a:solidFill>
                        </a:rPr>
                        <a:t>Introduce FL for healthcare; taxonomy; apps in EHR, imaging, monitoring.</a:t>
                      </a:r>
                      <a:endParaRPr sz="1600">
                        <a:solidFill>
                          <a:schemeClr val="dk1"/>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IN" sz="1700">
                          <a:solidFill>
                            <a:schemeClr val="dk1"/>
                          </a:solidFill>
                        </a:rPr>
                        <a:t>Non-IID data, privacy risks, weak datasets, IoMT limits.</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IN" sz="1700">
                          <a:solidFill>
                            <a:schemeClr val="dk1"/>
                          </a:solidFill>
                        </a:rPr>
                        <a:t>Blockchain + FL,</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IN" sz="1700">
                          <a:solidFill>
                            <a:schemeClr val="dk1"/>
                          </a:solidFill>
                        </a:rPr>
                        <a:t>data augmentation, XAI,</a:t>
                      </a:r>
                      <a:endParaRPr sz="1700">
                        <a:solidFill>
                          <a:schemeClr val="dk1"/>
                        </a:solidFill>
                      </a:endParaRPr>
                    </a:p>
                    <a:p>
                      <a:pPr indent="0" lvl="0" marL="0" rtl="0" algn="l">
                        <a:lnSpc>
                          <a:spcPct val="115000"/>
                        </a:lnSpc>
                        <a:spcBef>
                          <a:spcPts val="0"/>
                        </a:spcBef>
                        <a:spcAft>
                          <a:spcPts val="0"/>
                        </a:spcAft>
                        <a:buNone/>
                      </a:pPr>
                      <a:r>
                        <a:rPr lang="en-IN" sz="1700">
                          <a:solidFill>
                            <a:schemeClr val="dk1"/>
                          </a:solidFill>
                        </a:rPr>
                        <a:t>hybrid/scalable FL.</a:t>
                      </a:r>
                      <a:endParaRPr sz="1600">
                        <a:solidFill>
                          <a:schemeClr val="dk1"/>
                        </a:solidFill>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8aac116b48_0_27"/>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100">
                <a:latin typeface="Arial"/>
                <a:ea typeface="Arial"/>
                <a:cs typeface="Arial"/>
                <a:sym typeface="Arial"/>
              </a:rPr>
              <a:t>Literature Review (Survey/Taxonomy Papers)</a:t>
            </a:r>
            <a:endParaRPr b="1" sz="3100">
              <a:latin typeface="Arial"/>
              <a:ea typeface="Arial"/>
              <a:cs typeface="Arial"/>
              <a:sym typeface="Arial"/>
            </a:endParaRPr>
          </a:p>
        </p:txBody>
      </p:sp>
      <p:pic>
        <p:nvPicPr>
          <p:cNvPr id="141" name="Google Shape;141;g38aac116b48_0_27"/>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42" name="Google Shape;142;g38aac116b48_0_27"/>
          <p:cNvSpPr txBox="1"/>
          <p:nvPr>
            <p:ph idx="11" type="ftr"/>
          </p:nvPr>
        </p:nvSpPr>
        <p:spPr>
          <a:xfrm>
            <a:off x="4038600" y="6356350"/>
            <a:ext cx="4114800" cy="50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43" name="Google Shape;143;g38aac116b48_0_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144" name="Google Shape;144;g38aac116b48_0_27"/>
          <p:cNvGraphicFramePr/>
          <p:nvPr/>
        </p:nvGraphicFramePr>
        <p:xfrm>
          <a:off x="952500" y="1180800"/>
          <a:ext cx="3000000" cy="3000000"/>
        </p:xfrm>
        <a:graphic>
          <a:graphicData uri="http://schemas.openxmlformats.org/drawingml/2006/table">
            <a:tbl>
              <a:tblPr>
                <a:noFill/>
                <a:tableStyleId>{F9423510-A241-49EB-94F7-8464A1D09D61}</a:tableStyleId>
              </a:tblPr>
              <a:tblGrid>
                <a:gridCol w="660550"/>
                <a:gridCol w="2527000"/>
                <a:gridCol w="3270525"/>
                <a:gridCol w="3943225"/>
              </a:tblGrid>
              <a:tr h="562125">
                <a:tc>
                  <a:txBody>
                    <a:bodyPr/>
                    <a:lstStyle/>
                    <a:p>
                      <a:pPr indent="0" lvl="0" marL="0" rtl="0" algn="l">
                        <a:spcBef>
                          <a:spcPts val="0"/>
                        </a:spcBef>
                        <a:spcAft>
                          <a:spcPts val="0"/>
                        </a:spcAft>
                        <a:buNone/>
                      </a:pPr>
                      <a:r>
                        <a:rPr b="1" lang="en-IN" sz="1600"/>
                        <a:t>S.No</a:t>
                      </a:r>
                      <a:endParaRPr b="1" sz="1600"/>
                    </a:p>
                  </a:txBody>
                  <a:tcPr marT="91425" marB="91425" marR="91425" marL="91425"/>
                </a:tc>
                <a:tc>
                  <a:txBody>
                    <a:bodyPr/>
                    <a:lstStyle/>
                    <a:p>
                      <a:pPr indent="0" lvl="0" marL="0" rtl="0" algn="l">
                        <a:spcBef>
                          <a:spcPts val="0"/>
                        </a:spcBef>
                        <a:spcAft>
                          <a:spcPts val="0"/>
                        </a:spcAft>
                        <a:buNone/>
                      </a:pPr>
                      <a:r>
                        <a:rPr b="1" lang="en-IN" sz="1700"/>
                        <a:t>Paper with Author</a:t>
                      </a:r>
                      <a:endParaRPr b="1" sz="1700"/>
                    </a:p>
                  </a:txBody>
                  <a:tcPr marT="91425" marB="91425" marR="91425" marL="91425"/>
                </a:tc>
                <a:tc>
                  <a:txBody>
                    <a:bodyPr/>
                    <a:lstStyle/>
                    <a:p>
                      <a:pPr indent="0" lvl="0" marL="0" rtl="0" algn="l">
                        <a:spcBef>
                          <a:spcPts val="0"/>
                        </a:spcBef>
                        <a:spcAft>
                          <a:spcPts val="0"/>
                        </a:spcAft>
                        <a:buNone/>
                      </a:pPr>
                      <a:r>
                        <a:rPr b="1" lang="en-IN" sz="1700"/>
                        <a:t>Main Agenda</a:t>
                      </a:r>
                      <a:endParaRPr b="1" sz="1700"/>
                    </a:p>
                  </a:txBody>
                  <a:tcPr marT="91425" marB="91425" marR="91425" marL="91425"/>
                </a:tc>
                <a:tc>
                  <a:txBody>
                    <a:bodyPr/>
                    <a:lstStyle/>
                    <a:p>
                      <a:pPr indent="0" lvl="0" marL="0" rtl="0" algn="l">
                        <a:spcBef>
                          <a:spcPts val="0"/>
                        </a:spcBef>
                        <a:spcAft>
                          <a:spcPts val="0"/>
                        </a:spcAft>
                        <a:buNone/>
                      </a:pPr>
                      <a:r>
                        <a:rPr b="1" lang="en-IN" sz="1700"/>
                        <a:t>Limitations </a:t>
                      </a:r>
                      <a:r>
                        <a:rPr b="1" lang="en-IN" sz="1700">
                          <a:solidFill>
                            <a:schemeClr val="dk1"/>
                          </a:solidFill>
                        </a:rPr>
                        <a:t>&amp; Future Works</a:t>
                      </a:r>
                      <a:endParaRPr b="1" sz="1700"/>
                    </a:p>
                  </a:txBody>
                  <a:tcPr marT="91425" marB="91425" marR="91425" marL="91425"/>
                </a:tc>
              </a:tr>
              <a:tr h="2257150">
                <a:tc>
                  <a:txBody>
                    <a:bodyPr/>
                    <a:lstStyle/>
                    <a:p>
                      <a:pPr indent="0" lvl="0" marL="0" rtl="0" algn="l">
                        <a:spcBef>
                          <a:spcPts val="0"/>
                        </a:spcBef>
                        <a:spcAft>
                          <a:spcPts val="0"/>
                        </a:spcAft>
                        <a:buNone/>
                      </a:pPr>
                      <a:r>
                        <a:rPr lang="en-IN" sz="1700"/>
                        <a:t>5.</a:t>
                      </a:r>
                      <a:endParaRPr sz="17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n-IN" sz="1700">
                          <a:solidFill>
                            <a:schemeClr val="dk1"/>
                          </a:solidFill>
                        </a:rPr>
                        <a:t>FL for Medical Applications: Taxonomy</a:t>
                      </a:r>
                      <a:endParaRPr b="1" i="1" sz="1700">
                        <a:solidFill>
                          <a:schemeClr val="dk1"/>
                        </a:solidFill>
                      </a:endParaRPr>
                    </a:p>
                    <a:p>
                      <a:pPr indent="0" lvl="0" marL="0" rtl="0" algn="l">
                        <a:lnSpc>
                          <a:spcPct val="115000"/>
                        </a:lnSpc>
                        <a:spcBef>
                          <a:spcPts val="0"/>
                        </a:spcBef>
                        <a:spcAft>
                          <a:spcPts val="0"/>
                        </a:spcAft>
                        <a:buNone/>
                      </a:pPr>
                      <a:r>
                        <a:rPr b="1" i="1" lang="en-IN" sz="1700">
                          <a:solidFill>
                            <a:schemeClr val="dk1"/>
                          </a:solidFill>
                        </a:rPr>
                        <a:t>(Rauniyar et al., 2023</a:t>
                      </a:r>
                      <a:endParaRPr b="1" i="1" sz="1700">
                        <a:solidFill>
                          <a:schemeClr val="dk1"/>
                        </a:solidFill>
                      </a:endParaRPr>
                    </a:p>
                    <a:p>
                      <a:pPr indent="0" lvl="0" marL="0" rtl="0" algn="l">
                        <a:lnSpc>
                          <a:spcPct val="115000"/>
                        </a:lnSpc>
                        <a:spcBef>
                          <a:spcPts val="0"/>
                        </a:spcBef>
                        <a:spcAft>
                          <a:spcPts val="0"/>
                        </a:spcAft>
                        <a:buNone/>
                      </a:pPr>
                      <a:r>
                        <a:rPr b="1" i="1" lang="en-IN" sz="1700">
                          <a:solidFill>
                            <a:schemeClr val="dk1"/>
                          </a:solidFill>
                        </a:rPr>
                        <a:t>IEEE IoT Journal)</a:t>
                      </a:r>
                      <a:endParaRPr b="1" i="1" sz="1700">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700">
                          <a:solidFill>
                            <a:schemeClr val="dk1"/>
                          </a:solidFill>
                        </a:rPr>
                        <a:t>Taxonomy of FL for medical apps: classify trends, challenges, and directions</a:t>
                      </a:r>
                      <a:endParaRPr sz="1700">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700">
                          <a:solidFill>
                            <a:schemeClr val="dk1"/>
                          </a:solidFill>
                        </a:rPr>
                        <a:t>High comms cost, security/privacy issues, resource constraints, interoperability gaps</a:t>
                      </a:r>
                      <a:endParaRPr sz="1700">
                        <a:solidFill>
                          <a:schemeClr val="dk1"/>
                        </a:solidFill>
                      </a:endParaRPr>
                    </a:p>
                    <a:p>
                      <a:pPr indent="0" lvl="0" marL="0" rtl="0" algn="l">
                        <a:lnSpc>
                          <a:spcPct val="115000"/>
                        </a:lnSpc>
                        <a:spcBef>
                          <a:spcPts val="0"/>
                        </a:spcBef>
                        <a:spcAft>
                          <a:spcPts val="0"/>
                        </a:spcAft>
                        <a:buNone/>
                      </a:pPr>
                      <a:r>
                        <a:t/>
                      </a:r>
                      <a:endParaRPr sz="1700">
                        <a:solidFill>
                          <a:schemeClr val="dk1"/>
                        </a:solidFill>
                      </a:endParaRPr>
                    </a:p>
                    <a:p>
                      <a:pPr indent="0" lvl="0" marL="0" rtl="0" algn="l">
                        <a:lnSpc>
                          <a:spcPct val="115000"/>
                        </a:lnSpc>
                        <a:spcBef>
                          <a:spcPts val="0"/>
                        </a:spcBef>
                        <a:spcAft>
                          <a:spcPts val="0"/>
                        </a:spcAft>
                        <a:buNone/>
                      </a:pPr>
                      <a:r>
                        <a:rPr lang="en-IN" sz="1700">
                          <a:solidFill>
                            <a:schemeClr val="dk1"/>
                          </a:solidFill>
                        </a:rPr>
                        <a:t>Explore lightweight FL, stronger privacy/security, multimodal FL, real clinical deployment</a:t>
                      </a:r>
                      <a:endParaRPr sz="1700">
                        <a:solidFill>
                          <a:schemeClr val="dk1"/>
                        </a:solidFill>
                      </a:endParaRPr>
                    </a:p>
                  </a:txBody>
                  <a:tcPr marT="91425" marB="91425" marR="91425" marL="91425">
                    <a:lnB cap="flat" cmpd="sng" w="9525">
                      <a:solidFill>
                        <a:srgbClr val="9E9E9E"/>
                      </a:solidFill>
                      <a:prstDash val="solid"/>
                      <a:round/>
                      <a:headEnd len="sm" w="sm" type="none"/>
                      <a:tailEnd len="sm" w="sm" type="none"/>
                    </a:lnB>
                  </a:tcPr>
                </a:tc>
              </a:tr>
              <a:tr h="2257150">
                <a:tc>
                  <a:txBody>
                    <a:bodyPr/>
                    <a:lstStyle/>
                    <a:p>
                      <a:pPr indent="0" lvl="0" marL="0" rtl="0" algn="l">
                        <a:spcBef>
                          <a:spcPts val="0"/>
                        </a:spcBef>
                        <a:spcAft>
                          <a:spcPts val="0"/>
                        </a:spcAft>
                        <a:buNone/>
                      </a:pPr>
                      <a:r>
                        <a:rPr lang="en-IN" sz="1700"/>
                        <a:t>6.</a:t>
                      </a:r>
                      <a:endParaRPr sz="1700"/>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i="1" lang="en-IN" sz="1700">
                          <a:solidFill>
                            <a:schemeClr val="dk1"/>
                          </a:solidFill>
                        </a:rPr>
                        <a:t>FL for Healthcare Metaverse </a:t>
                      </a:r>
                      <a:endParaRPr b="1" i="1" sz="1700">
                        <a:solidFill>
                          <a:schemeClr val="dk1"/>
                        </a:solidFill>
                      </a:endParaRPr>
                    </a:p>
                    <a:p>
                      <a:pPr indent="0" lvl="0" marL="0" rtl="0" algn="l">
                        <a:lnSpc>
                          <a:spcPct val="115000"/>
                        </a:lnSpc>
                        <a:spcBef>
                          <a:spcPts val="0"/>
                        </a:spcBef>
                        <a:spcAft>
                          <a:spcPts val="0"/>
                        </a:spcAft>
                        <a:buNone/>
                      </a:pPr>
                      <a:r>
                        <a:rPr b="1" i="1" lang="en-IN" sz="1700">
                          <a:solidFill>
                            <a:schemeClr val="dk1"/>
                          </a:solidFill>
                        </a:rPr>
                        <a:t>(Bashir et al., 2023</a:t>
                      </a:r>
                      <a:endParaRPr b="1" i="1" sz="1700">
                        <a:solidFill>
                          <a:schemeClr val="dk1"/>
                        </a:solidFill>
                      </a:endParaRPr>
                    </a:p>
                    <a:p>
                      <a:pPr indent="0" lvl="0" marL="0" rtl="0" algn="l">
                        <a:lnSpc>
                          <a:spcPct val="115000"/>
                        </a:lnSpc>
                        <a:spcBef>
                          <a:spcPts val="0"/>
                        </a:spcBef>
                        <a:spcAft>
                          <a:spcPts val="0"/>
                        </a:spcAft>
                        <a:buNone/>
                      </a:pPr>
                      <a:r>
                        <a:rPr b="1" i="1" lang="en-IN" sz="1700">
                          <a:solidFill>
                            <a:schemeClr val="dk1"/>
                          </a:solidFill>
                        </a:rPr>
                        <a:t>IEEE IoT Journal)</a:t>
                      </a:r>
                      <a:endParaRPr b="1" i="1" sz="1700">
                        <a:solidFill>
                          <a:schemeClr val="dk1"/>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700">
                          <a:solidFill>
                            <a:schemeClr val="dk1"/>
                          </a:solidFill>
                        </a:rPr>
                        <a:t>Apply FL in metaverse (VR/AR, IoMT, blockchain, digital twins).</a:t>
                      </a:r>
                      <a:endParaRPr sz="1700">
                        <a:solidFill>
                          <a:schemeClr val="dk1"/>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IN" sz="1700">
                          <a:solidFill>
                            <a:schemeClr val="dk1"/>
                          </a:solidFill>
                        </a:rPr>
                        <a:t>Multimodal non-IID, resource/bandwidth limits, security, governance gaps.</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15000"/>
                        </a:lnSpc>
                        <a:spcBef>
                          <a:spcPts val="0"/>
                        </a:spcBef>
                        <a:spcAft>
                          <a:spcPts val="0"/>
                        </a:spcAft>
                        <a:buNone/>
                      </a:pPr>
                      <a:r>
                        <a:rPr lang="en-IN" sz="1700">
                          <a:solidFill>
                            <a:schemeClr val="dk1"/>
                          </a:solidFill>
                        </a:rPr>
                        <a:t>Lightweight FL for VR, DP/HE/TEE, blockchain trust, interoperability, energy efficiency.</a:t>
                      </a:r>
                      <a:endParaRPr sz="1700">
                        <a:solidFill>
                          <a:schemeClr val="dk1"/>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8aac116b48_0_99"/>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100">
                <a:latin typeface="Arial"/>
                <a:ea typeface="Arial"/>
                <a:cs typeface="Arial"/>
                <a:sym typeface="Arial"/>
              </a:rPr>
              <a:t>Literature Review (</a:t>
            </a:r>
            <a:r>
              <a:rPr b="1" lang="en-IN" sz="3100">
                <a:latin typeface="Arial"/>
                <a:ea typeface="Arial"/>
                <a:cs typeface="Arial"/>
                <a:sym typeface="Arial"/>
              </a:rPr>
              <a:t>Survey/Taxonomy Papers</a:t>
            </a:r>
            <a:r>
              <a:rPr b="1" lang="en-IN" sz="3100">
                <a:latin typeface="Arial"/>
                <a:ea typeface="Arial"/>
                <a:cs typeface="Arial"/>
                <a:sym typeface="Arial"/>
              </a:rPr>
              <a:t>)</a:t>
            </a:r>
            <a:endParaRPr b="1" sz="3100">
              <a:latin typeface="Arial"/>
              <a:ea typeface="Arial"/>
              <a:cs typeface="Arial"/>
              <a:sym typeface="Arial"/>
            </a:endParaRPr>
          </a:p>
        </p:txBody>
      </p:sp>
      <p:pic>
        <p:nvPicPr>
          <p:cNvPr id="151" name="Google Shape;151;g38aac116b48_0_99"/>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52" name="Google Shape;152;g38aac116b48_0_9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53" name="Google Shape;153;g38aac116b48_0_9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154" name="Google Shape;154;g38aac116b48_0_99"/>
          <p:cNvGraphicFramePr/>
          <p:nvPr/>
        </p:nvGraphicFramePr>
        <p:xfrm>
          <a:off x="952500" y="1180800"/>
          <a:ext cx="3000000" cy="3000000"/>
        </p:xfrm>
        <a:graphic>
          <a:graphicData uri="http://schemas.openxmlformats.org/drawingml/2006/table">
            <a:tbl>
              <a:tblPr>
                <a:noFill/>
                <a:tableStyleId>{F9423510-A241-49EB-94F7-8464A1D09D61}</a:tableStyleId>
              </a:tblPr>
              <a:tblGrid>
                <a:gridCol w="825400"/>
                <a:gridCol w="2664250"/>
                <a:gridCol w="2968425"/>
                <a:gridCol w="3943225"/>
              </a:tblGrid>
              <a:tr h="358075">
                <a:tc>
                  <a:txBody>
                    <a:bodyPr/>
                    <a:lstStyle/>
                    <a:p>
                      <a:pPr indent="0" lvl="0" marL="0" rtl="0" algn="l">
                        <a:spcBef>
                          <a:spcPts val="0"/>
                        </a:spcBef>
                        <a:spcAft>
                          <a:spcPts val="0"/>
                        </a:spcAft>
                        <a:buNone/>
                      </a:pPr>
                      <a:r>
                        <a:rPr b="1" lang="en-IN" sz="1700"/>
                        <a:t>S.No</a:t>
                      </a:r>
                      <a:endParaRPr b="1" sz="1700"/>
                    </a:p>
                  </a:txBody>
                  <a:tcPr marT="91425" marB="91425" marR="91425" marL="91425"/>
                </a:tc>
                <a:tc>
                  <a:txBody>
                    <a:bodyPr/>
                    <a:lstStyle/>
                    <a:p>
                      <a:pPr indent="0" lvl="0" marL="0" rtl="0" algn="l">
                        <a:spcBef>
                          <a:spcPts val="0"/>
                        </a:spcBef>
                        <a:spcAft>
                          <a:spcPts val="0"/>
                        </a:spcAft>
                        <a:buNone/>
                      </a:pPr>
                      <a:r>
                        <a:rPr b="1" lang="en-IN" sz="1700"/>
                        <a:t>Paper with Author</a:t>
                      </a:r>
                      <a:endParaRPr b="1" sz="1700"/>
                    </a:p>
                  </a:txBody>
                  <a:tcPr marT="91425" marB="91425" marR="91425" marL="91425"/>
                </a:tc>
                <a:tc>
                  <a:txBody>
                    <a:bodyPr/>
                    <a:lstStyle/>
                    <a:p>
                      <a:pPr indent="0" lvl="0" marL="0" rtl="0" algn="l">
                        <a:spcBef>
                          <a:spcPts val="0"/>
                        </a:spcBef>
                        <a:spcAft>
                          <a:spcPts val="0"/>
                        </a:spcAft>
                        <a:buNone/>
                      </a:pPr>
                      <a:r>
                        <a:rPr b="1" lang="en-IN" sz="1700"/>
                        <a:t>Main Agenda</a:t>
                      </a:r>
                      <a:endParaRPr b="1" sz="1700"/>
                    </a:p>
                  </a:txBody>
                  <a:tcPr marT="91425" marB="91425" marR="91425" marL="91425"/>
                </a:tc>
                <a:tc>
                  <a:txBody>
                    <a:bodyPr/>
                    <a:lstStyle/>
                    <a:p>
                      <a:pPr indent="0" lvl="0" marL="0" rtl="0" algn="l">
                        <a:spcBef>
                          <a:spcPts val="0"/>
                        </a:spcBef>
                        <a:spcAft>
                          <a:spcPts val="0"/>
                        </a:spcAft>
                        <a:buNone/>
                      </a:pPr>
                      <a:r>
                        <a:rPr b="1" lang="en-IN" sz="1700"/>
                        <a:t>Limitations </a:t>
                      </a:r>
                      <a:r>
                        <a:rPr b="1" lang="en-IN" sz="1700">
                          <a:solidFill>
                            <a:schemeClr val="dk1"/>
                          </a:solidFill>
                        </a:rPr>
                        <a:t>&amp; Future Works</a:t>
                      </a:r>
                      <a:endParaRPr b="1" sz="1700"/>
                    </a:p>
                  </a:txBody>
                  <a:tcPr marT="91425" marB="91425" marR="91425" marL="91425"/>
                </a:tc>
              </a:tr>
              <a:tr h="1465700">
                <a:tc>
                  <a:txBody>
                    <a:bodyPr/>
                    <a:lstStyle/>
                    <a:p>
                      <a:pPr indent="0" lvl="0" marL="0" rtl="0" algn="l">
                        <a:spcBef>
                          <a:spcPts val="0"/>
                        </a:spcBef>
                        <a:spcAft>
                          <a:spcPts val="0"/>
                        </a:spcAft>
                        <a:buNone/>
                      </a:pPr>
                      <a:r>
                        <a:rPr lang="en-IN" sz="1700"/>
                        <a:t>7.</a:t>
                      </a:r>
                      <a:endParaRPr sz="1700"/>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b="1" i="1" lang="en-IN" sz="1700">
                          <a:solidFill>
                            <a:schemeClr val="dk1"/>
                          </a:solidFill>
                        </a:rPr>
                        <a:t>Comprehensive Survey on Federated Learning</a:t>
                      </a:r>
                      <a:endParaRPr b="1" i="1" sz="1700">
                        <a:solidFill>
                          <a:schemeClr val="dk1"/>
                        </a:solidFill>
                      </a:endParaRPr>
                    </a:p>
                    <a:p>
                      <a:pPr indent="0" lvl="0" marL="0" rtl="0" algn="l">
                        <a:lnSpc>
                          <a:spcPct val="115000"/>
                        </a:lnSpc>
                        <a:spcBef>
                          <a:spcPts val="0"/>
                        </a:spcBef>
                        <a:spcAft>
                          <a:spcPts val="0"/>
                        </a:spcAft>
                        <a:buNone/>
                      </a:pPr>
                      <a:r>
                        <a:rPr b="1" i="1" lang="en-IN" sz="1700">
                          <a:solidFill>
                            <a:schemeClr val="dk1"/>
                          </a:solidFill>
                        </a:rPr>
                        <a:t>(Reddy &amp; Gadekallu, 2023)</a:t>
                      </a:r>
                      <a:endParaRPr b="1" i="1" sz="17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700">
                          <a:solidFill>
                            <a:schemeClr val="dk1"/>
                          </a:solidFill>
                        </a:rPr>
                        <a:t>Survey FL frameworks (FedAvg, FedHealth); healthcare apps in EHR, imaging, outbreak.</a:t>
                      </a:r>
                      <a:endParaRPr sz="1700">
                        <a:solidFill>
                          <a:schemeClr val="dk1"/>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IN" sz="1700">
                          <a:solidFill>
                            <a:schemeClr val="dk1"/>
                          </a:solidFill>
                        </a:rPr>
                        <a:t>Privacy-accuracy trade-off, non-IID, trust, scalability, datasets.</a:t>
                      </a:r>
                      <a:endParaRPr sz="1700">
                        <a:solidFill>
                          <a:schemeClr val="dk1"/>
                        </a:solidFill>
                      </a:endParaRPr>
                    </a:p>
                    <a:p>
                      <a:pPr indent="0" lvl="0" marL="0" rtl="0" algn="ctr">
                        <a:lnSpc>
                          <a:spcPct val="115000"/>
                        </a:lnSpc>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15000"/>
                        </a:lnSpc>
                        <a:spcBef>
                          <a:spcPts val="0"/>
                        </a:spcBef>
                        <a:spcAft>
                          <a:spcPts val="0"/>
                        </a:spcAft>
                        <a:buNone/>
                      </a:pPr>
                      <a:r>
                        <a:rPr lang="en-IN" sz="1700">
                          <a:solidFill>
                            <a:schemeClr val="dk1"/>
                          </a:solidFill>
                        </a:rPr>
                        <a:t>Transfer learning, efficient FL, adversarial defense, benchmark datasets.</a:t>
                      </a:r>
                      <a:endParaRPr sz="1700">
                        <a:solidFill>
                          <a:schemeClr val="dk1"/>
                        </a:solidFill>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8aac116b48_0_54"/>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100">
                <a:latin typeface="Arial"/>
                <a:ea typeface="Arial"/>
                <a:cs typeface="Arial"/>
                <a:sym typeface="Arial"/>
              </a:rPr>
              <a:t>Literature Review (Research Papers)</a:t>
            </a:r>
            <a:endParaRPr b="1" sz="3100">
              <a:latin typeface="Arial"/>
              <a:ea typeface="Arial"/>
              <a:cs typeface="Arial"/>
              <a:sym typeface="Arial"/>
            </a:endParaRPr>
          </a:p>
        </p:txBody>
      </p:sp>
      <p:pic>
        <p:nvPicPr>
          <p:cNvPr id="161" name="Google Shape;161;g38aac116b48_0_54"/>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62" name="Google Shape;162;g38aac116b48_0_5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63" name="Google Shape;163;g38aac116b48_0_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164" name="Google Shape;164;g38aac116b48_0_54"/>
          <p:cNvGraphicFramePr/>
          <p:nvPr/>
        </p:nvGraphicFramePr>
        <p:xfrm>
          <a:off x="895650" y="1180800"/>
          <a:ext cx="3000000" cy="3000000"/>
        </p:xfrm>
        <a:graphic>
          <a:graphicData uri="http://schemas.openxmlformats.org/drawingml/2006/table">
            <a:tbl>
              <a:tblPr>
                <a:noFill/>
                <a:tableStyleId>{F9423510-A241-49EB-94F7-8464A1D09D61}</a:tableStyleId>
              </a:tblPr>
              <a:tblGrid>
                <a:gridCol w="717400"/>
                <a:gridCol w="2829100"/>
                <a:gridCol w="2968425"/>
                <a:gridCol w="3943225"/>
              </a:tblGrid>
              <a:tr h="621025">
                <a:tc>
                  <a:txBody>
                    <a:bodyPr/>
                    <a:lstStyle/>
                    <a:p>
                      <a:pPr indent="0" lvl="0" marL="0" rtl="0" algn="l">
                        <a:spcBef>
                          <a:spcPts val="0"/>
                        </a:spcBef>
                        <a:spcAft>
                          <a:spcPts val="0"/>
                        </a:spcAft>
                        <a:buNone/>
                      </a:pPr>
                      <a:r>
                        <a:rPr b="1" lang="en-IN" sz="1600"/>
                        <a:t>S.No</a:t>
                      </a:r>
                      <a:endParaRPr b="1" sz="1600"/>
                    </a:p>
                  </a:txBody>
                  <a:tcPr marT="91425" marB="91425" marR="91425" marL="91425"/>
                </a:tc>
                <a:tc>
                  <a:txBody>
                    <a:bodyPr/>
                    <a:lstStyle/>
                    <a:p>
                      <a:pPr indent="0" lvl="0" marL="0" rtl="0" algn="l">
                        <a:spcBef>
                          <a:spcPts val="0"/>
                        </a:spcBef>
                        <a:spcAft>
                          <a:spcPts val="0"/>
                        </a:spcAft>
                        <a:buNone/>
                      </a:pPr>
                      <a:r>
                        <a:rPr b="1" lang="en-IN" sz="1600"/>
                        <a:t>Paper with Author</a:t>
                      </a:r>
                      <a:endParaRPr b="1" sz="1600"/>
                    </a:p>
                  </a:txBody>
                  <a:tcPr marT="91425" marB="91425" marR="91425" marL="91425"/>
                </a:tc>
                <a:tc>
                  <a:txBody>
                    <a:bodyPr/>
                    <a:lstStyle/>
                    <a:p>
                      <a:pPr indent="0" lvl="0" marL="0" rtl="0" algn="l">
                        <a:spcBef>
                          <a:spcPts val="0"/>
                        </a:spcBef>
                        <a:spcAft>
                          <a:spcPts val="0"/>
                        </a:spcAft>
                        <a:buNone/>
                      </a:pPr>
                      <a:r>
                        <a:rPr b="1" lang="en-IN" sz="1600"/>
                        <a:t>Main Agenda</a:t>
                      </a:r>
                      <a:endParaRPr b="1" sz="1600"/>
                    </a:p>
                  </a:txBody>
                  <a:tcPr marT="91425" marB="91425" marR="91425" marL="91425"/>
                </a:tc>
                <a:tc>
                  <a:txBody>
                    <a:bodyPr/>
                    <a:lstStyle/>
                    <a:p>
                      <a:pPr indent="0" lvl="0" marL="0" rtl="0" algn="l">
                        <a:spcBef>
                          <a:spcPts val="0"/>
                        </a:spcBef>
                        <a:spcAft>
                          <a:spcPts val="0"/>
                        </a:spcAft>
                        <a:buNone/>
                      </a:pPr>
                      <a:r>
                        <a:rPr b="1" lang="en-IN" sz="1600"/>
                        <a:t>Limitations </a:t>
                      </a:r>
                      <a:r>
                        <a:rPr b="1" lang="en-IN" sz="1600">
                          <a:solidFill>
                            <a:schemeClr val="dk1"/>
                          </a:solidFill>
                        </a:rPr>
                        <a:t>&amp; Future Works</a:t>
                      </a:r>
                      <a:endParaRPr b="1" sz="1600"/>
                    </a:p>
                  </a:txBody>
                  <a:tcPr marT="91425" marB="91425" marR="91425" marL="91425"/>
                </a:tc>
              </a:tr>
              <a:tr h="2176500">
                <a:tc>
                  <a:txBody>
                    <a:bodyPr/>
                    <a:lstStyle/>
                    <a:p>
                      <a:pPr indent="0" lvl="0" marL="0" rtl="0" algn="l">
                        <a:spcBef>
                          <a:spcPts val="0"/>
                        </a:spcBef>
                        <a:spcAft>
                          <a:spcPts val="0"/>
                        </a:spcAft>
                        <a:buNone/>
                      </a:pPr>
                      <a:r>
                        <a:rPr lang="en-IN" sz="1700"/>
                        <a:t>1.</a:t>
                      </a:r>
                      <a:endParaRPr sz="1700"/>
                    </a:p>
                  </a:txBody>
                  <a:tcPr marT="91425" marB="91425" marR="91425" marL="91425"/>
                </a:tc>
                <a:tc>
                  <a:txBody>
                    <a:bodyPr/>
                    <a:lstStyle/>
                    <a:p>
                      <a:pPr indent="0" lvl="0" marL="0" rtl="0" algn="l">
                        <a:lnSpc>
                          <a:spcPct val="107000"/>
                        </a:lnSpc>
                        <a:spcBef>
                          <a:spcPts val="0"/>
                        </a:spcBef>
                        <a:spcAft>
                          <a:spcPts val="0"/>
                        </a:spcAft>
                        <a:buClr>
                          <a:schemeClr val="dk1"/>
                        </a:buClr>
                        <a:buSzPts val="1100"/>
                        <a:buFont typeface="Arial"/>
                        <a:buNone/>
                      </a:pPr>
                      <a:r>
                        <a:rPr i="1" lang="en-IN" sz="1700">
                          <a:solidFill>
                            <a:schemeClr val="dk1"/>
                          </a:solidFill>
                        </a:rPr>
                        <a:t>Elayan et al., 2021</a:t>
                      </a:r>
                      <a:endParaRPr i="1" sz="1700">
                        <a:solidFill>
                          <a:schemeClr val="dk1"/>
                        </a:solidFill>
                      </a:endParaRPr>
                    </a:p>
                    <a:p>
                      <a:pPr indent="0" lvl="0" marL="0" rtl="0" algn="l">
                        <a:lnSpc>
                          <a:spcPct val="115000"/>
                        </a:lnSpc>
                        <a:spcBef>
                          <a:spcPts val="0"/>
                        </a:spcBef>
                        <a:spcAft>
                          <a:spcPts val="0"/>
                        </a:spcAft>
                        <a:buNone/>
                      </a:pPr>
                      <a:r>
                        <a:rPr b="1" lang="en-IN" sz="1700">
                          <a:solidFill>
                            <a:schemeClr val="dk1"/>
                          </a:solidFill>
                        </a:rPr>
                        <a:t>Sustainability of Healthcare Data Analysis IoT-Based Systems Using Deep FL</a:t>
                      </a:r>
                      <a:endParaRPr b="1" i="1" sz="28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700">
                          <a:solidFill>
                            <a:schemeClr val="dk1"/>
                          </a:solidFill>
                        </a:rPr>
                        <a:t>Proposes a privacy-preserving IoT healthcare architecture using deep FL with feedback-based local training and cloud sync</a:t>
                      </a:r>
                      <a:endParaRPr sz="24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700">
                          <a:solidFill>
                            <a:schemeClr val="dk1"/>
                          </a:solidFill>
                        </a:rPr>
                        <a:t>Limited edge compute, internet dependency, feedback reliance, biased data, slow learning, poisoned updates.</a:t>
                      </a:r>
                      <a:endParaRPr sz="2400">
                        <a:solidFill>
                          <a:schemeClr val="dk1"/>
                        </a:solidFill>
                      </a:endParaRPr>
                    </a:p>
                  </a:txBody>
                  <a:tcPr marT="91425" marB="91425" marR="91425" marL="91425"/>
                </a:tc>
              </a:tr>
              <a:tr h="2378025">
                <a:tc>
                  <a:txBody>
                    <a:bodyPr/>
                    <a:lstStyle/>
                    <a:p>
                      <a:pPr indent="0" lvl="0" marL="0" rtl="0" algn="l">
                        <a:spcBef>
                          <a:spcPts val="0"/>
                        </a:spcBef>
                        <a:spcAft>
                          <a:spcPts val="0"/>
                        </a:spcAft>
                        <a:buNone/>
                      </a:pPr>
                      <a:r>
                        <a:rPr lang="en-IN" sz="1700"/>
                        <a:t>2.</a:t>
                      </a:r>
                      <a:endParaRPr sz="1700"/>
                    </a:p>
                  </a:txBody>
                  <a:tcPr marT="91425" marB="91425" marR="91425" marL="91425"/>
                </a:tc>
                <a:tc>
                  <a:txBody>
                    <a:bodyPr/>
                    <a:lstStyle/>
                    <a:p>
                      <a:pPr indent="0" lvl="0" marL="0" rtl="0" algn="l">
                        <a:lnSpc>
                          <a:spcPct val="107000"/>
                        </a:lnSpc>
                        <a:spcBef>
                          <a:spcPts val="0"/>
                        </a:spcBef>
                        <a:spcAft>
                          <a:spcPts val="0"/>
                        </a:spcAft>
                        <a:buClr>
                          <a:schemeClr val="dk1"/>
                        </a:buClr>
                        <a:buSzPts val="1100"/>
                        <a:buFont typeface="Arial"/>
                        <a:buNone/>
                      </a:pPr>
                      <a:r>
                        <a:rPr i="1" lang="en-IN" sz="1700">
                          <a:solidFill>
                            <a:schemeClr val="dk1"/>
                          </a:solidFill>
                        </a:rPr>
                        <a:t>Połap et al., 2021</a:t>
                      </a:r>
                      <a:endParaRPr i="1" sz="1700">
                        <a:solidFill>
                          <a:schemeClr val="dk1"/>
                        </a:solidFill>
                      </a:endParaRPr>
                    </a:p>
                    <a:p>
                      <a:pPr indent="0" lvl="0" marL="0" rtl="0" algn="l">
                        <a:lnSpc>
                          <a:spcPct val="115000"/>
                        </a:lnSpc>
                        <a:spcBef>
                          <a:spcPts val="0"/>
                        </a:spcBef>
                        <a:spcAft>
                          <a:spcPts val="0"/>
                        </a:spcAft>
                        <a:buNone/>
                      </a:pPr>
                      <a:r>
                        <a:rPr b="1" lang="en-IN" sz="1700">
                          <a:solidFill>
                            <a:schemeClr val="dk1"/>
                          </a:solidFill>
                        </a:rPr>
                        <a:t>Agent Architecture Based on FL and Blockchain</a:t>
                      </a:r>
                      <a:endParaRPr b="1" i="1" sz="24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700">
                          <a:solidFill>
                            <a:schemeClr val="dk1"/>
                          </a:solidFill>
                        </a:rPr>
                        <a:t>Multi-agent system integrating FL with blockchain for secure, scalable, and private medical systems.</a:t>
                      </a:r>
                      <a:endParaRPr sz="1700">
                        <a:solidFill>
                          <a:schemeClr val="dk1"/>
                        </a:solidFill>
                      </a:endParaRPr>
                    </a:p>
                  </a:txBody>
                  <a:tcPr marT="91425" marB="91425" marR="91425" marL="91425"/>
                </a:tc>
                <a:tc>
                  <a:txBody>
                    <a:bodyPr/>
                    <a:lstStyle/>
                    <a:p>
                      <a:pPr indent="0" lvl="0" marL="0" rtl="0" algn="l">
                        <a:lnSpc>
                          <a:spcPct val="115000"/>
                        </a:lnSpc>
                        <a:spcBef>
                          <a:spcPts val="1200"/>
                        </a:spcBef>
                        <a:spcAft>
                          <a:spcPts val="1200"/>
                        </a:spcAft>
                        <a:buNone/>
                      </a:pPr>
                      <a:r>
                        <a:rPr lang="en-IN" sz="1700"/>
                        <a:t>High overhead, blockchain latency, complex maintenance, non-IID data challenge, scalability issues.</a:t>
                      </a:r>
                      <a:endParaRPr sz="2100">
                        <a:solidFill>
                          <a:schemeClr val="dk1"/>
                        </a:solidFill>
                      </a:endParaRPr>
                    </a:p>
                  </a:txBody>
                  <a:tcPr marT="9525" marB="9525" marR="9525" marL="95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8aac116b48_0_63"/>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100">
                <a:latin typeface="Arial"/>
                <a:ea typeface="Arial"/>
                <a:cs typeface="Arial"/>
                <a:sym typeface="Arial"/>
              </a:rPr>
              <a:t>Literature Review (Research Papers)</a:t>
            </a:r>
            <a:endParaRPr b="1" sz="3100">
              <a:latin typeface="Arial"/>
              <a:ea typeface="Arial"/>
              <a:cs typeface="Arial"/>
              <a:sym typeface="Arial"/>
            </a:endParaRPr>
          </a:p>
        </p:txBody>
      </p:sp>
      <p:pic>
        <p:nvPicPr>
          <p:cNvPr id="171" name="Google Shape;171;g38aac116b48_0_63"/>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72" name="Google Shape;172;g38aac116b48_0_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73" name="Google Shape;173;g38aac116b48_0_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174" name="Google Shape;174;g38aac116b48_0_63"/>
          <p:cNvGraphicFramePr/>
          <p:nvPr/>
        </p:nvGraphicFramePr>
        <p:xfrm>
          <a:off x="938325" y="1180800"/>
          <a:ext cx="3000000" cy="3000000"/>
        </p:xfrm>
        <a:graphic>
          <a:graphicData uri="http://schemas.openxmlformats.org/drawingml/2006/table">
            <a:tbl>
              <a:tblPr>
                <a:noFill/>
                <a:tableStyleId>{F9423510-A241-49EB-94F7-8464A1D09D61}</a:tableStyleId>
              </a:tblPr>
              <a:tblGrid>
                <a:gridCol w="674725"/>
                <a:gridCol w="2829100"/>
                <a:gridCol w="2968425"/>
                <a:gridCol w="3943225"/>
              </a:tblGrid>
              <a:tr h="497800">
                <a:tc>
                  <a:txBody>
                    <a:bodyPr/>
                    <a:lstStyle/>
                    <a:p>
                      <a:pPr indent="0" lvl="0" marL="0" rtl="0" algn="l">
                        <a:spcBef>
                          <a:spcPts val="0"/>
                        </a:spcBef>
                        <a:spcAft>
                          <a:spcPts val="0"/>
                        </a:spcAft>
                        <a:buNone/>
                      </a:pPr>
                      <a:r>
                        <a:rPr b="1" lang="en-IN" sz="1600"/>
                        <a:t>S.No</a:t>
                      </a:r>
                      <a:endParaRPr b="1" sz="1600"/>
                    </a:p>
                  </a:txBody>
                  <a:tcPr marT="91425" marB="91425" marR="91425" marL="91425"/>
                </a:tc>
                <a:tc>
                  <a:txBody>
                    <a:bodyPr/>
                    <a:lstStyle/>
                    <a:p>
                      <a:pPr indent="0" lvl="0" marL="0" rtl="0" algn="l">
                        <a:spcBef>
                          <a:spcPts val="0"/>
                        </a:spcBef>
                        <a:spcAft>
                          <a:spcPts val="0"/>
                        </a:spcAft>
                        <a:buNone/>
                      </a:pPr>
                      <a:r>
                        <a:rPr b="1" lang="en-IN" sz="1600"/>
                        <a:t>Paper with Author</a:t>
                      </a:r>
                      <a:endParaRPr b="1" sz="1600"/>
                    </a:p>
                  </a:txBody>
                  <a:tcPr marT="91425" marB="91425" marR="91425" marL="91425"/>
                </a:tc>
                <a:tc>
                  <a:txBody>
                    <a:bodyPr/>
                    <a:lstStyle/>
                    <a:p>
                      <a:pPr indent="0" lvl="0" marL="0" rtl="0" algn="l">
                        <a:spcBef>
                          <a:spcPts val="0"/>
                        </a:spcBef>
                        <a:spcAft>
                          <a:spcPts val="0"/>
                        </a:spcAft>
                        <a:buNone/>
                      </a:pPr>
                      <a:r>
                        <a:rPr b="1" lang="en-IN" sz="1600"/>
                        <a:t>Main Agenda</a:t>
                      </a:r>
                      <a:endParaRPr b="1" sz="1600"/>
                    </a:p>
                  </a:txBody>
                  <a:tcPr marT="91425" marB="91425" marR="91425" marL="91425"/>
                </a:tc>
                <a:tc>
                  <a:txBody>
                    <a:bodyPr/>
                    <a:lstStyle/>
                    <a:p>
                      <a:pPr indent="0" lvl="0" marL="0" rtl="0" algn="l">
                        <a:spcBef>
                          <a:spcPts val="0"/>
                        </a:spcBef>
                        <a:spcAft>
                          <a:spcPts val="0"/>
                        </a:spcAft>
                        <a:buNone/>
                      </a:pPr>
                      <a:r>
                        <a:rPr b="1" lang="en-IN" sz="1600"/>
                        <a:t>Limitations </a:t>
                      </a:r>
                      <a:r>
                        <a:rPr b="1" lang="en-IN" sz="1600">
                          <a:solidFill>
                            <a:schemeClr val="dk1"/>
                          </a:solidFill>
                        </a:rPr>
                        <a:t>&amp; Future Works</a:t>
                      </a:r>
                      <a:endParaRPr b="1" sz="1600"/>
                    </a:p>
                  </a:txBody>
                  <a:tcPr marT="91425" marB="91425" marR="91425" marL="91425"/>
                </a:tc>
              </a:tr>
              <a:tr h="1744650">
                <a:tc>
                  <a:txBody>
                    <a:bodyPr/>
                    <a:lstStyle/>
                    <a:p>
                      <a:pPr indent="0" lvl="0" marL="0" rtl="0" algn="l">
                        <a:spcBef>
                          <a:spcPts val="0"/>
                        </a:spcBef>
                        <a:spcAft>
                          <a:spcPts val="0"/>
                        </a:spcAft>
                        <a:buNone/>
                      </a:pPr>
                      <a:r>
                        <a:rPr lang="en-IN"/>
                        <a:t>3.</a:t>
                      </a:r>
                      <a:endParaRPr/>
                    </a:p>
                  </a:txBody>
                  <a:tcPr marT="91425" marB="91425" marR="91425" marL="91425"/>
                </a:tc>
                <a:tc>
                  <a:txBody>
                    <a:bodyPr/>
                    <a:lstStyle/>
                    <a:p>
                      <a:pPr indent="0" lvl="0" marL="0" rtl="0" algn="l">
                        <a:lnSpc>
                          <a:spcPct val="115000"/>
                        </a:lnSpc>
                        <a:spcBef>
                          <a:spcPts val="0"/>
                        </a:spcBef>
                        <a:spcAft>
                          <a:spcPts val="0"/>
                        </a:spcAft>
                        <a:buNone/>
                      </a:pPr>
                      <a:r>
                        <a:rPr b="1" i="1" lang="en-IN" sz="1600">
                          <a:solidFill>
                            <a:schemeClr val="dk1"/>
                          </a:solidFill>
                        </a:rPr>
                        <a:t>Edge-based Architecture for Healthcare Industry 4.0 </a:t>
                      </a:r>
                      <a:endParaRPr b="1" i="1" sz="1600">
                        <a:solidFill>
                          <a:schemeClr val="dk1"/>
                        </a:solidFill>
                      </a:endParaRPr>
                    </a:p>
                    <a:p>
                      <a:pPr indent="0" lvl="0" marL="0" rtl="0" algn="l">
                        <a:lnSpc>
                          <a:spcPct val="115000"/>
                        </a:lnSpc>
                        <a:spcBef>
                          <a:spcPts val="0"/>
                        </a:spcBef>
                        <a:spcAft>
                          <a:spcPts val="0"/>
                        </a:spcAft>
                        <a:buNone/>
                      </a:pPr>
                      <a:r>
                        <a:t/>
                      </a:r>
                      <a:endParaRPr b="1" i="1" sz="1600">
                        <a:solidFill>
                          <a:schemeClr val="dk1"/>
                        </a:solidFill>
                      </a:endParaRPr>
                    </a:p>
                    <a:p>
                      <a:pPr indent="0" lvl="0" marL="0" rtl="0" algn="l">
                        <a:lnSpc>
                          <a:spcPct val="115000"/>
                        </a:lnSpc>
                        <a:spcBef>
                          <a:spcPts val="0"/>
                        </a:spcBef>
                        <a:spcAft>
                          <a:spcPts val="0"/>
                        </a:spcAft>
                        <a:buNone/>
                      </a:pPr>
                      <a:r>
                        <a:rPr i="1" lang="en-IN" sz="1600">
                          <a:solidFill>
                            <a:schemeClr val="dk1"/>
                          </a:solidFill>
                        </a:rPr>
                        <a:t>(Pace et al., 2018)</a:t>
                      </a:r>
                      <a:endParaRPr i="1" sz="2300">
                        <a:solidFill>
                          <a:schemeClr val="dk1"/>
                        </a:solidFill>
                      </a:endParaRPr>
                    </a:p>
                  </a:txBody>
                  <a:tcPr marT="91425" marB="91425" marR="91425" marL="91425"/>
                </a:tc>
                <a:tc>
                  <a:txBody>
                    <a:bodyPr/>
                    <a:lstStyle/>
                    <a:p>
                      <a:pPr indent="0" lvl="0" marL="0" rtl="0" algn="l">
                        <a:spcBef>
                          <a:spcPts val="0"/>
                        </a:spcBef>
                        <a:spcAft>
                          <a:spcPts val="0"/>
                        </a:spcAft>
                        <a:buNone/>
                      </a:pPr>
                      <a:r>
                        <a:rPr lang="en-IN" sz="1600">
                          <a:solidFill>
                            <a:schemeClr val="dk1"/>
                          </a:solidFill>
                        </a:rPr>
                        <a:t>Propose an edge-based computing architecture for efficient healthcare applications under Industry 4.0.</a:t>
                      </a:r>
                      <a:endParaRPr sz="1900"/>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Limited scalability, energy constraints, integration with AI/FL not considered.</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None/>
                      </a:pPr>
                      <a:r>
                        <a:rPr b="1" lang="en-IN" sz="1600">
                          <a:solidFill>
                            <a:schemeClr val="dk1"/>
                          </a:solidFill>
                        </a:rPr>
                        <a:t>Future Works</a:t>
                      </a:r>
                      <a:r>
                        <a:rPr lang="en-IN" sz="1600">
                          <a:solidFill>
                            <a:schemeClr val="dk1"/>
                          </a:solidFill>
                        </a:rPr>
                        <a:t>: Incorporate FL/AI, scalability improvements, energy optimization, real-world validation.</a:t>
                      </a:r>
                      <a:endParaRPr sz="1600">
                        <a:solidFill>
                          <a:schemeClr val="dk1"/>
                        </a:solidFill>
                      </a:endParaRPr>
                    </a:p>
                  </a:txBody>
                  <a:tcPr marT="91425" marB="91425" marR="91425" marL="91425"/>
                </a:tc>
              </a:tr>
              <a:tr h="2814575">
                <a:tc>
                  <a:txBody>
                    <a:bodyPr/>
                    <a:lstStyle/>
                    <a:p>
                      <a:pPr indent="0" lvl="0" marL="0" rtl="0" algn="l">
                        <a:spcBef>
                          <a:spcPts val="0"/>
                        </a:spcBef>
                        <a:spcAft>
                          <a:spcPts val="0"/>
                        </a:spcAft>
                        <a:buNone/>
                      </a:pPr>
                      <a:r>
                        <a:rPr lang="en-IN"/>
                        <a:t>4.</a:t>
                      </a:r>
                      <a:endParaRPr/>
                    </a:p>
                  </a:txBody>
                  <a:tcPr marT="91425" marB="91425" marR="91425" marL="91425"/>
                </a:tc>
                <a:tc>
                  <a:txBody>
                    <a:bodyPr/>
                    <a:lstStyle/>
                    <a:p>
                      <a:pPr indent="0" lvl="0" marL="0" rtl="0" algn="l">
                        <a:lnSpc>
                          <a:spcPct val="115000"/>
                        </a:lnSpc>
                        <a:spcBef>
                          <a:spcPts val="0"/>
                        </a:spcBef>
                        <a:spcAft>
                          <a:spcPts val="0"/>
                        </a:spcAft>
                        <a:buNone/>
                      </a:pPr>
                      <a:r>
                        <a:rPr b="1" i="1" lang="en-IN" sz="1800">
                          <a:solidFill>
                            <a:schemeClr val="dk1"/>
                          </a:solidFill>
                        </a:rPr>
                        <a:t>Federated learning for predicting clinical outcomes in patients with COVID-19</a:t>
                      </a:r>
                      <a:endParaRPr b="1" i="1" sz="1800">
                        <a:solidFill>
                          <a:schemeClr val="dk1"/>
                        </a:solidFill>
                      </a:endParaRPr>
                    </a:p>
                    <a:p>
                      <a:pPr indent="0" lvl="0" marL="0" rtl="0" algn="l">
                        <a:lnSpc>
                          <a:spcPct val="115000"/>
                        </a:lnSpc>
                        <a:spcBef>
                          <a:spcPts val="0"/>
                        </a:spcBef>
                        <a:spcAft>
                          <a:spcPts val="0"/>
                        </a:spcAft>
                        <a:buNone/>
                      </a:pPr>
                      <a:r>
                        <a:rPr b="1" i="1" lang="en-IN" sz="1800">
                          <a:solidFill>
                            <a:schemeClr val="dk1"/>
                          </a:solidFill>
                        </a:rPr>
                        <a:t>(Dayan et al., 2021)</a:t>
                      </a:r>
                      <a:endParaRPr b="1" i="1" sz="18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Validated a global FL model (EXAM) across 20 sites for predicting COVID-19 outcomes, proving it outperformed locally trained models..</a:t>
                      </a:r>
                      <a:endParaRPr sz="1600">
                        <a:solidFill>
                          <a:schemeClr val="dk1"/>
                        </a:solidFill>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rPr>
                        <a:t>Data inaccessibility and quality biases across unharmonized datasets.Requires prospective clinical validation and methods to assess client contribution.</a:t>
                      </a:r>
                      <a:endParaRPr sz="16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835b86f96e_2_0"/>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100">
                <a:latin typeface="Arial"/>
                <a:ea typeface="Arial"/>
                <a:cs typeface="Arial"/>
                <a:sym typeface="Arial"/>
              </a:rPr>
              <a:t>Literature Review (Research Papers)</a:t>
            </a:r>
            <a:endParaRPr b="1" sz="3100">
              <a:latin typeface="Arial"/>
              <a:ea typeface="Arial"/>
              <a:cs typeface="Arial"/>
              <a:sym typeface="Arial"/>
            </a:endParaRPr>
          </a:p>
        </p:txBody>
      </p:sp>
      <p:pic>
        <p:nvPicPr>
          <p:cNvPr id="181" name="Google Shape;181;g3835b86f96e_2_0"/>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82" name="Google Shape;182;g3835b86f96e_2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83" name="Google Shape;183;g3835b86f96e_2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184" name="Google Shape;184;g3835b86f96e_2_0"/>
          <p:cNvGraphicFramePr/>
          <p:nvPr/>
        </p:nvGraphicFramePr>
        <p:xfrm>
          <a:off x="952500" y="1180800"/>
          <a:ext cx="3000000" cy="3000000"/>
        </p:xfrm>
        <a:graphic>
          <a:graphicData uri="http://schemas.openxmlformats.org/drawingml/2006/table">
            <a:tbl>
              <a:tblPr>
                <a:noFill/>
                <a:tableStyleId>{F9423510-A241-49EB-94F7-8464A1D09D61}</a:tableStyleId>
              </a:tblPr>
              <a:tblGrid>
                <a:gridCol w="660550"/>
                <a:gridCol w="2814900"/>
                <a:gridCol w="2982625"/>
                <a:gridCol w="3943225"/>
              </a:tblGrid>
              <a:tr h="621025">
                <a:tc>
                  <a:txBody>
                    <a:bodyPr/>
                    <a:lstStyle/>
                    <a:p>
                      <a:pPr indent="0" lvl="0" marL="0" rtl="0" algn="l">
                        <a:spcBef>
                          <a:spcPts val="0"/>
                        </a:spcBef>
                        <a:spcAft>
                          <a:spcPts val="0"/>
                        </a:spcAft>
                        <a:buNone/>
                      </a:pPr>
                      <a:r>
                        <a:rPr b="1" lang="en-IN" sz="1600"/>
                        <a:t>S.No</a:t>
                      </a:r>
                      <a:endParaRPr b="1" sz="1600"/>
                    </a:p>
                  </a:txBody>
                  <a:tcPr marT="91425" marB="91425" marR="91425" marL="91425"/>
                </a:tc>
                <a:tc>
                  <a:txBody>
                    <a:bodyPr/>
                    <a:lstStyle/>
                    <a:p>
                      <a:pPr indent="0" lvl="0" marL="0" rtl="0" algn="l">
                        <a:spcBef>
                          <a:spcPts val="0"/>
                        </a:spcBef>
                        <a:spcAft>
                          <a:spcPts val="0"/>
                        </a:spcAft>
                        <a:buNone/>
                      </a:pPr>
                      <a:r>
                        <a:rPr b="1" lang="en-IN" sz="1600"/>
                        <a:t>Paper with Author</a:t>
                      </a:r>
                      <a:endParaRPr b="1" sz="1600"/>
                    </a:p>
                  </a:txBody>
                  <a:tcPr marT="91425" marB="91425" marR="91425" marL="91425"/>
                </a:tc>
                <a:tc>
                  <a:txBody>
                    <a:bodyPr/>
                    <a:lstStyle/>
                    <a:p>
                      <a:pPr indent="0" lvl="0" marL="0" rtl="0" algn="l">
                        <a:spcBef>
                          <a:spcPts val="0"/>
                        </a:spcBef>
                        <a:spcAft>
                          <a:spcPts val="0"/>
                        </a:spcAft>
                        <a:buNone/>
                      </a:pPr>
                      <a:r>
                        <a:rPr b="1" lang="en-IN" sz="1600"/>
                        <a:t>Main Agenda</a:t>
                      </a:r>
                      <a:endParaRPr b="1" sz="1600"/>
                    </a:p>
                  </a:txBody>
                  <a:tcPr marT="91425" marB="91425" marR="91425" marL="91425"/>
                </a:tc>
                <a:tc>
                  <a:txBody>
                    <a:bodyPr/>
                    <a:lstStyle/>
                    <a:p>
                      <a:pPr indent="0" lvl="0" marL="0" rtl="0" algn="l">
                        <a:spcBef>
                          <a:spcPts val="0"/>
                        </a:spcBef>
                        <a:spcAft>
                          <a:spcPts val="0"/>
                        </a:spcAft>
                        <a:buNone/>
                      </a:pPr>
                      <a:r>
                        <a:rPr b="1" lang="en-IN" sz="1600"/>
                        <a:t>Limitations </a:t>
                      </a:r>
                      <a:r>
                        <a:rPr b="1" lang="en-IN" sz="1600">
                          <a:solidFill>
                            <a:schemeClr val="dk1"/>
                          </a:solidFill>
                        </a:rPr>
                        <a:t>&amp; Future Works</a:t>
                      </a:r>
                      <a:endParaRPr b="1" sz="1600"/>
                    </a:p>
                  </a:txBody>
                  <a:tcPr marT="91425" marB="91425" marR="91425" marL="91425"/>
                </a:tc>
              </a:tr>
              <a:tr h="2176500">
                <a:tc>
                  <a:txBody>
                    <a:bodyPr/>
                    <a:lstStyle/>
                    <a:p>
                      <a:pPr indent="0" lvl="0" marL="0" rtl="0" algn="l">
                        <a:spcBef>
                          <a:spcPts val="0"/>
                        </a:spcBef>
                        <a:spcAft>
                          <a:spcPts val="0"/>
                        </a:spcAft>
                        <a:buNone/>
                      </a:pPr>
                      <a:r>
                        <a:rPr lang="en-IN" sz="1600"/>
                        <a:t>5.</a:t>
                      </a:r>
                      <a:endParaRPr sz="1600"/>
                    </a:p>
                  </a:txBody>
                  <a:tcPr marT="91425" marB="91425" marR="91425" marL="91425"/>
                </a:tc>
                <a:tc>
                  <a:txBody>
                    <a:bodyPr/>
                    <a:lstStyle/>
                    <a:p>
                      <a:pPr indent="0" lvl="0" marL="0" rtl="0" algn="l">
                        <a:lnSpc>
                          <a:spcPct val="115000"/>
                        </a:lnSpc>
                        <a:spcBef>
                          <a:spcPts val="0"/>
                        </a:spcBef>
                        <a:spcAft>
                          <a:spcPts val="0"/>
                        </a:spcAft>
                        <a:buNone/>
                      </a:pPr>
                      <a:r>
                        <a:rPr b="1" i="1" lang="en-IN" sz="1600">
                          <a:solidFill>
                            <a:schemeClr val="dk1"/>
                          </a:solidFill>
                          <a:latin typeface="Calibri"/>
                          <a:ea typeface="Calibri"/>
                          <a:cs typeface="Calibri"/>
                          <a:sym typeface="Calibri"/>
                        </a:rPr>
                        <a:t>Adoption of federated learning for healthcare informatics</a:t>
                      </a:r>
                      <a:endParaRPr b="1" i="1" sz="16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i="1" sz="16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i="1" lang="en-IN" sz="1600">
                          <a:solidFill>
                            <a:schemeClr val="dk1"/>
                          </a:solidFill>
                          <a:latin typeface="Calibri"/>
                          <a:ea typeface="Calibri"/>
                          <a:cs typeface="Calibri"/>
                          <a:sym typeface="Calibri"/>
                        </a:rPr>
                        <a:t>(Patel et al., 2022)</a:t>
                      </a:r>
                      <a:endParaRPr b="1" i="1" sz="1600">
                        <a:solidFill>
                          <a:schemeClr val="dk1"/>
                        </a:solidFill>
                        <a:latin typeface="Calibri"/>
                        <a:ea typeface="Calibri"/>
                        <a:cs typeface="Calibri"/>
                        <a:sym typeface="Calibri"/>
                      </a:endParaRPr>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Discuss </a:t>
                      </a:r>
                      <a:r>
                        <a:rPr b="1" lang="en-IN" sz="1600">
                          <a:solidFill>
                            <a:schemeClr val="dk1"/>
                          </a:solidFill>
                        </a:rPr>
                        <a:t>emerging applications</a:t>
                      </a:r>
                      <a:r>
                        <a:rPr lang="en-IN" sz="1600">
                          <a:solidFill>
                            <a:schemeClr val="dk1"/>
                          </a:solidFill>
                        </a:rPr>
                        <a:t> of FL in healthcare informatics and analyze adoption potential with case studies.</a:t>
                      </a:r>
                      <a:endParaRPr sz="16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Limited real-world deployment, interoperability issues, data heterogeneity, regulatory/policy challenges.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None/>
                      </a:pPr>
                      <a:r>
                        <a:rPr b="1" lang="en-IN" sz="1600">
                          <a:solidFill>
                            <a:schemeClr val="dk1"/>
                          </a:solidFill>
                        </a:rPr>
                        <a:t>Future Works</a:t>
                      </a:r>
                      <a:r>
                        <a:rPr lang="en-IN" sz="1600">
                          <a:solidFill>
                            <a:schemeClr val="dk1"/>
                          </a:solidFill>
                        </a:rPr>
                        <a:t>: Standardization, FL framework optimization, cross-organization collaboration, stronger privacy/security mechanisms</a:t>
                      </a:r>
                      <a:endParaRPr sz="1600">
                        <a:solidFill>
                          <a:schemeClr val="dk1"/>
                        </a:solidFill>
                      </a:endParaRPr>
                    </a:p>
                  </a:txBody>
                  <a:tcPr marT="91425" marB="91425" marR="91425" marL="91425"/>
                </a:tc>
              </a:tr>
              <a:tr h="2277975">
                <a:tc>
                  <a:txBody>
                    <a:bodyPr/>
                    <a:lstStyle/>
                    <a:p>
                      <a:pPr indent="0" lvl="0" marL="0" rtl="0" algn="l">
                        <a:spcBef>
                          <a:spcPts val="0"/>
                        </a:spcBef>
                        <a:spcAft>
                          <a:spcPts val="0"/>
                        </a:spcAft>
                        <a:buNone/>
                      </a:pPr>
                      <a:r>
                        <a:rPr lang="en-IN" sz="1600"/>
                        <a:t>6.</a:t>
                      </a:r>
                      <a:endParaRPr sz="1600"/>
                    </a:p>
                  </a:txBody>
                  <a:tcPr marT="91425" marB="91425" marR="91425" marL="91425"/>
                </a:tc>
                <a:tc>
                  <a:txBody>
                    <a:bodyPr/>
                    <a:lstStyle/>
                    <a:p>
                      <a:pPr indent="0" lvl="0" marL="0" rtl="0" algn="l">
                        <a:lnSpc>
                          <a:spcPct val="115000"/>
                        </a:lnSpc>
                        <a:spcBef>
                          <a:spcPts val="0"/>
                        </a:spcBef>
                        <a:spcAft>
                          <a:spcPts val="0"/>
                        </a:spcAft>
                        <a:buNone/>
                      </a:pPr>
                      <a:r>
                        <a:rPr b="1" i="1" lang="en-IN" sz="1600">
                          <a:solidFill>
                            <a:schemeClr val="dk1"/>
                          </a:solidFill>
                        </a:rPr>
                        <a:t>Digital Twins for Healthcare 4.0</a:t>
                      </a:r>
                      <a:endParaRPr b="1" i="1" sz="1600">
                        <a:solidFill>
                          <a:schemeClr val="dk1"/>
                        </a:solidFill>
                      </a:endParaRPr>
                    </a:p>
                    <a:p>
                      <a:pPr indent="0" lvl="0" marL="0" rtl="0" algn="l">
                        <a:lnSpc>
                          <a:spcPct val="115000"/>
                        </a:lnSpc>
                        <a:spcBef>
                          <a:spcPts val="0"/>
                        </a:spcBef>
                        <a:spcAft>
                          <a:spcPts val="0"/>
                        </a:spcAft>
                        <a:buNone/>
                      </a:pPr>
                      <a:r>
                        <a:t/>
                      </a:r>
                      <a:endParaRPr b="1" i="1" sz="1600">
                        <a:solidFill>
                          <a:schemeClr val="dk1"/>
                        </a:solidFill>
                      </a:endParaRPr>
                    </a:p>
                    <a:p>
                      <a:pPr indent="0" lvl="0" marL="0" rtl="0" algn="l">
                        <a:lnSpc>
                          <a:spcPct val="115000"/>
                        </a:lnSpc>
                        <a:spcBef>
                          <a:spcPts val="0"/>
                        </a:spcBef>
                        <a:spcAft>
                          <a:spcPts val="0"/>
                        </a:spcAft>
                        <a:buNone/>
                      </a:pPr>
                      <a:r>
                        <a:rPr i="1" lang="en-IN" sz="1600">
                          <a:solidFill>
                            <a:schemeClr val="dk1"/>
                          </a:solidFill>
                        </a:rPr>
                        <a:t>(</a:t>
                      </a:r>
                      <a:r>
                        <a:rPr b="1" i="1" lang="en-IN" sz="1600">
                          <a:solidFill>
                            <a:schemeClr val="dk1"/>
                          </a:solidFill>
                        </a:rPr>
                        <a:t>Alazab et al., 2022</a:t>
                      </a:r>
                      <a:r>
                        <a:rPr i="1" lang="en-IN" sz="1600">
                          <a:solidFill>
                            <a:schemeClr val="dk1"/>
                          </a:solidFill>
                        </a:rPr>
                        <a:t>)</a:t>
                      </a:r>
                      <a:endParaRPr b="1" i="1" sz="1600">
                        <a:solidFill>
                          <a:schemeClr val="dk1"/>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IN" sz="1600">
                          <a:solidFill>
                            <a:schemeClr val="dk1"/>
                          </a:solidFill>
                        </a:rPr>
                        <a:t>Review </a:t>
                      </a:r>
                      <a:r>
                        <a:rPr b="1" lang="en-IN" sz="1600">
                          <a:solidFill>
                            <a:schemeClr val="dk1"/>
                          </a:solidFill>
                        </a:rPr>
                        <a:t>recent advances</a:t>
                      </a:r>
                      <a:r>
                        <a:rPr lang="en-IN" sz="1600">
                          <a:solidFill>
                            <a:schemeClr val="dk1"/>
                          </a:solidFill>
                        </a:rPr>
                        <a:t> in digital twins applied to healthcare, including architectures and enabling technologies.</a:t>
                      </a:r>
                      <a:endParaRPr sz="16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500">
                          <a:solidFill>
                            <a:schemeClr val="dk1"/>
                          </a:solidFill>
                        </a:rPr>
                        <a:t>Lack of interoperability, scalability, data integration, and real-time reliability.</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15000"/>
                        </a:lnSpc>
                        <a:spcBef>
                          <a:spcPts val="0"/>
                        </a:spcBef>
                        <a:spcAft>
                          <a:spcPts val="0"/>
                        </a:spcAft>
                        <a:buNone/>
                      </a:pPr>
                      <a:r>
                        <a:rPr b="1" lang="en-IN" sz="1500">
                          <a:solidFill>
                            <a:schemeClr val="dk1"/>
                          </a:solidFill>
                        </a:rPr>
                        <a:t>Future Works</a:t>
                      </a:r>
                      <a:r>
                        <a:rPr lang="en-IN" sz="1500">
                          <a:solidFill>
                            <a:schemeClr val="dk1"/>
                          </a:solidFill>
                        </a:rPr>
                        <a:t>: AI-enhanced DTs, secure data sharing, energy-efficient models, improved IoT/edge/cloud synergy</a:t>
                      </a:r>
                      <a:r>
                        <a:rPr lang="en-IN" sz="1100">
                          <a:solidFill>
                            <a:schemeClr val="dk1"/>
                          </a:solidFill>
                        </a:rPr>
                        <a:t>.</a:t>
                      </a:r>
                      <a:endParaRPr sz="1600">
                        <a:solidFill>
                          <a:schemeClr val="dk1"/>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8aac116b48_0_45"/>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100">
                <a:latin typeface="Arial"/>
                <a:ea typeface="Arial"/>
                <a:cs typeface="Arial"/>
                <a:sym typeface="Arial"/>
              </a:rPr>
              <a:t>Literature Review (</a:t>
            </a:r>
            <a:r>
              <a:rPr b="1" lang="en-IN" sz="3100">
                <a:latin typeface="Arial"/>
                <a:ea typeface="Arial"/>
                <a:cs typeface="Arial"/>
                <a:sym typeface="Arial"/>
              </a:rPr>
              <a:t>Research Papers</a:t>
            </a:r>
            <a:r>
              <a:rPr b="1" lang="en-IN" sz="3100">
                <a:latin typeface="Arial"/>
                <a:ea typeface="Arial"/>
                <a:cs typeface="Arial"/>
                <a:sym typeface="Arial"/>
              </a:rPr>
              <a:t>)</a:t>
            </a:r>
            <a:endParaRPr b="1" sz="3100">
              <a:latin typeface="Arial"/>
              <a:ea typeface="Arial"/>
              <a:cs typeface="Arial"/>
              <a:sym typeface="Arial"/>
            </a:endParaRPr>
          </a:p>
        </p:txBody>
      </p:sp>
      <p:pic>
        <p:nvPicPr>
          <p:cNvPr id="191" name="Google Shape;191;g38aac116b48_0_45"/>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192" name="Google Shape;192;g38aac116b48_0_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193" name="Google Shape;193;g38aac116b48_0_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194" name="Google Shape;194;g38aac116b48_0_45"/>
          <p:cNvGraphicFramePr/>
          <p:nvPr/>
        </p:nvGraphicFramePr>
        <p:xfrm>
          <a:off x="952500" y="1180800"/>
          <a:ext cx="3000000" cy="3000000"/>
        </p:xfrm>
        <a:graphic>
          <a:graphicData uri="http://schemas.openxmlformats.org/drawingml/2006/table">
            <a:tbl>
              <a:tblPr>
                <a:noFill/>
                <a:tableStyleId>{F9423510-A241-49EB-94F7-8464A1D09D61}</a:tableStyleId>
              </a:tblPr>
              <a:tblGrid>
                <a:gridCol w="660550"/>
                <a:gridCol w="2814900"/>
                <a:gridCol w="2982625"/>
                <a:gridCol w="3943225"/>
              </a:tblGrid>
              <a:tr h="621025">
                <a:tc>
                  <a:txBody>
                    <a:bodyPr/>
                    <a:lstStyle/>
                    <a:p>
                      <a:pPr indent="0" lvl="0" marL="0" rtl="0" algn="l">
                        <a:spcBef>
                          <a:spcPts val="0"/>
                        </a:spcBef>
                        <a:spcAft>
                          <a:spcPts val="0"/>
                        </a:spcAft>
                        <a:buNone/>
                      </a:pPr>
                      <a:r>
                        <a:rPr b="1" lang="en-IN" sz="1600"/>
                        <a:t>S.No</a:t>
                      </a:r>
                      <a:endParaRPr b="1" sz="1600"/>
                    </a:p>
                  </a:txBody>
                  <a:tcPr marT="91425" marB="91425" marR="91425" marL="91425"/>
                </a:tc>
                <a:tc>
                  <a:txBody>
                    <a:bodyPr/>
                    <a:lstStyle/>
                    <a:p>
                      <a:pPr indent="0" lvl="0" marL="0" rtl="0" algn="l">
                        <a:spcBef>
                          <a:spcPts val="0"/>
                        </a:spcBef>
                        <a:spcAft>
                          <a:spcPts val="0"/>
                        </a:spcAft>
                        <a:buNone/>
                      </a:pPr>
                      <a:r>
                        <a:rPr b="1" lang="en-IN" sz="1600"/>
                        <a:t>Paper with Author</a:t>
                      </a:r>
                      <a:endParaRPr b="1" sz="1600"/>
                    </a:p>
                  </a:txBody>
                  <a:tcPr marT="91425" marB="91425" marR="91425" marL="91425"/>
                </a:tc>
                <a:tc>
                  <a:txBody>
                    <a:bodyPr/>
                    <a:lstStyle/>
                    <a:p>
                      <a:pPr indent="0" lvl="0" marL="0" rtl="0" algn="l">
                        <a:spcBef>
                          <a:spcPts val="0"/>
                        </a:spcBef>
                        <a:spcAft>
                          <a:spcPts val="0"/>
                        </a:spcAft>
                        <a:buNone/>
                      </a:pPr>
                      <a:r>
                        <a:rPr b="1" lang="en-IN" sz="1600"/>
                        <a:t>Main Agenda</a:t>
                      </a:r>
                      <a:endParaRPr b="1" sz="1600"/>
                    </a:p>
                  </a:txBody>
                  <a:tcPr marT="91425" marB="91425" marR="91425" marL="91425"/>
                </a:tc>
                <a:tc>
                  <a:txBody>
                    <a:bodyPr/>
                    <a:lstStyle/>
                    <a:p>
                      <a:pPr indent="0" lvl="0" marL="0" rtl="0" algn="l">
                        <a:spcBef>
                          <a:spcPts val="0"/>
                        </a:spcBef>
                        <a:spcAft>
                          <a:spcPts val="0"/>
                        </a:spcAft>
                        <a:buNone/>
                      </a:pPr>
                      <a:r>
                        <a:rPr b="1" lang="en-IN" sz="1600"/>
                        <a:t>Limitations </a:t>
                      </a:r>
                      <a:r>
                        <a:rPr b="1" lang="en-IN" sz="1600">
                          <a:solidFill>
                            <a:schemeClr val="dk1"/>
                          </a:solidFill>
                        </a:rPr>
                        <a:t>&amp; Future Works</a:t>
                      </a:r>
                      <a:endParaRPr b="1" sz="1600"/>
                    </a:p>
                  </a:txBody>
                  <a:tcPr marT="91425" marB="91425" marR="91425" marL="91425"/>
                </a:tc>
              </a:tr>
              <a:tr h="2176500">
                <a:tc>
                  <a:txBody>
                    <a:bodyPr/>
                    <a:lstStyle/>
                    <a:p>
                      <a:pPr indent="0" lvl="0" marL="0" rtl="0" algn="l">
                        <a:spcBef>
                          <a:spcPts val="0"/>
                        </a:spcBef>
                        <a:spcAft>
                          <a:spcPts val="0"/>
                        </a:spcAft>
                        <a:buNone/>
                      </a:pPr>
                      <a:r>
                        <a:rPr lang="en-IN"/>
                        <a:t>9</a:t>
                      </a:r>
                      <a:r>
                        <a:rPr lang="en-IN"/>
                        <a:t>.</a:t>
                      </a:r>
                      <a:endParaRPr/>
                    </a:p>
                  </a:txBody>
                  <a:tcPr marT="91425" marB="91425" marR="91425" marL="91425"/>
                </a:tc>
                <a:tc>
                  <a:txBody>
                    <a:bodyPr/>
                    <a:lstStyle/>
                    <a:p>
                      <a:pPr indent="0" lvl="0" marL="0" rtl="0" algn="l">
                        <a:lnSpc>
                          <a:spcPct val="107000"/>
                        </a:lnSpc>
                        <a:spcBef>
                          <a:spcPts val="0"/>
                        </a:spcBef>
                        <a:spcAft>
                          <a:spcPts val="0"/>
                        </a:spcAft>
                        <a:buClr>
                          <a:schemeClr val="dk1"/>
                        </a:buClr>
                        <a:buSzPts val="1100"/>
                        <a:buFont typeface="Arial"/>
                        <a:buNone/>
                      </a:pPr>
                      <a:r>
                        <a:rPr i="1" lang="en-IN" sz="1800">
                          <a:solidFill>
                            <a:schemeClr val="dk1"/>
                          </a:solidFill>
                        </a:rPr>
                        <a:t>Kapila &amp; Saleti, 2025</a:t>
                      </a:r>
                      <a:endParaRPr i="1" sz="1800">
                        <a:solidFill>
                          <a:schemeClr val="dk1"/>
                        </a:solidFill>
                      </a:endParaRPr>
                    </a:p>
                    <a:p>
                      <a:pPr indent="0" lvl="0" marL="0" rtl="0" algn="l">
                        <a:lnSpc>
                          <a:spcPct val="115000"/>
                        </a:lnSpc>
                        <a:spcBef>
                          <a:spcPts val="0"/>
                        </a:spcBef>
                        <a:spcAft>
                          <a:spcPts val="0"/>
                        </a:spcAft>
                        <a:buNone/>
                      </a:pPr>
                      <a:r>
                        <a:rPr b="1" lang="en-IN" sz="1800">
                          <a:solidFill>
                            <a:schemeClr val="dk1"/>
                          </a:solidFill>
                        </a:rPr>
                        <a:t>FL-Based Disease Prediction with Feature Selection &amp; Extraction</a:t>
                      </a:r>
                      <a:endParaRPr b="1" i="1" sz="25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800">
                          <a:solidFill>
                            <a:schemeClr val="dk1"/>
                          </a:solidFill>
                        </a:rPr>
                        <a:t>Fusion of FL and dimensionality reduction for accurate prediction on small health datasets.</a:t>
                      </a:r>
                      <a:endParaRPr sz="25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800">
                          <a:solidFill>
                            <a:schemeClr val="dk1"/>
                          </a:solidFill>
                        </a:rPr>
                        <a:t>Tested only in simulations, small datasets, lacks DP/HE, needs IoT scaling, Explainable AI, wider datasets.</a:t>
                      </a:r>
                      <a:endParaRPr sz="2500">
                        <a:solidFill>
                          <a:schemeClr val="dk1"/>
                        </a:solidFill>
                      </a:endParaRPr>
                    </a:p>
                  </a:txBody>
                  <a:tcPr marT="91425" marB="91425" marR="91425" marL="91425"/>
                </a:tc>
              </a:tr>
              <a:tr h="2277975">
                <a:tc>
                  <a:txBody>
                    <a:bodyPr/>
                    <a:lstStyle/>
                    <a:p>
                      <a:pPr indent="0" lvl="0" marL="0" rtl="0" algn="l">
                        <a:spcBef>
                          <a:spcPts val="0"/>
                        </a:spcBef>
                        <a:spcAft>
                          <a:spcPts val="0"/>
                        </a:spcAft>
                        <a:buNone/>
                      </a:pPr>
                      <a:r>
                        <a:rPr lang="en-IN"/>
                        <a:t>10</a:t>
                      </a:r>
                      <a:r>
                        <a:rPr lang="en-IN"/>
                        <a:t>.</a:t>
                      </a:r>
                      <a:endParaRPr/>
                    </a:p>
                  </a:txBody>
                  <a:tcPr marT="91425" marB="91425" marR="91425" marL="91425"/>
                </a:tc>
                <a:tc>
                  <a:txBody>
                    <a:bodyPr/>
                    <a:lstStyle/>
                    <a:p>
                      <a:pPr indent="0" lvl="0" marL="0" rtl="0" algn="l">
                        <a:lnSpc>
                          <a:spcPct val="107000"/>
                        </a:lnSpc>
                        <a:spcBef>
                          <a:spcPts val="0"/>
                        </a:spcBef>
                        <a:spcAft>
                          <a:spcPts val="0"/>
                        </a:spcAft>
                        <a:buClr>
                          <a:schemeClr val="dk1"/>
                        </a:buClr>
                        <a:buSzPts val="1100"/>
                        <a:buFont typeface="Arial"/>
                        <a:buNone/>
                      </a:pPr>
                      <a:r>
                        <a:rPr i="1" lang="en-IN" sz="1800">
                          <a:solidFill>
                            <a:schemeClr val="dk1"/>
                          </a:solidFill>
                        </a:rPr>
                        <a:t>Haripriya et al., 2025</a:t>
                      </a:r>
                      <a:endParaRPr i="1"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IN" sz="1800">
                          <a:solidFill>
                            <a:schemeClr val="dk1"/>
                          </a:solidFill>
                        </a:rPr>
                        <a:t>Privacy-Preserving FL for Collaborative Medical Data Mining</a:t>
                      </a:r>
                      <a:endParaRPr b="1" i="1" sz="2500">
                        <a:solidFill>
                          <a:schemeClr val="dk1"/>
                        </a:solidFill>
                      </a:endParaRPr>
                    </a:p>
                    <a:p>
                      <a:pPr indent="0" lvl="0" marL="0" rtl="0" algn="l">
                        <a:lnSpc>
                          <a:spcPct val="115000"/>
                        </a:lnSpc>
                        <a:spcBef>
                          <a:spcPts val="0"/>
                        </a:spcBef>
                        <a:spcAft>
                          <a:spcPts val="0"/>
                        </a:spcAft>
                        <a:buNone/>
                      </a:pPr>
                      <a:r>
                        <a:t/>
                      </a:r>
                      <a:endParaRPr b="1" i="1" sz="1800">
                        <a:solidFill>
                          <a:schemeClr val="dk1"/>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IN" sz="1800">
                          <a:solidFill>
                            <a:schemeClr val="dk1"/>
                          </a:solidFill>
                        </a:rPr>
                        <a:t>FL with CNNs (FedAvg/FedSGD) for medical image classification across hospitals while preserving privacy.</a:t>
                      </a:r>
                      <a:endParaRPr sz="1800">
                        <a:solidFill>
                          <a:schemeClr val="dk1"/>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IN" sz="1800">
                          <a:solidFill>
                            <a:schemeClr val="dk1"/>
                          </a:solidFill>
                        </a:rPr>
                        <a:t>High resource usage, communication bottlenecks, poor hospital scalability, no multimodal support, privacy-accuracy trade-off.</a:t>
                      </a:r>
                      <a:endParaRPr sz="25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8aac116b48_0_90"/>
          <p:cNvSpPr txBox="1"/>
          <p:nvPr>
            <p:ph type="title"/>
          </p:nvPr>
        </p:nvSpPr>
        <p:spPr>
          <a:xfrm>
            <a:off x="838200" y="377650"/>
            <a:ext cx="10515600" cy="57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960"/>
              <a:buFont typeface="Calibri"/>
              <a:buNone/>
            </a:pPr>
            <a:r>
              <a:rPr b="1" lang="en-IN" sz="3140">
                <a:latin typeface="Arial"/>
                <a:ea typeface="Arial"/>
                <a:cs typeface="Arial"/>
                <a:sym typeface="Arial"/>
              </a:rPr>
              <a:t>Literature Review (Research Papers)</a:t>
            </a:r>
            <a:endParaRPr b="1" sz="3140">
              <a:latin typeface="Arial"/>
              <a:ea typeface="Arial"/>
              <a:cs typeface="Arial"/>
              <a:sym typeface="Arial"/>
            </a:endParaRPr>
          </a:p>
        </p:txBody>
      </p:sp>
      <p:pic>
        <p:nvPicPr>
          <p:cNvPr id="201" name="Google Shape;201;g38aac116b48_0_90"/>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02" name="Google Shape;202;g38aac116b48_0_90"/>
          <p:cNvSpPr txBox="1"/>
          <p:nvPr>
            <p:ph idx="11" type="ftr"/>
          </p:nvPr>
        </p:nvSpPr>
        <p:spPr>
          <a:xfrm>
            <a:off x="4118500" y="650570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03" name="Google Shape;203;g38aac116b48_0_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graphicFrame>
        <p:nvGraphicFramePr>
          <p:cNvPr id="204" name="Google Shape;204;g38aac116b48_0_90"/>
          <p:cNvGraphicFramePr/>
          <p:nvPr/>
        </p:nvGraphicFramePr>
        <p:xfrm>
          <a:off x="895350" y="1086050"/>
          <a:ext cx="3000000" cy="3000000"/>
        </p:xfrm>
        <a:graphic>
          <a:graphicData uri="http://schemas.openxmlformats.org/drawingml/2006/table">
            <a:tbl>
              <a:tblPr>
                <a:noFill/>
                <a:tableStyleId>{F9423510-A241-49EB-94F7-8464A1D09D61}</a:tableStyleId>
              </a:tblPr>
              <a:tblGrid>
                <a:gridCol w="660550"/>
                <a:gridCol w="2829100"/>
                <a:gridCol w="2968425"/>
                <a:gridCol w="3943225"/>
              </a:tblGrid>
              <a:tr h="561225">
                <a:tc>
                  <a:txBody>
                    <a:bodyPr/>
                    <a:lstStyle/>
                    <a:p>
                      <a:pPr indent="0" lvl="0" marL="0" rtl="0" algn="l">
                        <a:spcBef>
                          <a:spcPts val="0"/>
                        </a:spcBef>
                        <a:spcAft>
                          <a:spcPts val="0"/>
                        </a:spcAft>
                        <a:buNone/>
                      </a:pPr>
                      <a:r>
                        <a:rPr b="1" lang="en-IN" sz="1600"/>
                        <a:t>S.No</a:t>
                      </a:r>
                      <a:endParaRPr b="1" sz="1600"/>
                    </a:p>
                  </a:txBody>
                  <a:tcPr marT="91425" marB="91425" marR="91425" marL="91425"/>
                </a:tc>
                <a:tc>
                  <a:txBody>
                    <a:bodyPr/>
                    <a:lstStyle/>
                    <a:p>
                      <a:pPr indent="0" lvl="0" marL="0" rtl="0" algn="l">
                        <a:spcBef>
                          <a:spcPts val="0"/>
                        </a:spcBef>
                        <a:spcAft>
                          <a:spcPts val="0"/>
                        </a:spcAft>
                        <a:buNone/>
                      </a:pPr>
                      <a:r>
                        <a:rPr b="1" lang="en-IN" sz="1600"/>
                        <a:t>Paper with Author</a:t>
                      </a:r>
                      <a:endParaRPr b="1" sz="1600"/>
                    </a:p>
                  </a:txBody>
                  <a:tcPr marT="91425" marB="91425" marR="91425" marL="91425"/>
                </a:tc>
                <a:tc>
                  <a:txBody>
                    <a:bodyPr/>
                    <a:lstStyle/>
                    <a:p>
                      <a:pPr indent="0" lvl="0" marL="0" rtl="0" algn="l">
                        <a:spcBef>
                          <a:spcPts val="0"/>
                        </a:spcBef>
                        <a:spcAft>
                          <a:spcPts val="0"/>
                        </a:spcAft>
                        <a:buNone/>
                      </a:pPr>
                      <a:r>
                        <a:rPr b="1" lang="en-IN" sz="1600"/>
                        <a:t>Main Agenda</a:t>
                      </a:r>
                      <a:endParaRPr b="1" sz="1600"/>
                    </a:p>
                  </a:txBody>
                  <a:tcPr marT="91425" marB="91425" marR="91425" marL="91425"/>
                </a:tc>
                <a:tc>
                  <a:txBody>
                    <a:bodyPr/>
                    <a:lstStyle/>
                    <a:p>
                      <a:pPr indent="0" lvl="0" marL="0" rtl="0" algn="l">
                        <a:spcBef>
                          <a:spcPts val="0"/>
                        </a:spcBef>
                        <a:spcAft>
                          <a:spcPts val="0"/>
                        </a:spcAft>
                        <a:buNone/>
                      </a:pPr>
                      <a:r>
                        <a:rPr b="1" lang="en-IN" sz="1600"/>
                        <a:t>Limitations </a:t>
                      </a:r>
                      <a:r>
                        <a:rPr b="1" lang="en-IN" sz="1600">
                          <a:solidFill>
                            <a:schemeClr val="dk1"/>
                          </a:solidFill>
                        </a:rPr>
                        <a:t>&amp; Future Works</a:t>
                      </a:r>
                      <a:endParaRPr b="1" sz="1600"/>
                    </a:p>
                  </a:txBody>
                  <a:tcPr marT="91425" marB="91425" marR="91425" marL="91425"/>
                </a:tc>
              </a:tr>
              <a:tr h="2342500">
                <a:tc>
                  <a:txBody>
                    <a:bodyPr/>
                    <a:lstStyle/>
                    <a:p>
                      <a:pPr indent="0" lvl="0" marL="0" rtl="0" algn="l">
                        <a:spcBef>
                          <a:spcPts val="0"/>
                        </a:spcBef>
                        <a:spcAft>
                          <a:spcPts val="0"/>
                        </a:spcAft>
                        <a:buNone/>
                      </a:pPr>
                      <a:r>
                        <a:rPr lang="en-IN"/>
                        <a:t>7.</a:t>
                      </a:r>
                      <a:endParaRPr/>
                    </a:p>
                  </a:txBody>
                  <a:tcPr marT="91425" marB="91425" marR="91425" marL="91425"/>
                </a:tc>
                <a:tc>
                  <a:txBody>
                    <a:bodyPr/>
                    <a:lstStyle/>
                    <a:p>
                      <a:pPr indent="0" lvl="0" marL="0" rtl="0" algn="l">
                        <a:lnSpc>
                          <a:spcPct val="115000"/>
                        </a:lnSpc>
                        <a:spcBef>
                          <a:spcPts val="1200"/>
                        </a:spcBef>
                        <a:spcAft>
                          <a:spcPts val="0"/>
                        </a:spcAft>
                        <a:buNone/>
                      </a:pPr>
                      <a:r>
                        <a:rPr b="1" i="1" lang="en-IN" sz="1600">
                          <a:solidFill>
                            <a:schemeClr val="dk1"/>
                          </a:solidFill>
                        </a:rPr>
                        <a:t>Assessing the Impact of Federated Learning and Differential Privacy on Multi-centre Polyp Segmentation</a:t>
                      </a:r>
                      <a:endParaRPr b="1" i="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i="1" lang="en-IN" sz="1600">
                          <a:solidFill>
                            <a:schemeClr val="dk1"/>
                          </a:solidFill>
                        </a:rPr>
                        <a:t>(Stelter et al., 2024)</a:t>
                      </a:r>
                      <a:endParaRPr b="1" i="1" sz="1600">
                        <a:solidFill>
                          <a:schemeClr val="dk1"/>
                        </a:solidFill>
                      </a:endParaRPr>
                    </a:p>
                    <a:p>
                      <a:pPr indent="0" lvl="0" marL="0" rtl="0" algn="l">
                        <a:lnSpc>
                          <a:spcPct val="115000"/>
                        </a:lnSpc>
                        <a:spcBef>
                          <a:spcPts val="1200"/>
                        </a:spcBef>
                        <a:spcAft>
                          <a:spcPts val="0"/>
                        </a:spcAft>
                        <a:buNone/>
                      </a:pPr>
                      <a:r>
                        <a:t/>
                      </a:r>
                      <a:endParaRPr b="1" i="1" sz="18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Analyzed the performance trade-off of using </a:t>
                      </a:r>
                      <a:r>
                        <a:rPr lang="en-IN" sz="1600" u="sng">
                          <a:solidFill>
                            <a:schemeClr val="dk1"/>
                          </a:solidFill>
                        </a:rPr>
                        <a:t>Differential Privacy</a:t>
                      </a:r>
                      <a:r>
                        <a:rPr lang="en-IN" sz="1600">
                          <a:solidFill>
                            <a:schemeClr val="dk1"/>
                          </a:solidFill>
                        </a:rPr>
                        <a:t> (DP) in both Centralized and Federated Learning for polyp segmentation.</a:t>
                      </a:r>
                      <a:endParaRPr sz="1600">
                        <a:solidFill>
                          <a:schemeClr val="dk1"/>
                        </a:solidFill>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rPr>
                        <a:t>Showed that DP significantly degrades model performance due to added noise, creating a privacy-accuracy trade-off. There is a need to explore novel privacy methods like GAN-based synthetic data generation.</a:t>
                      </a:r>
                      <a:endParaRPr sz="16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txBody>
                  <a:tcPr marT="91425" marB="91425" marR="91425" marL="91425"/>
                </a:tc>
              </a:tr>
              <a:tr h="2313300">
                <a:tc>
                  <a:txBody>
                    <a:bodyPr/>
                    <a:lstStyle/>
                    <a:p>
                      <a:pPr indent="0" lvl="0" marL="0" rtl="0" algn="l">
                        <a:spcBef>
                          <a:spcPts val="0"/>
                        </a:spcBef>
                        <a:spcAft>
                          <a:spcPts val="0"/>
                        </a:spcAft>
                        <a:buNone/>
                      </a:pPr>
                      <a:r>
                        <a:rPr lang="en-IN"/>
                        <a:t>8.</a:t>
                      </a:r>
                      <a:endParaRPr/>
                    </a:p>
                  </a:txBody>
                  <a:tcPr marT="91425" marB="91425" marR="91425" marL="91425"/>
                </a:tc>
                <a:tc>
                  <a:txBody>
                    <a:bodyPr/>
                    <a:lstStyle/>
                    <a:p>
                      <a:pPr indent="0" lvl="0" marL="0" rtl="0" algn="l">
                        <a:lnSpc>
                          <a:spcPct val="115000"/>
                        </a:lnSpc>
                        <a:spcBef>
                          <a:spcPts val="1200"/>
                        </a:spcBef>
                        <a:spcAft>
                          <a:spcPts val="0"/>
                        </a:spcAft>
                        <a:buNone/>
                      </a:pPr>
                      <a:r>
                        <a:rPr b="1" i="1" lang="en-IN" sz="1600">
                          <a:solidFill>
                            <a:schemeClr val="dk1"/>
                          </a:solidFill>
                        </a:rPr>
                        <a:t>Review of Federated Learning and Machine Learning-Based Methods for Medical Image Analysis</a:t>
                      </a:r>
                      <a:endParaRPr b="1" i="1" sz="1600">
                        <a:solidFill>
                          <a:schemeClr val="dk1"/>
                        </a:solidFill>
                      </a:endParaRPr>
                    </a:p>
                    <a:p>
                      <a:pPr indent="0" lvl="0" marL="0" rtl="0" algn="l">
                        <a:lnSpc>
                          <a:spcPct val="115000"/>
                        </a:lnSpc>
                        <a:spcBef>
                          <a:spcPts val="1200"/>
                        </a:spcBef>
                        <a:spcAft>
                          <a:spcPts val="0"/>
                        </a:spcAft>
                        <a:buNone/>
                      </a:pPr>
                      <a:r>
                        <a:rPr b="1" i="1" lang="en-IN" sz="1600">
                          <a:solidFill>
                            <a:schemeClr val="dk1"/>
                          </a:solidFill>
                        </a:rPr>
                        <a:t>(Hernandez-Cruz et al., 2024)</a:t>
                      </a:r>
                      <a:endParaRPr b="1" i="1" sz="1600">
                        <a:solidFill>
                          <a:schemeClr val="dk1"/>
                        </a:solidFill>
                      </a:endParaRPr>
                    </a:p>
                    <a:p>
                      <a:pPr indent="0" lvl="0" marL="0" rtl="0" algn="l">
                        <a:lnSpc>
                          <a:spcPct val="115000"/>
                        </a:lnSpc>
                        <a:spcBef>
                          <a:spcPts val="1200"/>
                        </a:spcBef>
                        <a:spcAft>
                          <a:spcPts val="0"/>
                        </a:spcAft>
                        <a:buNone/>
                      </a:pPr>
                      <a:r>
                        <a:t/>
                      </a:r>
                      <a:endParaRPr b="1" i="1" sz="16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rPr lang="en-IN" sz="1600">
                          <a:solidFill>
                            <a:schemeClr val="dk1"/>
                          </a:solidFill>
                        </a:rPr>
                        <a:t>Provided a comprehensive review and taxonomy of FL methods in medical image analysis, identifying non-IID data and privacy as key challenges.</a:t>
                      </a:r>
                      <a:endParaRPr sz="1600">
                        <a:solidFill>
                          <a:schemeClr val="dk1"/>
                        </a:solidFill>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rPr>
                        <a:t>Notes that the field's literature often makes unrealistic assumptions about data quality and infrastructure.The field needs more robust and practical solutions for handling real-world heterogeneous data.</a:t>
                      </a:r>
                      <a:endParaRPr sz="1600">
                        <a:solidFill>
                          <a:schemeClr val="dk1"/>
                        </a:solidFill>
                      </a:endParaRPr>
                    </a:p>
                    <a:p>
                      <a:pPr indent="0" lvl="0" marL="0" rtl="0" algn="l">
                        <a:lnSpc>
                          <a:spcPct val="115000"/>
                        </a:lnSpc>
                        <a:spcBef>
                          <a:spcPts val="1200"/>
                        </a:spcBef>
                        <a:spcAft>
                          <a:spcPts val="0"/>
                        </a:spcAft>
                        <a:buNone/>
                      </a:pPr>
                      <a:r>
                        <a:t/>
                      </a:r>
                      <a:endParaRPr sz="1600">
                        <a:solidFill>
                          <a:schemeClr val="dk1"/>
                        </a:solidFill>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
          <p:cNvSpPr txBox="1"/>
          <p:nvPr>
            <p:ph type="title"/>
          </p:nvPr>
        </p:nvSpPr>
        <p:spPr>
          <a:xfrm>
            <a:off x="838200" y="249825"/>
            <a:ext cx="10515600" cy="5661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b="1" lang="en-IN">
                <a:latin typeface="Arial"/>
                <a:ea typeface="Arial"/>
                <a:cs typeface="Arial"/>
                <a:sym typeface="Arial"/>
              </a:rPr>
              <a:t>Motivation</a:t>
            </a:r>
            <a:endParaRPr b="1">
              <a:latin typeface="Arial"/>
              <a:ea typeface="Arial"/>
              <a:cs typeface="Arial"/>
              <a:sym typeface="Arial"/>
            </a:endParaRPr>
          </a:p>
        </p:txBody>
      </p:sp>
      <p:sp>
        <p:nvSpPr>
          <p:cNvPr id="211" name="Google Shape;211;p4"/>
          <p:cNvSpPr txBox="1"/>
          <p:nvPr>
            <p:ph idx="1" type="body"/>
          </p:nvPr>
        </p:nvSpPr>
        <p:spPr>
          <a:xfrm>
            <a:off x="838200" y="906700"/>
            <a:ext cx="10515600" cy="54498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1200"/>
              </a:spcBef>
              <a:spcAft>
                <a:spcPts val="0"/>
              </a:spcAft>
              <a:buSzPts val="1900"/>
              <a:buAutoNum type="arabicPeriod"/>
            </a:pPr>
            <a:r>
              <a:rPr b="1" lang="en-IN" sz="1900">
                <a:latin typeface="Arial"/>
                <a:ea typeface="Arial"/>
                <a:cs typeface="Arial"/>
                <a:sym typeface="Arial"/>
              </a:rPr>
              <a:t>Handling Non-IID Data</a:t>
            </a:r>
            <a:br>
              <a:rPr b="1" lang="en-IN" sz="1900">
                <a:latin typeface="Arial"/>
                <a:ea typeface="Arial"/>
                <a:cs typeface="Arial"/>
                <a:sym typeface="Arial"/>
              </a:rPr>
            </a:br>
            <a:r>
              <a:rPr b="1" lang="en-IN" sz="1900">
                <a:latin typeface="Arial"/>
                <a:ea typeface="Arial"/>
                <a:cs typeface="Arial"/>
                <a:sym typeface="Arial"/>
              </a:rPr>
              <a:t>- </a:t>
            </a:r>
            <a:r>
              <a:rPr lang="en-IN" sz="1900">
                <a:latin typeface="Arial"/>
                <a:ea typeface="Arial"/>
                <a:cs typeface="Arial"/>
                <a:sym typeface="Arial"/>
              </a:rPr>
              <a:t>All papers highlight that FL struggles with heterogeneous (Non-IID) data across hospitals and devices.</a:t>
            </a:r>
            <a:br>
              <a:rPr lang="en-IN" sz="1900">
                <a:latin typeface="Arial"/>
                <a:ea typeface="Arial"/>
                <a:cs typeface="Arial"/>
                <a:sym typeface="Arial"/>
              </a:rPr>
            </a:br>
            <a:r>
              <a:rPr lang="en-IN" sz="1900">
                <a:latin typeface="Arial"/>
                <a:ea typeface="Arial"/>
                <a:cs typeface="Arial"/>
                <a:sym typeface="Arial"/>
              </a:rPr>
              <a:t>- Current methods lack personalization, clustering, or adaptive aggregation to deal with this.</a:t>
            </a:r>
            <a:br>
              <a:rPr lang="en-IN"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AutoNum type="arabicPeriod"/>
            </a:pPr>
            <a:r>
              <a:rPr b="1" lang="en-IN" sz="1900">
                <a:latin typeface="Arial"/>
                <a:ea typeface="Arial"/>
                <a:cs typeface="Arial"/>
                <a:sym typeface="Arial"/>
              </a:rPr>
              <a:t>Balancing Privacy and Accuracy</a:t>
            </a:r>
            <a:br>
              <a:rPr b="1" lang="en-IN" sz="1900">
                <a:latin typeface="Arial"/>
                <a:ea typeface="Arial"/>
                <a:cs typeface="Arial"/>
                <a:sym typeface="Arial"/>
              </a:rPr>
            </a:br>
            <a:r>
              <a:rPr b="1" lang="en-IN" sz="1900">
                <a:latin typeface="Arial"/>
                <a:ea typeface="Arial"/>
                <a:cs typeface="Arial"/>
                <a:sym typeface="Arial"/>
              </a:rPr>
              <a:t>- </a:t>
            </a:r>
            <a:r>
              <a:rPr lang="en-IN" sz="1900">
                <a:latin typeface="Arial"/>
                <a:ea typeface="Arial"/>
                <a:cs typeface="Arial"/>
                <a:sym typeface="Arial"/>
              </a:rPr>
              <a:t>Techniques like DP, HE, and TEE provide privacy but hurt accuracy or increase cost.</a:t>
            </a:r>
            <a:br>
              <a:rPr lang="en-IN" sz="1900">
                <a:latin typeface="Arial"/>
                <a:ea typeface="Arial"/>
                <a:cs typeface="Arial"/>
                <a:sym typeface="Arial"/>
              </a:rPr>
            </a:br>
            <a:r>
              <a:rPr lang="en-IN" sz="1900">
                <a:latin typeface="Arial"/>
                <a:ea typeface="Arial"/>
                <a:cs typeface="Arial"/>
                <a:sym typeface="Arial"/>
              </a:rPr>
              <a:t>- There is no widely adopted, efficient solution that ensures strong privacy </a:t>
            </a:r>
            <a:r>
              <a:rPr i="1" lang="en-IN" sz="1900">
                <a:latin typeface="Arial"/>
                <a:ea typeface="Arial"/>
                <a:cs typeface="Arial"/>
                <a:sym typeface="Arial"/>
              </a:rPr>
              <a:t>without sacrificing performance</a:t>
            </a:r>
            <a:r>
              <a:rPr lang="en-IN" sz="1900">
                <a:latin typeface="Arial"/>
                <a:ea typeface="Arial"/>
                <a:cs typeface="Arial"/>
                <a:sym typeface="Arial"/>
              </a:rPr>
              <a:t>.</a:t>
            </a:r>
            <a:br>
              <a:rPr lang="en-IN"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AutoNum type="arabicPeriod"/>
            </a:pPr>
            <a:r>
              <a:rPr b="1" lang="en-IN" sz="1900">
                <a:latin typeface="Arial"/>
                <a:ea typeface="Arial"/>
                <a:cs typeface="Arial"/>
                <a:sym typeface="Arial"/>
              </a:rPr>
              <a:t>Communication &amp; Resource Constraints</a:t>
            </a:r>
            <a:br>
              <a:rPr b="1" lang="en-IN" sz="1900">
                <a:latin typeface="Arial"/>
                <a:ea typeface="Arial"/>
                <a:cs typeface="Arial"/>
                <a:sym typeface="Arial"/>
              </a:rPr>
            </a:br>
            <a:r>
              <a:rPr b="1" lang="en-IN" sz="1900">
                <a:latin typeface="Arial"/>
                <a:ea typeface="Arial"/>
                <a:cs typeface="Arial"/>
                <a:sym typeface="Arial"/>
              </a:rPr>
              <a:t>- </a:t>
            </a:r>
            <a:r>
              <a:rPr lang="en-IN" sz="1900">
                <a:latin typeface="Arial"/>
                <a:ea typeface="Arial"/>
                <a:cs typeface="Arial"/>
                <a:sym typeface="Arial"/>
              </a:rPr>
              <a:t>FL requires frequent model updates, which is costly for IoT/wearable devices with limited bandwidth, memory, and battery.</a:t>
            </a:r>
            <a:br>
              <a:rPr lang="en-IN" sz="1900">
                <a:latin typeface="Arial"/>
                <a:ea typeface="Arial"/>
                <a:cs typeface="Arial"/>
                <a:sym typeface="Arial"/>
              </a:rPr>
            </a:br>
            <a:r>
              <a:rPr lang="en-IN" sz="1900">
                <a:latin typeface="Arial"/>
                <a:ea typeface="Arial"/>
                <a:cs typeface="Arial"/>
                <a:sym typeface="Arial"/>
              </a:rPr>
              <a:t>- Efficient model compression, lightweight training, and optimized protocols are still underexplored.</a:t>
            </a:r>
            <a:endParaRPr b="1" sz="2400">
              <a:latin typeface="Arial"/>
              <a:ea typeface="Arial"/>
              <a:cs typeface="Arial"/>
              <a:sym typeface="Arial"/>
            </a:endParaRPr>
          </a:p>
        </p:txBody>
      </p:sp>
      <p:pic>
        <p:nvPicPr>
          <p:cNvPr id="212" name="Google Shape;212;p4"/>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13" name="Google Shape;21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14" name="Google Shape;214;p4"/>
          <p:cNvSpPr txBox="1"/>
          <p:nvPr>
            <p:ph idx="12" type="sldNum"/>
          </p:nvPr>
        </p:nvSpPr>
        <p:spPr>
          <a:xfrm>
            <a:off x="877415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8cd6bca61b_3_49"/>
          <p:cNvSpPr txBox="1"/>
          <p:nvPr>
            <p:ph type="title"/>
          </p:nvPr>
        </p:nvSpPr>
        <p:spPr>
          <a:xfrm>
            <a:off x="838200" y="249825"/>
            <a:ext cx="10515600" cy="5661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b="1" lang="en-IN">
                <a:latin typeface="Arial"/>
                <a:ea typeface="Arial"/>
                <a:cs typeface="Arial"/>
                <a:sym typeface="Arial"/>
              </a:rPr>
              <a:t>Motivation </a:t>
            </a:r>
            <a:r>
              <a:rPr b="1" lang="en-IN">
                <a:latin typeface="Arial"/>
                <a:ea typeface="Arial"/>
                <a:cs typeface="Arial"/>
                <a:sym typeface="Arial"/>
              </a:rPr>
              <a:t>(Cont.)</a:t>
            </a:r>
            <a:endParaRPr b="1">
              <a:latin typeface="Arial"/>
              <a:ea typeface="Arial"/>
              <a:cs typeface="Arial"/>
              <a:sym typeface="Arial"/>
            </a:endParaRPr>
          </a:p>
        </p:txBody>
      </p:sp>
      <p:sp>
        <p:nvSpPr>
          <p:cNvPr id="221" name="Google Shape;221;g38cd6bca61b_3_49"/>
          <p:cNvSpPr txBox="1"/>
          <p:nvPr>
            <p:ph idx="1" type="body"/>
          </p:nvPr>
        </p:nvSpPr>
        <p:spPr>
          <a:xfrm>
            <a:off x="838200" y="906700"/>
            <a:ext cx="10515600" cy="54498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SzPts val="2000"/>
              <a:buAutoNum type="arabicPeriod"/>
            </a:pPr>
            <a:r>
              <a:rPr b="1" lang="en-IN" sz="2000">
                <a:latin typeface="Arial"/>
                <a:ea typeface="Arial"/>
                <a:cs typeface="Arial"/>
                <a:sym typeface="Arial"/>
              </a:rPr>
              <a:t>Security &amp; Robustness</a:t>
            </a:r>
            <a:br>
              <a:rPr b="1" lang="en-IN" sz="2000">
                <a:latin typeface="Arial"/>
                <a:ea typeface="Arial"/>
                <a:cs typeface="Arial"/>
                <a:sym typeface="Arial"/>
              </a:rPr>
            </a:br>
            <a:r>
              <a:rPr b="1" lang="en-IN" sz="2000">
                <a:latin typeface="Arial"/>
                <a:ea typeface="Arial"/>
                <a:cs typeface="Arial"/>
                <a:sym typeface="Arial"/>
              </a:rPr>
              <a:t>- </a:t>
            </a:r>
            <a:r>
              <a:rPr lang="en-IN" sz="2000">
                <a:latin typeface="Arial"/>
                <a:ea typeface="Arial"/>
                <a:cs typeface="Arial"/>
                <a:sym typeface="Arial"/>
              </a:rPr>
              <a:t>FL remains vulnerable to poisoning attacks, inference attacks, and adversarial model manipulation.</a:t>
            </a:r>
            <a:br>
              <a:rPr lang="en-IN" sz="2000">
                <a:latin typeface="Arial"/>
                <a:ea typeface="Arial"/>
                <a:cs typeface="Arial"/>
                <a:sym typeface="Arial"/>
              </a:rPr>
            </a:br>
            <a:r>
              <a:rPr lang="en-IN" sz="2000">
                <a:latin typeface="Arial"/>
                <a:ea typeface="Arial"/>
                <a:cs typeface="Arial"/>
                <a:sym typeface="Arial"/>
              </a:rPr>
              <a:t>- More resilient architectures and built-in defense mechanisms are needed.</a:t>
            </a:r>
            <a:br>
              <a:rPr lang="en-IN"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AutoNum type="arabicPeriod"/>
            </a:pPr>
            <a:r>
              <a:rPr b="1" lang="en-IN" sz="2000">
                <a:latin typeface="Arial"/>
                <a:ea typeface="Arial"/>
                <a:cs typeface="Arial"/>
                <a:sym typeface="Arial"/>
              </a:rPr>
              <a:t>Scalability</a:t>
            </a:r>
            <a:br>
              <a:rPr b="1" lang="en-IN" sz="2000">
                <a:latin typeface="Arial"/>
                <a:ea typeface="Arial"/>
                <a:cs typeface="Arial"/>
                <a:sym typeface="Arial"/>
              </a:rPr>
            </a:br>
            <a:r>
              <a:rPr b="1" lang="en-IN" sz="2000">
                <a:latin typeface="Arial"/>
                <a:ea typeface="Arial"/>
                <a:cs typeface="Arial"/>
                <a:sym typeface="Arial"/>
              </a:rPr>
              <a:t>- </a:t>
            </a:r>
            <a:r>
              <a:rPr lang="en-IN" sz="2000">
                <a:latin typeface="Arial"/>
                <a:ea typeface="Arial"/>
                <a:cs typeface="Arial"/>
                <a:sym typeface="Arial"/>
              </a:rPr>
              <a:t>Scaling FL across large, multi-institutional healthcare networks is challenging due to communication overhead and system coordination.</a:t>
            </a:r>
            <a:br>
              <a:rPr lang="en-IN"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AutoNum type="arabicPeriod"/>
            </a:pPr>
            <a:r>
              <a:rPr b="1" lang="en-IN" sz="2000">
                <a:latin typeface="Arial"/>
                <a:ea typeface="Arial"/>
                <a:cs typeface="Arial"/>
                <a:sym typeface="Arial"/>
              </a:rPr>
              <a:t>Standardization &amp; Dataset Issues</a:t>
            </a:r>
            <a:br>
              <a:rPr b="1" lang="en-IN" sz="2000">
                <a:latin typeface="Arial"/>
                <a:ea typeface="Arial"/>
                <a:cs typeface="Arial"/>
                <a:sym typeface="Arial"/>
              </a:rPr>
            </a:br>
            <a:r>
              <a:rPr b="1" lang="en-IN" sz="2000">
                <a:latin typeface="Arial"/>
                <a:ea typeface="Arial"/>
                <a:cs typeface="Arial"/>
                <a:sym typeface="Arial"/>
              </a:rPr>
              <a:t>- </a:t>
            </a:r>
            <a:r>
              <a:rPr lang="en-IN" sz="2000">
                <a:latin typeface="Arial"/>
                <a:ea typeface="Arial"/>
                <a:cs typeface="Arial"/>
                <a:sym typeface="Arial"/>
              </a:rPr>
              <a:t>Lack of standardized frameworks and interoperable healthcare data (EHR formats differ).</a:t>
            </a:r>
            <a:br>
              <a:rPr lang="en-IN" sz="2000">
                <a:latin typeface="Arial"/>
                <a:ea typeface="Arial"/>
                <a:cs typeface="Arial"/>
                <a:sym typeface="Arial"/>
              </a:rPr>
            </a:br>
            <a:r>
              <a:rPr lang="en-IN" sz="2000">
                <a:latin typeface="Arial"/>
                <a:ea typeface="Arial"/>
                <a:cs typeface="Arial"/>
                <a:sym typeface="Arial"/>
              </a:rPr>
              <a:t>- Few benchmark datasets → difficult to compare methods fairly.</a:t>
            </a:r>
            <a:br>
              <a:rPr lang="en-IN" sz="2000">
                <a:latin typeface="Arial"/>
                <a:ea typeface="Arial"/>
                <a:cs typeface="Arial"/>
                <a:sym typeface="Arial"/>
              </a:rPr>
            </a:br>
            <a:r>
              <a:rPr lang="en-IN" sz="2000">
                <a:latin typeface="Arial"/>
                <a:ea typeface="Arial"/>
                <a:cs typeface="Arial"/>
                <a:sym typeface="Arial"/>
              </a:rPr>
              <a:t>- Annotation scarcity in medical datasets limits supervised FL training.</a:t>
            </a:r>
            <a:endParaRPr b="1" sz="2000">
              <a:latin typeface="Arial"/>
              <a:ea typeface="Arial"/>
              <a:cs typeface="Arial"/>
              <a:sym typeface="Arial"/>
            </a:endParaRPr>
          </a:p>
        </p:txBody>
      </p:sp>
      <p:pic>
        <p:nvPicPr>
          <p:cNvPr id="222" name="Google Shape;222;g38cd6bca61b_3_49"/>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23" name="Google Shape;223;g38cd6bca61b_3_4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24" name="Google Shape;224;g38cd6bca61b_3_49"/>
          <p:cNvSpPr txBox="1"/>
          <p:nvPr>
            <p:ph idx="12" type="sldNum"/>
          </p:nvPr>
        </p:nvSpPr>
        <p:spPr>
          <a:xfrm>
            <a:off x="877415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5"/>
          <p:cNvSpPr txBox="1"/>
          <p:nvPr>
            <p:ph type="title"/>
          </p:nvPr>
        </p:nvSpPr>
        <p:spPr>
          <a:xfrm>
            <a:off x="838200" y="589125"/>
            <a:ext cx="10515600" cy="93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4000">
                <a:latin typeface="Arial"/>
                <a:ea typeface="Arial"/>
                <a:cs typeface="Arial"/>
                <a:sym typeface="Arial"/>
              </a:rPr>
              <a:t>Problem Statement:</a:t>
            </a:r>
            <a:endParaRPr b="1" sz="4000">
              <a:latin typeface="Arial"/>
              <a:ea typeface="Arial"/>
              <a:cs typeface="Arial"/>
              <a:sym typeface="Arial"/>
            </a:endParaRPr>
          </a:p>
        </p:txBody>
      </p:sp>
      <p:sp>
        <p:nvSpPr>
          <p:cNvPr id="231" name="Google Shape;231;p5"/>
          <p:cNvSpPr txBox="1"/>
          <p:nvPr>
            <p:ph idx="1" type="body"/>
          </p:nvPr>
        </p:nvSpPr>
        <p:spPr>
          <a:xfrm>
            <a:off x="838200" y="1520750"/>
            <a:ext cx="10515600" cy="4660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N" sz="1850">
                <a:latin typeface="Arial"/>
                <a:ea typeface="Arial"/>
                <a:cs typeface="Arial"/>
                <a:sym typeface="Arial"/>
              </a:rPr>
              <a:t>The current cloud-based model for AI in healthcare is unsustainable. Centralizing patient data from IoT devices creates critical problems we aim to solve.</a:t>
            </a:r>
            <a:endParaRPr sz="185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1850">
                <a:latin typeface="Arial"/>
                <a:ea typeface="Arial"/>
                <a:cs typeface="Arial"/>
                <a:sym typeface="Arial"/>
              </a:rPr>
              <a:t>This approach leads to:</a:t>
            </a:r>
            <a:endParaRPr sz="1850">
              <a:latin typeface="Arial"/>
              <a:ea typeface="Arial"/>
              <a:cs typeface="Arial"/>
              <a:sym typeface="Arial"/>
            </a:endParaRPr>
          </a:p>
          <a:p>
            <a:pPr indent="-346075" lvl="0" marL="457200" rtl="0" algn="l">
              <a:lnSpc>
                <a:spcPct val="115000"/>
              </a:lnSpc>
              <a:spcBef>
                <a:spcPts val="1200"/>
              </a:spcBef>
              <a:spcAft>
                <a:spcPts val="0"/>
              </a:spcAft>
              <a:buSzPts val="1850"/>
              <a:buChar char="●"/>
            </a:pPr>
            <a:r>
              <a:rPr b="1" lang="en-IN" sz="1850" u="sng">
                <a:latin typeface="Arial"/>
                <a:ea typeface="Arial"/>
                <a:cs typeface="Arial"/>
                <a:sym typeface="Arial"/>
              </a:rPr>
              <a:t>Severe Privacy Risks</a:t>
            </a:r>
            <a:r>
              <a:rPr b="1" lang="en-IN" sz="1850">
                <a:latin typeface="Arial"/>
                <a:ea typeface="Arial"/>
                <a:cs typeface="Arial"/>
                <a:sym typeface="Arial"/>
              </a:rPr>
              <a:t>:</a:t>
            </a:r>
            <a:r>
              <a:rPr lang="en-IN" sz="1850">
                <a:latin typeface="Arial"/>
                <a:ea typeface="Arial"/>
                <a:cs typeface="Arial"/>
                <a:sym typeface="Arial"/>
              </a:rPr>
              <a:t> A central server is a prime target for data breaches, exposing sensitive patient records.</a:t>
            </a:r>
            <a:endParaRPr sz="1850">
              <a:latin typeface="Arial"/>
              <a:ea typeface="Arial"/>
              <a:cs typeface="Arial"/>
              <a:sym typeface="Arial"/>
            </a:endParaRPr>
          </a:p>
          <a:p>
            <a:pPr indent="-346075" lvl="0" marL="457200" rtl="0" algn="l">
              <a:lnSpc>
                <a:spcPct val="115000"/>
              </a:lnSpc>
              <a:spcBef>
                <a:spcPts val="0"/>
              </a:spcBef>
              <a:spcAft>
                <a:spcPts val="0"/>
              </a:spcAft>
              <a:buSzPts val="1850"/>
              <a:buChar char="●"/>
            </a:pPr>
            <a:r>
              <a:rPr b="1" lang="en-IN" sz="1850" u="sng">
                <a:latin typeface="Arial"/>
                <a:ea typeface="Arial"/>
                <a:cs typeface="Arial"/>
                <a:sym typeface="Arial"/>
              </a:rPr>
              <a:t>Performance Issues</a:t>
            </a:r>
            <a:r>
              <a:rPr b="1" lang="en-IN" sz="1850">
                <a:latin typeface="Arial"/>
                <a:ea typeface="Arial"/>
                <a:cs typeface="Arial"/>
                <a:sym typeface="Arial"/>
              </a:rPr>
              <a:t>:</a:t>
            </a:r>
            <a:r>
              <a:rPr lang="en-IN" sz="1850">
                <a:latin typeface="Arial"/>
                <a:ea typeface="Arial"/>
                <a:cs typeface="Arial"/>
                <a:sym typeface="Arial"/>
              </a:rPr>
              <a:t> Constant data streaming causes high latency and bandwidth usage, which is unsuitable for real-time care.</a:t>
            </a:r>
            <a:endParaRPr sz="1850">
              <a:latin typeface="Arial"/>
              <a:ea typeface="Arial"/>
              <a:cs typeface="Arial"/>
              <a:sym typeface="Arial"/>
            </a:endParaRPr>
          </a:p>
          <a:p>
            <a:pPr indent="-346075" lvl="0" marL="457200" rtl="0" algn="l">
              <a:lnSpc>
                <a:spcPct val="115000"/>
              </a:lnSpc>
              <a:spcBef>
                <a:spcPts val="0"/>
              </a:spcBef>
              <a:spcAft>
                <a:spcPts val="0"/>
              </a:spcAft>
              <a:buSzPts val="1850"/>
              <a:buChar char="●"/>
            </a:pPr>
            <a:r>
              <a:rPr b="1" lang="en-IN" sz="1850" u="sng">
                <a:latin typeface="Arial"/>
                <a:ea typeface="Arial"/>
                <a:cs typeface="Arial"/>
                <a:sym typeface="Arial"/>
              </a:rPr>
              <a:t>Data Silos</a:t>
            </a:r>
            <a:r>
              <a:rPr b="1" lang="en-IN" sz="1850">
                <a:latin typeface="Arial"/>
                <a:ea typeface="Arial"/>
                <a:cs typeface="Arial"/>
                <a:sym typeface="Arial"/>
              </a:rPr>
              <a:t>:</a:t>
            </a:r>
            <a:r>
              <a:rPr lang="en-IN" sz="1850">
                <a:latin typeface="Arial"/>
                <a:ea typeface="Arial"/>
                <a:cs typeface="Arial"/>
                <a:sym typeface="Arial"/>
              </a:rPr>
              <a:t> Strict privacy laws and incompatible hospital systems prevent collaborative research, trapping valuable data.</a:t>
            </a:r>
            <a:endParaRPr sz="1850">
              <a:latin typeface="Arial"/>
              <a:ea typeface="Arial"/>
              <a:cs typeface="Arial"/>
              <a:sym typeface="Arial"/>
            </a:endParaRPr>
          </a:p>
          <a:p>
            <a:pPr indent="-346075" lvl="0" marL="457200" rtl="0" algn="l">
              <a:lnSpc>
                <a:spcPct val="115000"/>
              </a:lnSpc>
              <a:spcBef>
                <a:spcPts val="0"/>
              </a:spcBef>
              <a:spcAft>
                <a:spcPts val="0"/>
              </a:spcAft>
              <a:buSzPts val="1850"/>
              <a:buChar char="●"/>
            </a:pPr>
            <a:r>
              <a:rPr b="1" lang="en-IN" sz="1850" u="sng">
                <a:latin typeface="Arial"/>
                <a:ea typeface="Arial"/>
                <a:cs typeface="Arial"/>
                <a:sym typeface="Arial"/>
              </a:rPr>
              <a:t>Device Limitations</a:t>
            </a:r>
            <a:r>
              <a:rPr b="1" lang="en-IN" sz="1850">
                <a:latin typeface="Arial"/>
                <a:ea typeface="Arial"/>
                <a:cs typeface="Arial"/>
                <a:sym typeface="Arial"/>
              </a:rPr>
              <a:t>:</a:t>
            </a:r>
            <a:r>
              <a:rPr lang="en-IN" sz="1850">
                <a:latin typeface="Arial"/>
                <a:ea typeface="Arial"/>
                <a:cs typeface="Arial"/>
                <a:sym typeface="Arial"/>
              </a:rPr>
              <a:t> The model is too resource-intensive for the low-power IoT devices and wearables used in patient monitoring.</a:t>
            </a:r>
            <a:endParaRPr sz="1850">
              <a:latin typeface="Arial"/>
              <a:ea typeface="Arial"/>
              <a:cs typeface="Arial"/>
              <a:sym typeface="Arial"/>
            </a:endParaRPr>
          </a:p>
          <a:p>
            <a:pPr indent="0" lvl="0" marL="0" rtl="0" algn="l">
              <a:lnSpc>
                <a:spcPct val="115000"/>
              </a:lnSpc>
              <a:spcBef>
                <a:spcPts val="1200"/>
              </a:spcBef>
              <a:spcAft>
                <a:spcPts val="0"/>
              </a:spcAft>
              <a:buNone/>
            </a:pPr>
            <a:r>
              <a:rPr lang="en-IN" sz="1850">
                <a:latin typeface="Arial"/>
                <a:ea typeface="Arial"/>
                <a:cs typeface="Arial"/>
                <a:sym typeface="Arial"/>
              </a:rPr>
              <a:t>Our project addresses the urgent need for a decentralized system that allows hospitals to train AI models collaboratively, while keeping patient data secure, private, and local.</a:t>
            </a:r>
            <a:endParaRPr sz="1850">
              <a:latin typeface="Arial"/>
              <a:ea typeface="Arial"/>
              <a:cs typeface="Arial"/>
              <a:sym typeface="Arial"/>
            </a:endParaRPr>
          </a:p>
          <a:p>
            <a:pPr indent="0" lvl="0" marL="0" rtl="0" algn="l">
              <a:lnSpc>
                <a:spcPct val="90000"/>
              </a:lnSpc>
              <a:spcBef>
                <a:spcPts val="1200"/>
              </a:spcBef>
              <a:spcAft>
                <a:spcPts val="0"/>
              </a:spcAft>
              <a:buNone/>
            </a:pPr>
            <a:r>
              <a:t/>
            </a:r>
            <a:endParaRPr sz="1850"/>
          </a:p>
        </p:txBody>
      </p:sp>
      <p:pic>
        <p:nvPicPr>
          <p:cNvPr id="232" name="Google Shape;232;p5"/>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33" name="Google Shape;23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34" name="Google Shape;23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bd16a3255e_0_46"/>
          <p:cNvSpPr txBox="1"/>
          <p:nvPr>
            <p:ph type="title"/>
          </p:nvPr>
        </p:nvSpPr>
        <p:spPr>
          <a:xfrm>
            <a:off x="741900" y="302125"/>
            <a:ext cx="10515600" cy="5136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25714"/>
              <a:buFont typeface="Calibri"/>
              <a:buNone/>
            </a:pPr>
            <a:r>
              <a:rPr b="1" lang="en-IN" sz="3500">
                <a:latin typeface="Arial"/>
                <a:ea typeface="Arial"/>
                <a:cs typeface="Arial"/>
                <a:sym typeface="Arial"/>
              </a:rPr>
              <a:t>Implementation </a:t>
            </a:r>
            <a:r>
              <a:rPr b="1" lang="en-IN" sz="3500">
                <a:latin typeface="Arial"/>
                <a:ea typeface="Arial"/>
                <a:cs typeface="Arial"/>
                <a:sym typeface="Arial"/>
              </a:rPr>
              <a:t>Architecture:</a:t>
            </a:r>
            <a:endParaRPr b="1" sz="3500">
              <a:latin typeface="Arial"/>
              <a:ea typeface="Arial"/>
              <a:cs typeface="Arial"/>
              <a:sym typeface="Arial"/>
            </a:endParaRPr>
          </a:p>
        </p:txBody>
      </p:sp>
      <p:sp>
        <p:nvSpPr>
          <p:cNvPr id="241" name="Google Shape;241;g3bd16a3255e_0_46"/>
          <p:cNvSpPr txBox="1"/>
          <p:nvPr>
            <p:ph idx="1" type="body"/>
          </p:nvPr>
        </p:nvSpPr>
        <p:spPr>
          <a:xfrm>
            <a:off x="838200" y="1825625"/>
            <a:ext cx="10515600" cy="41154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0" lvl="0" marL="228600" rtl="0" algn="l">
              <a:lnSpc>
                <a:spcPct val="90000"/>
              </a:lnSpc>
              <a:spcBef>
                <a:spcPts val="1000"/>
              </a:spcBef>
              <a:spcAft>
                <a:spcPts val="0"/>
              </a:spcAft>
              <a:buNone/>
            </a:pPr>
            <a:r>
              <a:t/>
            </a:r>
            <a:endParaRPr/>
          </a:p>
        </p:txBody>
      </p:sp>
      <p:pic>
        <p:nvPicPr>
          <p:cNvPr id="242" name="Google Shape;242;g3bd16a3255e_0_46"/>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43" name="Google Shape;243;g3bd16a3255e_0_4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44" name="Google Shape;244;g3bd16a3255e_0_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pic>
        <p:nvPicPr>
          <p:cNvPr id="245" name="Google Shape;245;g3bd16a3255e_0_46" title="btp arch diagram.jpeg"/>
          <p:cNvPicPr preferRelativeResize="0"/>
          <p:nvPr/>
        </p:nvPicPr>
        <p:blipFill>
          <a:blip r:embed="rId4">
            <a:alphaModFix/>
          </a:blip>
          <a:stretch>
            <a:fillRect/>
          </a:stretch>
        </p:blipFill>
        <p:spPr>
          <a:xfrm>
            <a:off x="463150" y="1143475"/>
            <a:ext cx="11535425" cy="48851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8aac116b48_0_132"/>
          <p:cNvSpPr txBox="1"/>
          <p:nvPr>
            <p:ph type="title"/>
          </p:nvPr>
        </p:nvSpPr>
        <p:spPr>
          <a:xfrm>
            <a:off x="838200" y="379175"/>
            <a:ext cx="10515600" cy="815700"/>
          </a:xfrm>
          <a:prstGeom prst="rect">
            <a:avLst/>
          </a:prstGeom>
        </p:spPr>
        <p:txBody>
          <a:bodyPr anchorCtr="0" anchor="ctr" bIns="45700" lIns="91425" spcFirstLastPara="1" rIns="91425" wrap="square" tIns="45700">
            <a:normAutofit/>
          </a:bodyPr>
          <a:lstStyle/>
          <a:p>
            <a:pPr indent="0" lvl="0" marL="0" rtl="0" algn="l">
              <a:lnSpc>
                <a:spcPct val="115000"/>
              </a:lnSpc>
              <a:spcBef>
                <a:spcPts val="1800"/>
              </a:spcBef>
              <a:spcAft>
                <a:spcPts val="400"/>
              </a:spcAft>
              <a:buClr>
                <a:schemeClr val="dk1"/>
              </a:buClr>
              <a:buSzPts val="1100"/>
              <a:buFont typeface="Arial"/>
              <a:buNone/>
            </a:pPr>
            <a:r>
              <a:rPr b="1" lang="en-IN" sz="3033">
                <a:latin typeface="Arial"/>
                <a:ea typeface="Arial"/>
                <a:cs typeface="Arial"/>
                <a:sym typeface="Arial"/>
              </a:rPr>
              <a:t>Overview: Approach to the Problem</a:t>
            </a:r>
            <a:endParaRPr/>
          </a:p>
        </p:txBody>
      </p:sp>
      <p:sp>
        <p:nvSpPr>
          <p:cNvPr id="252" name="Google Shape;252;g38aac116b48_0_132"/>
          <p:cNvSpPr txBox="1"/>
          <p:nvPr>
            <p:ph idx="1" type="body"/>
          </p:nvPr>
        </p:nvSpPr>
        <p:spPr>
          <a:xfrm>
            <a:off x="838200" y="1194875"/>
            <a:ext cx="10515600" cy="5234400"/>
          </a:xfrm>
          <a:prstGeom prst="rect">
            <a:avLst/>
          </a:prstGeom>
        </p:spPr>
        <p:txBody>
          <a:bodyPr anchorCtr="0" anchor="t" bIns="45700" lIns="91425" spcFirstLastPara="1" rIns="91425" wrap="square" tIns="45700">
            <a:noAutofit/>
          </a:bodyPr>
          <a:lstStyle/>
          <a:p>
            <a:pPr indent="0" lvl="0" marL="0" rtl="0" algn="l">
              <a:lnSpc>
                <a:spcPct val="95000"/>
              </a:lnSpc>
              <a:spcBef>
                <a:spcPts val="1400"/>
              </a:spcBef>
              <a:spcAft>
                <a:spcPts val="0"/>
              </a:spcAft>
              <a:buClr>
                <a:schemeClr val="dk1"/>
              </a:buClr>
              <a:buSzPts val="852"/>
              <a:buFont typeface="Arial"/>
              <a:buNone/>
            </a:pPr>
            <a:r>
              <a:rPr b="1" lang="en-IN" sz="1672">
                <a:latin typeface="Arial"/>
                <a:ea typeface="Arial"/>
                <a:cs typeface="Arial"/>
                <a:sym typeface="Arial"/>
              </a:rPr>
              <a:t> </a:t>
            </a:r>
            <a:r>
              <a:rPr b="1" lang="en-IN" sz="1750">
                <a:latin typeface="Arial"/>
                <a:ea typeface="Arial"/>
                <a:cs typeface="Arial"/>
                <a:sym typeface="Arial"/>
              </a:rPr>
              <a:t>Workflow</a:t>
            </a:r>
            <a:endParaRPr b="1" sz="1750">
              <a:latin typeface="Arial"/>
              <a:ea typeface="Arial"/>
              <a:cs typeface="Arial"/>
              <a:sym typeface="Arial"/>
            </a:endParaRPr>
          </a:p>
          <a:p>
            <a:pPr indent="-329882" lvl="0" marL="457200" rtl="0" algn="l">
              <a:lnSpc>
                <a:spcPct val="95000"/>
              </a:lnSpc>
              <a:spcBef>
                <a:spcPts val="1200"/>
              </a:spcBef>
              <a:spcAft>
                <a:spcPts val="0"/>
              </a:spcAft>
              <a:buSzPts val="1595"/>
              <a:buFont typeface="Arial"/>
              <a:buAutoNum type="arabicPeriod"/>
            </a:pPr>
            <a:r>
              <a:rPr b="1" lang="en-IN" sz="1595">
                <a:latin typeface="Arial"/>
                <a:ea typeface="Arial"/>
                <a:cs typeface="Arial"/>
                <a:sym typeface="Arial"/>
              </a:rPr>
              <a:t>Da</a:t>
            </a:r>
            <a:r>
              <a:rPr b="1" lang="en-IN" sz="1595">
                <a:latin typeface="Arial"/>
                <a:ea typeface="Arial"/>
                <a:cs typeface="Arial"/>
                <a:sym typeface="Arial"/>
              </a:rPr>
              <a:t>ta Acquisition</a:t>
            </a:r>
            <a:endParaRPr b="1" sz="1595">
              <a:latin typeface="Arial"/>
              <a:ea typeface="Arial"/>
              <a:cs typeface="Arial"/>
              <a:sym typeface="Arial"/>
            </a:endParaRPr>
          </a:p>
          <a:p>
            <a:pPr indent="0" lvl="0" marL="914400" rtl="0" algn="l">
              <a:lnSpc>
                <a:spcPct val="95000"/>
              </a:lnSpc>
              <a:spcBef>
                <a:spcPts val="1200"/>
              </a:spcBef>
              <a:spcAft>
                <a:spcPts val="0"/>
              </a:spcAft>
              <a:buSzPts val="852"/>
              <a:buNone/>
            </a:pPr>
            <a:r>
              <a:rPr lang="en-IN" sz="1595">
                <a:latin typeface="Arial"/>
                <a:ea typeface="Arial"/>
                <a:cs typeface="Arial"/>
                <a:sym typeface="Arial"/>
              </a:rPr>
              <a:t>EHR data is transported and pre-processed</a:t>
            </a:r>
            <a:endParaRPr sz="1595">
              <a:latin typeface="Arial"/>
              <a:ea typeface="Arial"/>
              <a:cs typeface="Arial"/>
              <a:sym typeface="Arial"/>
            </a:endParaRPr>
          </a:p>
          <a:p>
            <a:pPr indent="-329882" lvl="0" marL="457200" rtl="0" algn="l">
              <a:lnSpc>
                <a:spcPct val="95000"/>
              </a:lnSpc>
              <a:spcBef>
                <a:spcPts val="1200"/>
              </a:spcBef>
              <a:spcAft>
                <a:spcPts val="0"/>
              </a:spcAft>
              <a:buSzPts val="1595"/>
              <a:buFont typeface="Arial"/>
              <a:buAutoNum type="arabicPeriod"/>
            </a:pPr>
            <a:r>
              <a:rPr b="1" lang="en-IN" sz="1595">
                <a:latin typeface="Arial"/>
                <a:ea typeface="Arial"/>
                <a:cs typeface="Arial"/>
                <a:sym typeface="Arial"/>
              </a:rPr>
              <a:t>Local Training (Edge)</a:t>
            </a:r>
            <a:endParaRPr b="1" sz="1595">
              <a:latin typeface="Arial"/>
              <a:ea typeface="Arial"/>
              <a:cs typeface="Arial"/>
              <a:sym typeface="Arial"/>
            </a:endParaRPr>
          </a:p>
          <a:p>
            <a:pPr indent="0" lvl="0" marL="0" rtl="0" algn="l">
              <a:lnSpc>
                <a:spcPct val="95000"/>
              </a:lnSpc>
              <a:spcBef>
                <a:spcPts val="1200"/>
              </a:spcBef>
              <a:spcAft>
                <a:spcPts val="0"/>
              </a:spcAft>
              <a:buClr>
                <a:schemeClr val="dk1"/>
              </a:buClr>
              <a:buSzPts val="852"/>
              <a:buFont typeface="Arial"/>
              <a:buNone/>
            </a:pPr>
            <a:r>
              <a:rPr lang="en-IN" sz="1595">
                <a:latin typeface="Arial"/>
                <a:ea typeface="Arial"/>
                <a:cs typeface="Arial"/>
                <a:sym typeface="Arial"/>
              </a:rPr>
              <a:t>              Labeled local data is used to train a </a:t>
            </a:r>
            <a:r>
              <a:rPr b="1" lang="en-IN" sz="1595">
                <a:latin typeface="Arial"/>
                <a:ea typeface="Arial"/>
                <a:cs typeface="Arial"/>
                <a:sym typeface="Arial"/>
              </a:rPr>
              <a:t>Child Model</a:t>
            </a:r>
            <a:r>
              <a:rPr lang="en-IN" sz="1595">
                <a:latin typeface="Arial"/>
                <a:ea typeface="Arial"/>
                <a:cs typeface="Arial"/>
                <a:sym typeface="Arial"/>
              </a:rPr>
              <a:t>.</a:t>
            </a:r>
            <a:br>
              <a:rPr lang="en-IN" sz="1595">
                <a:latin typeface="Arial"/>
                <a:ea typeface="Arial"/>
                <a:cs typeface="Arial"/>
                <a:sym typeface="Arial"/>
              </a:rPr>
            </a:br>
            <a:r>
              <a:rPr lang="en-IN" sz="1595">
                <a:latin typeface="Arial"/>
                <a:ea typeface="Arial"/>
                <a:cs typeface="Arial"/>
                <a:sym typeface="Arial"/>
              </a:rPr>
              <a:t>              Inference errors are used to detect and correct mislabelled data.</a:t>
            </a:r>
            <a:endParaRPr sz="1595">
              <a:latin typeface="Arial"/>
              <a:ea typeface="Arial"/>
              <a:cs typeface="Arial"/>
              <a:sym typeface="Arial"/>
            </a:endParaRPr>
          </a:p>
          <a:p>
            <a:pPr indent="-329882" lvl="0" marL="457200" rtl="0" algn="l">
              <a:lnSpc>
                <a:spcPct val="95000"/>
              </a:lnSpc>
              <a:spcBef>
                <a:spcPts val="1200"/>
              </a:spcBef>
              <a:spcAft>
                <a:spcPts val="0"/>
              </a:spcAft>
              <a:buSzPts val="1595"/>
              <a:buAutoNum type="arabicPeriod"/>
            </a:pPr>
            <a:r>
              <a:rPr b="1" lang="en-IN" sz="1595">
                <a:latin typeface="Arial"/>
                <a:ea typeface="Arial"/>
                <a:cs typeface="Arial"/>
                <a:sym typeface="Arial"/>
              </a:rPr>
              <a:t>Model Comparison &amp; Deployment</a:t>
            </a:r>
            <a:br>
              <a:rPr b="1" lang="en-IN" sz="1595">
                <a:latin typeface="Arial"/>
                <a:ea typeface="Arial"/>
                <a:cs typeface="Arial"/>
                <a:sym typeface="Arial"/>
              </a:rPr>
            </a:br>
            <a:r>
              <a:rPr b="1" lang="en-IN" sz="1595">
                <a:latin typeface="Arial"/>
                <a:ea typeface="Arial"/>
                <a:cs typeface="Arial"/>
                <a:sym typeface="Arial"/>
              </a:rPr>
              <a:t>     </a:t>
            </a:r>
            <a:r>
              <a:rPr lang="en-IN" sz="1595">
                <a:latin typeface="Arial"/>
                <a:ea typeface="Arial"/>
                <a:cs typeface="Arial"/>
                <a:sym typeface="Arial"/>
              </a:rPr>
              <a:t>Child Model is compared with the </a:t>
            </a:r>
            <a:r>
              <a:rPr b="1" lang="en-IN" sz="1595">
                <a:latin typeface="Arial"/>
                <a:ea typeface="Arial"/>
                <a:cs typeface="Arial"/>
                <a:sym typeface="Arial"/>
              </a:rPr>
              <a:t>Global Model</a:t>
            </a:r>
            <a:r>
              <a:rPr lang="en-IN" sz="1595">
                <a:latin typeface="Arial"/>
                <a:ea typeface="Arial"/>
                <a:cs typeface="Arial"/>
                <a:sym typeface="Arial"/>
              </a:rPr>
              <a:t>:</a:t>
            </a:r>
            <a:br>
              <a:rPr lang="en-IN" sz="1595">
                <a:latin typeface="Arial"/>
                <a:ea typeface="Arial"/>
                <a:cs typeface="Arial"/>
                <a:sym typeface="Arial"/>
              </a:rPr>
            </a:br>
            <a:r>
              <a:rPr lang="en-IN" sz="1595">
                <a:latin typeface="Arial"/>
                <a:ea typeface="Arial"/>
                <a:cs typeface="Arial"/>
                <a:sym typeface="Arial"/>
              </a:rPr>
              <a:t>           If better → Deployed</a:t>
            </a:r>
            <a:br>
              <a:rPr lang="en-IN" sz="1595">
                <a:latin typeface="Arial"/>
                <a:ea typeface="Arial"/>
                <a:cs typeface="Arial"/>
                <a:sym typeface="Arial"/>
              </a:rPr>
            </a:br>
            <a:r>
              <a:rPr lang="en-IN" sz="1595">
                <a:latin typeface="Arial"/>
                <a:ea typeface="Arial"/>
                <a:cs typeface="Arial"/>
                <a:sym typeface="Arial"/>
              </a:rPr>
              <a:t>           If not → Global Model is used</a:t>
            </a:r>
            <a:endParaRPr sz="1595">
              <a:latin typeface="Arial"/>
              <a:ea typeface="Arial"/>
              <a:cs typeface="Arial"/>
              <a:sym typeface="Arial"/>
            </a:endParaRPr>
          </a:p>
          <a:p>
            <a:pPr indent="-329882" lvl="0" marL="457200" rtl="0" algn="l">
              <a:lnSpc>
                <a:spcPct val="95000"/>
              </a:lnSpc>
              <a:spcBef>
                <a:spcPts val="0"/>
              </a:spcBef>
              <a:spcAft>
                <a:spcPts val="0"/>
              </a:spcAft>
              <a:buSzPts val="1595"/>
              <a:buAutoNum type="arabicPeriod"/>
            </a:pPr>
            <a:r>
              <a:rPr b="1" lang="en-IN" sz="1595">
                <a:latin typeface="Arial"/>
                <a:ea typeface="Arial"/>
                <a:cs typeface="Arial"/>
                <a:sym typeface="Arial"/>
              </a:rPr>
              <a:t>Federated Learning Cycle</a:t>
            </a:r>
            <a:br>
              <a:rPr b="1" lang="en-IN" sz="1595">
                <a:latin typeface="Arial"/>
                <a:ea typeface="Arial"/>
                <a:cs typeface="Arial"/>
                <a:sym typeface="Arial"/>
              </a:rPr>
            </a:br>
            <a:r>
              <a:rPr b="1" lang="en-IN" sz="1595">
                <a:latin typeface="Arial"/>
                <a:ea typeface="Arial"/>
                <a:cs typeface="Arial"/>
                <a:sym typeface="Arial"/>
              </a:rPr>
              <a:t>        </a:t>
            </a:r>
            <a:r>
              <a:rPr lang="en-IN" sz="1595">
                <a:latin typeface="Arial"/>
                <a:ea typeface="Arial"/>
                <a:cs typeface="Arial"/>
                <a:sym typeface="Arial"/>
              </a:rPr>
              <a:t>Weights from local models are shared.</a:t>
            </a:r>
            <a:br>
              <a:rPr lang="en-IN" sz="1595">
                <a:latin typeface="Arial"/>
                <a:ea typeface="Arial"/>
                <a:cs typeface="Arial"/>
                <a:sym typeface="Arial"/>
              </a:rPr>
            </a:br>
            <a:r>
              <a:rPr lang="en-IN" sz="1595">
                <a:latin typeface="Arial"/>
                <a:ea typeface="Arial"/>
                <a:cs typeface="Arial"/>
                <a:sym typeface="Arial"/>
              </a:rPr>
              <a:t>        A </a:t>
            </a:r>
            <a:r>
              <a:rPr b="1" lang="en-IN" sz="1595">
                <a:latin typeface="Arial"/>
                <a:ea typeface="Arial"/>
                <a:cs typeface="Arial"/>
                <a:sym typeface="Arial"/>
              </a:rPr>
              <a:t>Global Model</a:t>
            </a:r>
            <a:r>
              <a:rPr lang="en-IN" sz="1595">
                <a:latin typeface="Arial"/>
                <a:ea typeface="Arial"/>
                <a:cs typeface="Arial"/>
                <a:sym typeface="Arial"/>
              </a:rPr>
              <a:t> is updated and redistributed.</a:t>
            </a:r>
            <a:br>
              <a:rPr lang="en-IN" sz="1595">
                <a:latin typeface="Arial"/>
                <a:ea typeface="Arial"/>
                <a:cs typeface="Arial"/>
                <a:sym typeface="Arial"/>
              </a:rPr>
            </a:br>
            <a:r>
              <a:rPr lang="en-IN" sz="1595">
                <a:latin typeface="Arial"/>
                <a:ea typeface="Arial"/>
                <a:cs typeface="Arial"/>
                <a:sym typeface="Arial"/>
              </a:rPr>
              <a:t>       </a:t>
            </a:r>
            <a:r>
              <a:rPr b="1" lang="en-IN" sz="1595">
                <a:latin typeface="Arial"/>
                <a:ea typeface="Arial"/>
                <a:cs typeface="Arial"/>
                <a:sym typeface="Arial"/>
              </a:rPr>
              <a:t>Transfer Learning</a:t>
            </a:r>
            <a:r>
              <a:rPr lang="en-IN" sz="1595">
                <a:latin typeface="Arial"/>
                <a:ea typeface="Arial"/>
                <a:cs typeface="Arial"/>
                <a:sym typeface="Arial"/>
              </a:rPr>
              <a:t> helps improve local models.</a:t>
            </a:r>
            <a:endParaRPr sz="1595">
              <a:latin typeface="Arial"/>
              <a:ea typeface="Arial"/>
              <a:cs typeface="Arial"/>
              <a:sym typeface="Arial"/>
            </a:endParaRPr>
          </a:p>
          <a:p>
            <a:pPr indent="0" lvl="0" marL="0" rtl="0" algn="l">
              <a:lnSpc>
                <a:spcPct val="95000"/>
              </a:lnSpc>
              <a:spcBef>
                <a:spcPts val="0"/>
              </a:spcBef>
              <a:spcAft>
                <a:spcPts val="0"/>
              </a:spcAft>
              <a:buClr>
                <a:schemeClr val="dk1"/>
              </a:buClr>
              <a:buSzPts val="852"/>
              <a:buFont typeface="Arial"/>
              <a:buNone/>
            </a:pPr>
            <a:r>
              <a:t/>
            </a:r>
            <a:endParaRPr sz="1595">
              <a:latin typeface="Arial"/>
              <a:ea typeface="Arial"/>
              <a:cs typeface="Arial"/>
              <a:sym typeface="Arial"/>
            </a:endParaRPr>
          </a:p>
          <a:p>
            <a:pPr indent="-329882" lvl="0" marL="457200" rtl="0" algn="l">
              <a:lnSpc>
                <a:spcPct val="95000"/>
              </a:lnSpc>
              <a:spcBef>
                <a:spcPts val="0"/>
              </a:spcBef>
              <a:spcAft>
                <a:spcPts val="0"/>
              </a:spcAft>
              <a:buSzPts val="1595"/>
              <a:buAutoNum type="arabicPeriod"/>
            </a:pPr>
            <a:r>
              <a:rPr b="1" lang="en-IN" sz="1595">
                <a:latin typeface="Arial"/>
                <a:ea typeface="Arial"/>
                <a:cs typeface="Arial"/>
                <a:sym typeface="Arial"/>
              </a:rPr>
              <a:t>Continuous Feedback Loop</a:t>
            </a:r>
            <a:br>
              <a:rPr b="1" lang="en-IN" sz="1595">
                <a:latin typeface="Arial"/>
                <a:ea typeface="Arial"/>
                <a:cs typeface="Arial"/>
                <a:sym typeface="Arial"/>
              </a:rPr>
            </a:br>
            <a:r>
              <a:rPr b="1" lang="en-IN" sz="1595">
                <a:latin typeface="Arial"/>
                <a:ea typeface="Arial"/>
                <a:cs typeface="Arial"/>
                <a:sym typeface="Arial"/>
              </a:rPr>
              <a:t>        </a:t>
            </a:r>
            <a:r>
              <a:rPr lang="en-IN" sz="1595">
                <a:latin typeface="Arial"/>
                <a:ea typeface="Arial"/>
                <a:cs typeface="Arial"/>
                <a:sym typeface="Arial"/>
              </a:rPr>
              <a:t>Inferred results and mislabeled data are reused.</a:t>
            </a:r>
            <a:br>
              <a:rPr lang="en-IN" sz="1595">
                <a:latin typeface="Arial"/>
                <a:ea typeface="Arial"/>
                <a:cs typeface="Arial"/>
                <a:sym typeface="Arial"/>
              </a:rPr>
            </a:br>
            <a:r>
              <a:rPr lang="en-IN" sz="1595">
                <a:latin typeface="Arial"/>
                <a:ea typeface="Arial"/>
                <a:cs typeface="Arial"/>
                <a:sym typeface="Arial"/>
              </a:rPr>
              <a:t>        Shadow models support tuning and experimentation.</a:t>
            </a:r>
            <a:endParaRPr sz="1595">
              <a:latin typeface="Arial"/>
              <a:ea typeface="Arial"/>
              <a:cs typeface="Arial"/>
              <a:sym typeface="Arial"/>
            </a:endParaRPr>
          </a:p>
        </p:txBody>
      </p:sp>
      <p:pic>
        <p:nvPicPr>
          <p:cNvPr id="253" name="Google Shape;253;g38aac116b48_0_132"/>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54" name="Google Shape;254;g38aac116b48_0_132"/>
          <p:cNvSpPr txBox="1"/>
          <p:nvPr>
            <p:ph idx="11" type="ftr"/>
          </p:nvPr>
        </p:nvSpPr>
        <p:spPr>
          <a:xfrm>
            <a:off x="4038600" y="649290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55" name="Google Shape;255;g38aac116b48_0_1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a3072fe6a8_1_30"/>
          <p:cNvSpPr txBox="1"/>
          <p:nvPr>
            <p:ph type="title"/>
          </p:nvPr>
        </p:nvSpPr>
        <p:spPr>
          <a:xfrm>
            <a:off x="838200" y="589125"/>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a:t>Datasets</a:t>
            </a:r>
            <a:endParaRPr b="1" sz="4000">
              <a:latin typeface="Arial"/>
              <a:ea typeface="Arial"/>
              <a:cs typeface="Arial"/>
              <a:sym typeface="Arial"/>
            </a:endParaRPr>
          </a:p>
        </p:txBody>
      </p:sp>
      <p:sp>
        <p:nvSpPr>
          <p:cNvPr id="262" name="Google Shape;262;g3a3072fe6a8_1_30"/>
          <p:cNvSpPr txBox="1"/>
          <p:nvPr>
            <p:ph idx="1" type="body"/>
          </p:nvPr>
        </p:nvSpPr>
        <p:spPr>
          <a:xfrm>
            <a:off x="838200" y="1839300"/>
            <a:ext cx="10515600" cy="434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200"/>
              </a:spcBef>
              <a:spcAft>
                <a:spcPts val="0"/>
              </a:spcAft>
              <a:buClr>
                <a:schemeClr val="dk1"/>
              </a:buClr>
              <a:buSzPts val="1100"/>
              <a:buFont typeface="Arial"/>
              <a:buNone/>
            </a:pPr>
            <a:r>
              <a:rPr b="1" lang="en-IN" sz="2117">
                <a:latin typeface="Arial"/>
                <a:ea typeface="Arial"/>
                <a:cs typeface="Arial"/>
                <a:sym typeface="Arial"/>
              </a:rPr>
              <a:t>NIH Chest X-ray14</a:t>
            </a:r>
            <a:r>
              <a:rPr lang="en-IN" sz="2117">
                <a:latin typeface="Arial"/>
                <a:ea typeface="Arial"/>
                <a:cs typeface="Arial"/>
                <a:sym typeface="Arial"/>
              </a:rPr>
              <a:t> → chest X-rays for pneumonia, lung disease.</a:t>
            </a:r>
            <a:endParaRPr sz="2117">
              <a:latin typeface="Arial"/>
              <a:ea typeface="Arial"/>
              <a:cs typeface="Arial"/>
              <a:sym typeface="Arial"/>
            </a:endParaRPr>
          </a:p>
          <a:p>
            <a:pPr indent="0" lvl="0" marL="457200" rtl="0" algn="l">
              <a:lnSpc>
                <a:spcPct val="95000"/>
              </a:lnSpc>
              <a:spcBef>
                <a:spcPts val="1200"/>
              </a:spcBef>
              <a:spcAft>
                <a:spcPts val="0"/>
              </a:spcAft>
              <a:buClr>
                <a:schemeClr val="dk1"/>
              </a:buClr>
              <a:buSzPts val="1100"/>
              <a:buFont typeface="Arial"/>
              <a:buNone/>
            </a:pPr>
            <a:r>
              <a:rPr lang="en-IN" sz="2117" u="sng">
                <a:solidFill>
                  <a:schemeClr val="hlink"/>
                </a:solidFill>
                <a:latin typeface="Arial"/>
                <a:ea typeface="Arial"/>
                <a:cs typeface="Arial"/>
                <a:sym typeface="Arial"/>
                <a:hlinkClick r:id="rId3"/>
              </a:rPr>
              <a:t>https://www.kaggle.com/datasets/nih-chest-xrays/data</a:t>
            </a:r>
            <a:endParaRPr sz="2117">
              <a:latin typeface="Arial"/>
              <a:ea typeface="Arial"/>
              <a:cs typeface="Arial"/>
              <a:sym typeface="Arial"/>
            </a:endParaRPr>
          </a:p>
          <a:p>
            <a:pPr indent="0" lvl="0" marL="457200" rtl="0" algn="l">
              <a:lnSpc>
                <a:spcPct val="95000"/>
              </a:lnSpc>
              <a:spcBef>
                <a:spcPts val="1200"/>
              </a:spcBef>
              <a:spcAft>
                <a:spcPts val="0"/>
              </a:spcAft>
              <a:buClr>
                <a:schemeClr val="dk1"/>
              </a:buClr>
              <a:buSzPts val="1100"/>
              <a:buFont typeface="Arial"/>
              <a:buNone/>
            </a:pPr>
            <a:r>
              <a:rPr lang="en-IN" sz="2117" u="sng">
                <a:solidFill>
                  <a:schemeClr val="hlink"/>
                </a:solidFill>
                <a:latin typeface="Arial"/>
                <a:ea typeface="Arial"/>
                <a:cs typeface="Arial"/>
                <a:sym typeface="Arial"/>
                <a:hlinkClick r:id="rId4"/>
              </a:rPr>
              <a:t>https://www.kaggle.com/datasets/khanfashee/nih-chest-x-ray-14-224x224-resized</a:t>
            </a:r>
            <a:endParaRPr sz="2117">
              <a:latin typeface="Arial"/>
              <a:ea typeface="Arial"/>
              <a:cs typeface="Arial"/>
              <a:sym typeface="Arial"/>
            </a:endParaRPr>
          </a:p>
          <a:p>
            <a:pPr indent="0" lvl="0" marL="0" rtl="0" algn="l">
              <a:lnSpc>
                <a:spcPct val="95000"/>
              </a:lnSpc>
              <a:spcBef>
                <a:spcPts val="1200"/>
              </a:spcBef>
              <a:spcAft>
                <a:spcPts val="0"/>
              </a:spcAft>
              <a:buClr>
                <a:schemeClr val="dk1"/>
              </a:buClr>
              <a:buSzPts val="1100"/>
              <a:buFont typeface="Arial"/>
              <a:buNone/>
            </a:pPr>
            <a:r>
              <a:t/>
            </a:r>
            <a:endParaRPr sz="2117">
              <a:latin typeface="Arial"/>
              <a:ea typeface="Arial"/>
              <a:cs typeface="Arial"/>
              <a:sym typeface="Arial"/>
            </a:endParaRPr>
          </a:p>
          <a:p>
            <a:pPr indent="0" lvl="0" marL="0" rtl="0" algn="l">
              <a:lnSpc>
                <a:spcPct val="95000"/>
              </a:lnSpc>
              <a:spcBef>
                <a:spcPts val="1200"/>
              </a:spcBef>
              <a:spcAft>
                <a:spcPts val="0"/>
              </a:spcAft>
              <a:buClr>
                <a:schemeClr val="dk1"/>
              </a:buClr>
              <a:buSzPts val="1100"/>
              <a:buFont typeface="Arial"/>
              <a:buNone/>
            </a:pPr>
            <a:r>
              <a:rPr b="1" lang="en-IN" sz="2217">
                <a:latin typeface="Arial"/>
                <a:ea typeface="Arial"/>
                <a:cs typeface="Arial"/>
                <a:sym typeface="Arial"/>
              </a:rPr>
              <a:t>PhysioNet Databases</a:t>
            </a:r>
            <a:r>
              <a:rPr lang="en-IN" sz="2217">
                <a:latin typeface="Arial"/>
                <a:ea typeface="Arial"/>
                <a:cs typeface="Arial"/>
                <a:sym typeface="Arial"/>
              </a:rPr>
              <a:t> → physiological signals like ECG, EEG, vital signs.</a:t>
            </a:r>
            <a:endParaRPr sz="2217">
              <a:latin typeface="Arial"/>
              <a:ea typeface="Arial"/>
              <a:cs typeface="Arial"/>
              <a:sym typeface="Arial"/>
            </a:endParaRPr>
          </a:p>
          <a:p>
            <a:pPr indent="0" lvl="0" marL="457200" rtl="0" algn="l">
              <a:lnSpc>
                <a:spcPct val="95000"/>
              </a:lnSpc>
              <a:spcBef>
                <a:spcPts val="1200"/>
              </a:spcBef>
              <a:spcAft>
                <a:spcPts val="0"/>
              </a:spcAft>
              <a:buClr>
                <a:schemeClr val="dk1"/>
              </a:buClr>
              <a:buSzPts val="1100"/>
              <a:buFont typeface="Arial"/>
              <a:buNone/>
            </a:pPr>
            <a:r>
              <a:rPr lang="en-IN" sz="2217" u="sng">
                <a:solidFill>
                  <a:schemeClr val="hlink"/>
                </a:solidFill>
                <a:latin typeface="Arial"/>
                <a:ea typeface="Arial"/>
                <a:cs typeface="Arial"/>
                <a:sym typeface="Arial"/>
                <a:hlinkClick r:id="rId5"/>
              </a:rPr>
              <a:t>https://physionet.org/about/database/</a:t>
            </a:r>
            <a:endParaRPr b="1" sz="2217">
              <a:latin typeface="Arial"/>
              <a:ea typeface="Arial"/>
              <a:cs typeface="Arial"/>
              <a:sym typeface="Arial"/>
            </a:endParaRPr>
          </a:p>
          <a:p>
            <a:pPr indent="0" lvl="0" marL="0" rtl="0" algn="l">
              <a:lnSpc>
                <a:spcPct val="135714"/>
              </a:lnSpc>
              <a:spcBef>
                <a:spcPts val="1200"/>
              </a:spcBef>
              <a:spcAft>
                <a:spcPts val="0"/>
              </a:spcAft>
              <a:buClr>
                <a:schemeClr val="dk1"/>
              </a:buClr>
              <a:buSzPts val="1100"/>
              <a:buFont typeface="Arial"/>
              <a:buNone/>
            </a:pPr>
            <a:r>
              <a:t/>
            </a:r>
            <a:endParaRPr b="1" sz="2217">
              <a:latin typeface="Arial"/>
              <a:ea typeface="Arial"/>
              <a:cs typeface="Arial"/>
              <a:sym typeface="Arial"/>
            </a:endParaRPr>
          </a:p>
          <a:p>
            <a:pPr indent="0" lvl="0" marL="0" rtl="0" algn="l">
              <a:lnSpc>
                <a:spcPct val="135714"/>
              </a:lnSpc>
              <a:spcBef>
                <a:spcPts val="0"/>
              </a:spcBef>
              <a:spcAft>
                <a:spcPts val="0"/>
              </a:spcAft>
              <a:buClr>
                <a:schemeClr val="dk1"/>
              </a:buClr>
              <a:buSzPts val="1100"/>
              <a:buFont typeface="Arial"/>
              <a:buNone/>
            </a:pPr>
            <a:r>
              <a:rPr b="1" lang="en-IN" sz="2150">
                <a:highlight>
                  <a:schemeClr val="lt1"/>
                </a:highlight>
                <a:latin typeface="Arial"/>
                <a:ea typeface="Arial"/>
                <a:cs typeface="Arial"/>
                <a:sym typeface="Arial"/>
              </a:rPr>
              <a:t>Synthetic Patient HealthCare Monitoring Dataset (new)</a:t>
            </a:r>
            <a:endParaRPr b="1" sz="2150">
              <a:highlight>
                <a:schemeClr val="lt1"/>
              </a:highlight>
              <a:latin typeface="Arial"/>
              <a:ea typeface="Arial"/>
              <a:cs typeface="Arial"/>
              <a:sym typeface="Arial"/>
            </a:endParaRPr>
          </a:p>
          <a:p>
            <a:pPr indent="0" lvl="0" marL="0" rtl="0" algn="l">
              <a:lnSpc>
                <a:spcPct val="95000"/>
              </a:lnSpc>
              <a:spcBef>
                <a:spcPts val="1200"/>
              </a:spcBef>
              <a:spcAft>
                <a:spcPts val="0"/>
              </a:spcAft>
              <a:buClr>
                <a:schemeClr val="dk1"/>
              </a:buClr>
              <a:buSzPts val="1100"/>
              <a:buFont typeface="Arial"/>
              <a:buNone/>
            </a:pPr>
            <a:r>
              <a:t/>
            </a:r>
            <a:endParaRPr b="1" sz="2217">
              <a:latin typeface="Arial"/>
              <a:ea typeface="Arial"/>
              <a:cs typeface="Arial"/>
              <a:sym typeface="Arial"/>
            </a:endParaRPr>
          </a:p>
          <a:p>
            <a:pPr indent="0" lvl="0" marL="457200" rtl="0" algn="l">
              <a:lnSpc>
                <a:spcPct val="95000"/>
              </a:lnSpc>
              <a:spcBef>
                <a:spcPts val="1200"/>
              </a:spcBef>
              <a:spcAft>
                <a:spcPts val="0"/>
              </a:spcAft>
              <a:buClr>
                <a:schemeClr val="dk1"/>
              </a:buClr>
              <a:buSzPts val="1100"/>
              <a:buFont typeface="Arial"/>
              <a:buNone/>
            </a:pPr>
            <a:r>
              <a:t/>
            </a:r>
            <a:endParaRPr sz="1717">
              <a:latin typeface="Arial"/>
              <a:ea typeface="Arial"/>
              <a:cs typeface="Arial"/>
              <a:sym typeface="Arial"/>
            </a:endParaRPr>
          </a:p>
          <a:p>
            <a:pPr indent="0" lvl="0" marL="457200" rtl="0" algn="l">
              <a:lnSpc>
                <a:spcPct val="95000"/>
              </a:lnSpc>
              <a:spcBef>
                <a:spcPts val="1200"/>
              </a:spcBef>
              <a:spcAft>
                <a:spcPts val="0"/>
              </a:spcAft>
              <a:buClr>
                <a:schemeClr val="dk1"/>
              </a:buClr>
              <a:buSzPts val="1100"/>
              <a:buFont typeface="Arial"/>
              <a:buNone/>
            </a:pPr>
            <a:br>
              <a:rPr lang="en-IN" sz="1717">
                <a:latin typeface="Arial"/>
                <a:ea typeface="Arial"/>
                <a:cs typeface="Arial"/>
                <a:sym typeface="Arial"/>
              </a:rPr>
            </a:br>
            <a:endParaRPr/>
          </a:p>
          <a:p>
            <a:pPr indent="0" lvl="0" marL="0" rtl="0" algn="l">
              <a:lnSpc>
                <a:spcPct val="90000"/>
              </a:lnSpc>
              <a:spcBef>
                <a:spcPts val="1200"/>
              </a:spcBef>
              <a:spcAft>
                <a:spcPts val="0"/>
              </a:spcAft>
              <a:buNone/>
            </a:pPr>
            <a:r>
              <a:t/>
            </a:r>
            <a:endParaRPr sz="1850">
              <a:latin typeface="Arial"/>
              <a:ea typeface="Arial"/>
              <a:cs typeface="Arial"/>
              <a:sym typeface="Arial"/>
            </a:endParaRPr>
          </a:p>
        </p:txBody>
      </p:sp>
      <p:pic>
        <p:nvPicPr>
          <p:cNvPr id="263" name="Google Shape;263;g3a3072fe6a8_1_30"/>
          <p:cNvPicPr preferRelativeResize="0"/>
          <p:nvPr/>
        </p:nvPicPr>
        <p:blipFill rotWithShape="1">
          <a:blip r:embed="rId6">
            <a:alphaModFix/>
          </a:blip>
          <a:srcRect b="0" l="0" r="0" t="0"/>
          <a:stretch/>
        </p:blipFill>
        <p:spPr>
          <a:xfrm>
            <a:off x="9602421" y="0"/>
            <a:ext cx="1751379" cy="815788"/>
          </a:xfrm>
          <a:prstGeom prst="rect">
            <a:avLst/>
          </a:prstGeom>
          <a:noFill/>
          <a:ln>
            <a:noFill/>
          </a:ln>
        </p:spPr>
      </p:pic>
      <p:sp>
        <p:nvSpPr>
          <p:cNvPr id="264" name="Google Shape;264;g3a3072fe6a8_1_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65" name="Google Shape;265;g3a3072fe6a8_1_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bd3844482c_1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1800"/>
              </a:spcBef>
              <a:spcAft>
                <a:spcPts val="400"/>
              </a:spcAft>
              <a:buClr>
                <a:schemeClr val="dk1"/>
              </a:buClr>
              <a:buSzPts val="1100"/>
              <a:buFont typeface="Arial"/>
              <a:buNone/>
            </a:pPr>
            <a:r>
              <a:rPr b="1" lang="en-IN" sz="3300">
                <a:latin typeface="Arial"/>
                <a:ea typeface="Arial"/>
                <a:cs typeface="Arial"/>
                <a:sym typeface="Arial"/>
              </a:rPr>
              <a:t>Previous Work Summary (FedAvg Baseline)</a:t>
            </a:r>
            <a:endParaRPr b="1" sz="6500">
              <a:latin typeface="Arial"/>
              <a:ea typeface="Arial"/>
              <a:cs typeface="Arial"/>
              <a:sym typeface="Arial"/>
            </a:endParaRPr>
          </a:p>
        </p:txBody>
      </p:sp>
      <p:pic>
        <p:nvPicPr>
          <p:cNvPr id="272" name="Google Shape;272;g3bd3844482c_1_0"/>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73" name="Google Shape;273;g3bd3844482c_1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74" name="Google Shape;274;g3bd3844482c_1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275" name="Google Shape;275;g3bd3844482c_1_0"/>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b="1" lang="en-IN" sz="1900">
                <a:latin typeface="Arial"/>
                <a:ea typeface="Arial"/>
                <a:cs typeface="Arial"/>
                <a:sym typeface="Arial"/>
              </a:rPr>
              <a:t>NIH Chest X-ray14 (Image-based FL):</a:t>
            </a:r>
            <a:endParaRPr b="1" sz="1900">
              <a:latin typeface="Arial"/>
              <a:ea typeface="Arial"/>
              <a:cs typeface="Arial"/>
              <a:sym typeface="Arial"/>
            </a:endParaRPr>
          </a:p>
          <a:p>
            <a:pPr indent="-330200" lvl="1" marL="914400" rtl="0" algn="l">
              <a:lnSpc>
                <a:spcPct val="115000"/>
              </a:lnSpc>
              <a:spcBef>
                <a:spcPts val="900"/>
              </a:spcBef>
              <a:spcAft>
                <a:spcPts val="0"/>
              </a:spcAft>
              <a:buSzPts val="1600"/>
              <a:buFont typeface="Arial"/>
              <a:buChar char="●"/>
            </a:pPr>
            <a:r>
              <a:rPr lang="en-IN" sz="1900">
                <a:latin typeface="Arial"/>
                <a:ea typeface="Arial"/>
                <a:cs typeface="Arial"/>
                <a:sym typeface="Arial"/>
              </a:rPr>
              <a:t>112,120 chest X-rays, 14 disease labels, 3 simulated hospitals (non-IID).</a:t>
            </a:r>
            <a:endParaRPr sz="1900">
              <a:latin typeface="Arial"/>
              <a:ea typeface="Arial"/>
              <a:cs typeface="Arial"/>
              <a:sym typeface="Arial"/>
            </a:endParaRPr>
          </a:p>
          <a:p>
            <a:pPr indent="-330200" lvl="1" marL="914400" rtl="0" algn="l">
              <a:lnSpc>
                <a:spcPct val="115000"/>
              </a:lnSpc>
              <a:spcBef>
                <a:spcPts val="0"/>
              </a:spcBef>
              <a:spcAft>
                <a:spcPts val="0"/>
              </a:spcAft>
              <a:buSzPts val="1600"/>
              <a:buFont typeface="Arial"/>
              <a:buChar char="●"/>
            </a:pPr>
            <a:r>
              <a:rPr lang="en-IN" sz="1900">
                <a:latin typeface="Arial"/>
                <a:ea typeface="Arial"/>
                <a:cs typeface="Arial"/>
                <a:sym typeface="Arial"/>
              </a:rPr>
              <a:t>FedAvg with CNN-LSTM; 5 rounds; achieved ≈92.6% accuracy.</a:t>
            </a:r>
            <a:endParaRPr sz="1900">
              <a:latin typeface="Arial"/>
              <a:ea typeface="Arial"/>
              <a:cs typeface="Arial"/>
              <a:sym typeface="Arial"/>
            </a:endParaRPr>
          </a:p>
          <a:p>
            <a:pPr indent="0" lvl="0" marL="0" rtl="0" algn="l">
              <a:lnSpc>
                <a:spcPct val="115000"/>
              </a:lnSpc>
              <a:spcBef>
                <a:spcPts val="900"/>
              </a:spcBef>
              <a:spcAft>
                <a:spcPts val="0"/>
              </a:spcAft>
              <a:buNone/>
            </a:pPr>
            <a:r>
              <a:rPr b="1" lang="en-IN" sz="1900">
                <a:latin typeface="Arial"/>
                <a:ea typeface="Arial"/>
                <a:cs typeface="Arial"/>
                <a:sym typeface="Arial"/>
              </a:rPr>
              <a:t>MIT-BIH Arrhythmia (ECG FL):</a:t>
            </a:r>
            <a:endParaRPr b="1" sz="1900">
              <a:latin typeface="Arial"/>
              <a:ea typeface="Arial"/>
              <a:cs typeface="Arial"/>
              <a:sym typeface="Arial"/>
            </a:endParaRPr>
          </a:p>
          <a:p>
            <a:pPr indent="-330200" lvl="1" marL="914400" rtl="0" algn="l">
              <a:lnSpc>
                <a:spcPct val="115000"/>
              </a:lnSpc>
              <a:spcBef>
                <a:spcPts val="900"/>
              </a:spcBef>
              <a:spcAft>
                <a:spcPts val="0"/>
              </a:spcAft>
              <a:buSzPts val="1600"/>
              <a:buFont typeface="Arial"/>
              <a:buChar char="●"/>
            </a:pPr>
            <a:r>
              <a:rPr lang="en-IN" sz="1900">
                <a:latin typeface="Arial"/>
                <a:ea typeface="Arial"/>
                <a:cs typeface="Arial"/>
                <a:sym typeface="Arial"/>
              </a:rPr>
              <a:t>10,729 beats, 3 nodes; CNN-BiLSTM; 3 rounds.</a:t>
            </a:r>
            <a:endParaRPr sz="1900">
              <a:latin typeface="Arial"/>
              <a:ea typeface="Arial"/>
              <a:cs typeface="Arial"/>
              <a:sym typeface="Arial"/>
            </a:endParaRPr>
          </a:p>
          <a:p>
            <a:pPr indent="-330200" lvl="1" marL="914400" rtl="0" algn="l">
              <a:lnSpc>
                <a:spcPct val="115000"/>
              </a:lnSpc>
              <a:spcBef>
                <a:spcPts val="0"/>
              </a:spcBef>
              <a:spcAft>
                <a:spcPts val="0"/>
              </a:spcAft>
              <a:buSzPts val="1600"/>
              <a:buFont typeface="Arial"/>
              <a:buChar char="●"/>
            </a:pPr>
            <a:r>
              <a:rPr lang="en-IN" sz="1900">
                <a:latin typeface="Arial"/>
                <a:ea typeface="Arial"/>
                <a:cs typeface="Arial"/>
                <a:sym typeface="Arial"/>
              </a:rPr>
              <a:t>Global model reached 94% accuracy, matching centralized training.</a:t>
            </a:r>
            <a:endParaRPr sz="1900">
              <a:latin typeface="Arial"/>
              <a:ea typeface="Arial"/>
              <a:cs typeface="Arial"/>
              <a:sym typeface="Arial"/>
            </a:endParaRPr>
          </a:p>
          <a:p>
            <a:pPr indent="0" lvl="0" marL="0" rtl="0" algn="l">
              <a:lnSpc>
                <a:spcPct val="115000"/>
              </a:lnSpc>
              <a:spcBef>
                <a:spcPts val="900"/>
              </a:spcBef>
              <a:spcAft>
                <a:spcPts val="0"/>
              </a:spcAft>
              <a:buNone/>
            </a:pPr>
            <a:r>
              <a:rPr b="1" lang="en-IN" sz="1900">
                <a:latin typeface="Arial"/>
                <a:ea typeface="Arial"/>
                <a:cs typeface="Arial"/>
                <a:sym typeface="Arial"/>
              </a:rPr>
              <a:t>Key observation:</a:t>
            </a:r>
            <a:br>
              <a:rPr lang="en-IN" sz="1900">
                <a:latin typeface="Arial"/>
                <a:ea typeface="Arial"/>
                <a:cs typeface="Arial"/>
                <a:sym typeface="Arial"/>
              </a:rPr>
            </a:br>
            <a:r>
              <a:rPr lang="en-IN" sz="1900">
                <a:latin typeface="Arial"/>
                <a:ea typeface="Arial"/>
                <a:cs typeface="Arial"/>
                <a:sym typeface="Arial"/>
              </a:rPr>
              <a:t>FedAvg works well for moderate non-IID in imaging and signal data, but:</a:t>
            </a:r>
            <a:endParaRPr sz="1900">
              <a:latin typeface="Arial"/>
              <a:ea typeface="Arial"/>
              <a:cs typeface="Arial"/>
              <a:sym typeface="Arial"/>
            </a:endParaRPr>
          </a:p>
          <a:p>
            <a:pPr indent="-330200" lvl="1" marL="914400" rtl="0" algn="l">
              <a:lnSpc>
                <a:spcPct val="115000"/>
              </a:lnSpc>
              <a:spcBef>
                <a:spcPts val="900"/>
              </a:spcBef>
              <a:spcAft>
                <a:spcPts val="0"/>
              </a:spcAft>
              <a:buSzPts val="1600"/>
              <a:buFont typeface="Arial"/>
              <a:buChar char="●"/>
            </a:pPr>
            <a:r>
              <a:rPr lang="en-IN" sz="1900">
                <a:latin typeface="Arial"/>
                <a:ea typeface="Arial"/>
                <a:cs typeface="Arial"/>
                <a:sym typeface="Arial"/>
              </a:rPr>
              <a:t>Struggles with extreme client imbalance.</a:t>
            </a:r>
            <a:endParaRPr sz="1900">
              <a:latin typeface="Arial"/>
              <a:ea typeface="Arial"/>
              <a:cs typeface="Arial"/>
              <a:sym typeface="Arial"/>
            </a:endParaRPr>
          </a:p>
          <a:p>
            <a:pPr indent="-330200" lvl="1" marL="914400" rtl="0" algn="l">
              <a:lnSpc>
                <a:spcPct val="115000"/>
              </a:lnSpc>
              <a:spcBef>
                <a:spcPts val="0"/>
              </a:spcBef>
              <a:spcAft>
                <a:spcPts val="0"/>
              </a:spcAft>
              <a:buSzPts val="1600"/>
              <a:buFont typeface="Arial"/>
              <a:buChar char="●"/>
            </a:pPr>
            <a:r>
              <a:rPr lang="en-IN" sz="1900">
                <a:latin typeface="Arial"/>
                <a:ea typeface="Arial"/>
                <a:cs typeface="Arial"/>
                <a:sym typeface="Arial"/>
              </a:rPr>
              <a:t>Converges slower when data heterogeneity is high.</a:t>
            </a:r>
            <a:br>
              <a:rPr lang="en-IN" sz="1900">
                <a:latin typeface="Arial"/>
                <a:ea typeface="Arial"/>
                <a:cs typeface="Arial"/>
                <a:sym typeface="Arial"/>
              </a:rPr>
            </a:br>
            <a:r>
              <a:rPr lang="en-IN" sz="1900">
                <a:latin typeface="Arial"/>
                <a:ea typeface="Arial"/>
                <a:cs typeface="Arial"/>
                <a:sym typeface="Arial"/>
              </a:rPr>
              <a:t>→ Motivates trying FedProx and FedAdam.</a:t>
            </a:r>
            <a:endParaRPr sz="303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a3072fe6a8_1_42"/>
          <p:cNvSpPr txBox="1"/>
          <p:nvPr>
            <p:ph type="title"/>
          </p:nvPr>
        </p:nvSpPr>
        <p:spPr>
          <a:xfrm>
            <a:off x="838200" y="365125"/>
            <a:ext cx="9554400" cy="1325700"/>
          </a:xfrm>
          <a:prstGeom prst="rect">
            <a:avLst/>
          </a:prstGeom>
          <a:noFill/>
          <a:ln>
            <a:noFill/>
          </a:ln>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IN" sz="3300">
                <a:latin typeface="Arial"/>
                <a:ea typeface="Arial"/>
                <a:cs typeface="Arial"/>
                <a:sym typeface="Arial"/>
              </a:rPr>
              <a:t>FedAvg - Implementation &amp; Model Architecture</a:t>
            </a:r>
            <a:endParaRPr b="1" sz="4500">
              <a:latin typeface="Arial"/>
              <a:ea typeface="Arial"/>
              <a:cs typeface="Arial"/>
              <a:sym typeface="Arial"/>
            </a:endParaRPr>
          </a:p>
        </p:txBody>
      </p:sp>
      <p:pic>
        <p:nvPicPr>
          <p:cNvPr id="282" name="Google Shape;282;g3a3072fe6a8_1_42"/>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83" name="Google Shape;283;g3a3072fe6a8_1_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84" name="Google Shape;284;g3a3072fe6a8_1_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285" name="Google Shape;285;g3a3072fe6a8_1_4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lnSpc>
                <a:spcPct val="70000"/>
              </a:lnSpc>
              <a:spcBef>
                <a:spcPts val="1000"/>
              </a:spcBef>
              <a:spcAft>
                <a:spcPts val="0"/>
              </a:spcAft>
              <a:buNone/>
            </a:pPr>
            <a:r>
              <a:rPr b="1" lang="en-IN" sz="2400">
                <a:latin typeface="Arial"/>
                <a:ea typeface="Arial"/>
                <a:cs typeface="Arial"/>
                <a:sym typeface="Arial"/>
              </a:rPr>
              <a:t>Dataset &amp; Setup</a:t>
            </a:r>
            <a:r>
              <a:rPr lang="en-IN" sz="2400">
                <a:latin typeface="Arial"/>
                <a:ea typeface="Arial"/>
                <a:cs typeface="Arial"/>
                <a:sym typeface="Arial"/>
              </a:rPr>
              <a:t>:</a:t>
            </a:r>
            <a:endParaRPr sz="2400">
              <a:latin typeface="Arial"/>
              <a:ea typeface="Arial"/>
              <a:cs typeface="Arial"/>
              <a:sym typeface="Arial"/>
            </a:endParaRPr>
          </a:p>
          <a:p>
            <a:pPr indent="-381000" lvl="0" marL="457200" rtl="0" algn="l">
              <a:lnSpc>
                <a:spcPct val="70000"/>
              </a:lnSpc>
              <a:spcBef>
                <a:spcPts val="1000"/>
              </a:spcBef>
              <a:spcAft>
                <a:spcPts val="0"/>
              </a:spcAft>
              <a:buSzPts val="2400"/>
              <a:buFont typeface="Arial"/>
              <a:buChar char="•"/>
            </a:pPr>
            <a:r>
              <a:rPr lang="en-IN" sz="2400">
                <a:latin typeface="Arial"/>
                <a:ea typeface="Arial"/>
                <a:cs typeface="Arial"/>
                <a:sym typeface="Arial"/>
              </a:rPr>
              <a:t>NIH Chest X-ray14</a:t>
            </a:r>
            <a:endParaRPr sz="2400">
              <a:latin typeface="Arial"/>
              <a:ea typeface="Arial"/>
              <a:cs typeface="Arial"/>
              <a:sym typeface="Arial"/>
            </a:endParaRPr>
          </a:p>
          <a:p>
            <a:pPr indent="0" lvl="0" marL="457200" rtl="0" algn="l">
              <a:lnSpc>
                <a:spcPct val="70000"/>
              </a:lnSpc>
              <a:spcBef>
                <a:spcPts val="1000"/>
              </a:spcBef>
              <a:spcAft>
                <a:spcPts val="0"/>
              </a:spcAft>
              <a:buNone/>
            </a:pPr>
            <a:r>
              <a:rPr lang="en-IN" sz="2400">
                <a:latin typeface="Arial"/>
                <a:ea typeface="Arial"/>
                <a:cs typeface="Arial"/>
                <a:sym typeface="Arial"/>
              </a:rPr>
              <a:t>  - 112,120 chest X-rays (224×224 RGB), 14 thoracic disease labels (multi-label)</a:t>
            </a:r>
            <a:endParaRPr sz="2400">
              <a:latin typeface="Arial"/>
              <a:ea typeface="Arial"/>
              <a:cs typeface="Arial"/>
              <a:sym typeface="Arial"/>
            </a:endParaRPr>
          </a:p>
          <a:p>
            <a:pPr indent="-381000" lvl="0" marL="457200" rtl="0" algn="l">
              <a:lnSpc>
                <a:spcPct val="70000"/>
              </a:lnSpc>
              <a:spcBef>
                <a:spcPts val="1000"/>
              </a:spcBef>
              <a:spcAft>
                <a:spcPts val="0"/>
              </a:spcAft>
              <a:buSzPts val="2400"/>
              <a:buFont typeface="Arial"/>
              <a:buChar char="•"/>
            </a:pPr>
            <a:r>
              <a:rPr lang="en-IN" sz="2400">
                <a:latin typeface="Arial"/>
                <a:ea typeface="Arial"/>
                <a:cs typeface="Arial"/>
                <a:sym typeface="Arial"/>
              </a:rPr>
              <a:t>MIT-BIH Arrhythmia</a:t>
            </a:r>
            <a:endParaRPr sz="2400">
              <a:latin typeface="Arial"/>
              <a:ea typeface="Arial"/>
              <a:cs typeface="Arial"/>
              <a:sym typeface="Arial"/>
            </a:endParaRPr>
          </a:p>
          <a:p>
            <a:pPr indent="0" lvl="0" marL="457200" rtl="0" algn="l">
              <a:lnSpc>
                <a:spcPct val="70000"/>
              </a:lnSpc>
              <a:spcBef>
                <a:spcPts val="1000"/>
              </a:spcBef>
              <a:spcAft>
                <a:spcPts val="0"/>
              </a:spcAft>
              <a:buNone/>
            </a:pPr>
            <a:r>
              <a:rPr lang="en-IN" sz="2400">
                <a:latin typeface="Arial"/>
                <a:ea typeface="Arial"/>
                <a:cs typeface="Arial"/>
                <a:sym typeface="Arial"/>
              </a:rPr>
              <a:t>  </a:t>
            </a:r>
            <a:r>
              <a:rPr lang="en-IN" sz="2400">
                <a:latin typeface="Arial"/>
                <a:ea typeface="Arial"/>
                <a:cs typeface="Arial"/>
                <a:sym typeface="Arial"/>
              </a:rPr>
              <a:t>- 10,729 ECG beats from records 100-104, 1D segments of 360 samples</a:t>
            </a:r>
            <a:endParaRPr sz="2400">
              <a:latin typeface="Arial"/>
              <a:ea typeface="Arial"/>
              <a:cs typeface="Arial"/>
              <a:sym typeface="Arial"/>
            </a:endParaRPr>
          </a:p>
          <a:p>
            <a:pPr indent="0" lvl="0" marL="0" rtl="0" algn="l">
              <a:lnSpc>
                <a:spcPct val="70000"/>
              </a:lnSpc>
              <a:spcBef>
                <a:spcPts val="1000"/>
              </a:spcBef>
              <a:spcAft>
                <a:spcPts val="0"/>
              </a:spcAft>
              <a:buNone/>
            </a:pPr>
            <a:r>
              <a:rPr b="1" lang="en-IN" sz="2400">
                <a:latin typeface="Arial"/>
                <a:ea typeface="Arial"/>
                <a:cs typeface="Arial"/>
                <a:sym typeface="Arial"/>
              </a:rPr>
              <a:t>Data preprocessing &amp; Non-IID splitting:</a:t>
            </a:r>
            <a:endParaRPr b="1" sz="2400">
              <a:latin typeface="Arial"/>
              <a:ea typeface="Arial"/>
              <a:cs typeface="Arial"/>
              <a:sym typeface="Arial"/>
            </a:endParaRPr>
          </a:p>
          <a:p>
            <a:pPr indent="-381000" lvl="0" marL="457200" rtl="0" algn="l">
              <a:lnSpc>
                <a:spcPct val="70000"/>
              </a:lnSpc>
              <a:spcBef>
                <a:spcPts val="1000"/>
              </a:spcBef>
              <a:spcAft>
                <a:spcPts val="0"/>
              </a:spcAft>
              <a:buSzPts val="2400"/>
              <a:buFont typeface="Arial"/>
              <a:buChar char="•"/>
            </a:pPr>
            <a:r>
              <a:rPr lang="en-IN" sz="2400">
                <a:latin typeface="Arial"/>
                <a:ea typeface="Arial"/>
                <a:cs typeface="Arial"/>
                <a:sym typeface="Arial"/>
              </a:rPr>
              <a:t>Chest X-ray: Resized to 224×224, normalized, split into 3 non-IID hospital clients using label-based shard allocation</a:t>
            </a:r>
            <a:endParaRPr sz="2400">
              <a:latin typeface="Arial"/>
              <a:ea typeface="Arial"/>
              <a:cs typeface="Arial"/>
              <a:sym typeface="Arial"/>
            </a:endParaRPr>
          </a:p>
          <a:p>
            <a:pPr indent="0" lvl="0" marL="457200" rtl="0" algn="l">
              <a:lnSpc>
                <a:spcPct val="70000"/>
              </a:lnSpc>
              <a:spcBef>
                <a:spcPts val="1000"/>
              </a:spcBef>
              <a:spcAft>
                <a:spcPts val="0"/>
              </a:spcAft>
              <a:buNone/>
            </a:pPr>
            <a:r>
              <a:t/>
            </a:r>
            <a:endParaRPr sz="2400">
              <a:latin typeface="Arial"/>
              <a:ea typeface="Arial"/>
              <a:cs typeface="Arial"/>
              <a:sym typeface="Arial"/>
            </a:endParaRPr>
          </a:p>
          <a:p>
            <a:pPr indent="-381000" lvl="0" marL="457200" rtl="0" algn="l">
              <a:lnSpc>
                <a:spcPct val="70000"/>
              </a:lnSpc>
              <a:spcBef>
                <a:spcPts val="1000"/>
              </a:spcBef>
              <a:spcAft>
                <a:spcPts val="0"/>
              </a:spcAft>
              <a:buSzPts val="2400"/>
              <a:buFont typeface="Arial"/>
              <a:buChar char="•"/>
            </a:pPr>
            <a:r>
              <a:rPr lang="en-IN" sz="2400">
                <a:latin typeface="Arial"/>
                <a:ea typeface="Arial"/>
                <a:cs typeface="Arial"/>
                <a:sym typeface="Arial"/>
              </a:rPr>
              <a:t>ECG: Detrended, z-score normalized, segmented into 360-sample windows, split into 3 non-IID nodes</a:t>
            </a:r>
            <a:endParaRPr sz="24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a3072fe6a8_1_57"/>
          <p:cNvSpPr txBox="1"/>
          <p:nvPr>
            <p:ph type="title"/>
          </p:nvPr>
        </p:nvSpPr>
        <p:spPr>
          <a:xfrm>
            <a:off x="838200" y="490600"/>
            <a:ext cx="10515600" cy="9315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1000"/>
              </a:spcBef>
              <a:spcAft>
                <a:spcPts val="0"/>
              </a:spcAft>
              <a:buClr>
                <a:schemeClr val="dk1"/>
              </a:buClr>
              <a:buSzPct val="33333"/>
              <a:buFont typeface="Arial"/>
              <a:buNone/>
            </a:pPr>
            <a:r>
              <a:rPr b="1" lang="en-IN" sz="3300">
                <a:latin typeface="Arial"/>
                <a:ea typeface="Arial"/>
                <a:cs typeface="Arial"/>
                <a:sym typeface="Arial"/>
              </a:rPr>
              <a:t>FedAvg - Implementation &amp; Model Architecture (contd.)</a:t>
            </a:r>
            <a:endParaRPr b="1"/>
          </a:p>
        </p:txBody>
      </p:sp>
      <p:sp>
        <p:nvSpPr>
          <p:cNvPr id="292" name="Google Shape;292;g3a3072fe6a8_1_57"/>
          <p:cNvSpPr txBox="1"/>
          <p:nvPr>
            <p:ph idx="1" type="body"/>
          </p:nvPr>
        </p:nvSpPr>
        <p:spPr>
          <a:xfrm>
            <a:off x="838200" y="1520625"/>
            <a:ext cx="10890900" cy="4660800"/>
          </a:xfrm>
          <a:prstGeom prst="rect">
            <a:avLst/>
          </a:prstGeom>
          <a:noFill/>
          <a:ln>
            <a:noFill/>
          </a:ln>
        </p:spPr>
        <p:txBody>
          <a:bodyPr anchorCtr="0" anchor="t" bIns="45700" lIns="91425" spcFirstLastPara="1" rIns="91425" wrap="square" tIns="45700">
            <a:noAutofit/>
          </a:bodyPr>
          <a:lstStyle/>
          <a:p>
            <a:pPr indent="0" lvl="0" marL="0" rtl="0" algn="l">
              <a:lnSpc>
                <a:spcPct val="108000"/>
              </a:lnSpc>
              <a:spcBef>
                <a:spcPts val="1000"/>
              </a:spcBef>
              <a:spcAft>
                <a:spcPts val="0"/>
              </a:spcAft>
              <a:buClr>
                <a:schemeClr val="dk1"/>
              </a:buClr>
              <a:buSzPts val="1100"/>
              <a:buFont typeface="Arial"/>
              <a:buNone/>
            </a:pPr>
            <a:r>
              <a:rPr b="1" lang="en-IN" sz="1900">
                <a:latin typeface="Arial"/>
                <a:ea typeface="Arial"/>
                <a:cs typeface="Arial"/>
                <a:sym typeface="Arial"/>
              </a:rPr>
              <a:t>Local client training (FedAvg):</a:t>
            </a:r>
            <a:endParaRPr b="1" sz="1900">
              <a:latin typeface="Arial"/>
              <a:ea typeface="Arial"/>
              <a:cs typeface="Arial"/>
              <a:sym typeface="Arial"/>
            </a:endParaRPr>
          </a:p>
          <a:p>
            <a:pPr indent="0" lvl="0" marL="0" rtl="0" algn="l">
              <a:lnSpc>
                <a:spcPct val="108000"/>
              </a:lnSpc>
              <a:spcBef>
                <a:spcPts val="1000"/>
              </a:spcBef>
              <a:spcAft>
                <a:spcPts val="0"/>
              </a:spcAft>
              <a:buClr>
                <a:schemeClr val="dk1"/>
              </a:buClr>
              <a:buSzPts val="1100"/>
              <a:buFont typeface="Arial"/>
              <a:buNone/>
            </a:pPr>
            <a:r>
              <a:rPr b="1" lang="en-IN" sz="1900">
                <a:latin typeface="Arial"/>
                <a:ea typeface="Arial"/>
                <a:cs typeface="Arial"/>
                <a:sym typeface="Arial"/>
              </a:rPr>
              <a:t>• Chest X-ray:</a:t>
            </a:r>
            <a:endParaRPr b="1" sz="1900">
              <a:latin typeface="Arial"/>
              <a:ea typeface="Arial"/>
              <a:cs typeface="Arial"/>
              <a:sym typeface="Arial"/>
            </a:endParaRPr>
          </a:p>
          <a:p>
            <a:pPr indent="0" lvl="0" marL="0" rtl="0" algn="l">
              <a:lnSpc>
                <a:spcPct val="108000"/>
              </a:lnSpc>
              <a:spcBef>
                <a:spcPts val="1000"/>
              </a:spcBef>
              <a:spcAft>
                <a:spcPts val="0"/>
              </a:spcAft>
              <a:buClr>
                <a:schemeClr val="dk1"/>
              </a:buClr>
              <a:buSzPts val="1100"/>
              <a:buFont typeface="Arial"/>
              <a:buNone/>
            </a:pPr>
            <a:r>
              <a:rPr lang="en-IN" sz="1900">
                <a:latin typeface="Arial"/>
                <a:ea typeface="Arial"/>
                <a:cs typeface="Arial"/>
                <a:sym typeface="Arial"/>
              </a:rPr>
              <a:t>  - Model: CNN-LSTM (2 Conv + MaxPool → LSTM(128) → FC(64) → output(14, Sigmoid))</a:t>
            </a:r>
            <a:endParaRPr sz="1900">
              <a:latin typeface="Arial"/>
              <a:ea typeface="Arial"/>
              <a:cs typeface="Arial"/>
              <a:sym typeface="Arial"/>
            </a:endParaRPr>
          </a:p>
          <a:p>
            <a:pPr indent="0" lvl="0" marL="0" rtl="0" algn="l">
              <a:lnSpc>
                <a:spcPct val="108000"/>
              </a:lnSpc>
              <a:spcBef>
                <a:spcPts val="1000"/>
              </a:spcBef>
              <a:spcAft>
                <a:spcPts val="0"/>
              </a:spcAft>
              <a:buClr>
                <a:schemeClr val="dk1"/>
              </a:buClr>
              <a:buSzPts val="1100"/>
              <a:buFont typeface="Arial"/>
              <a:buNone/>
            </a:pPr>
            <a:r>
              <a:rPr lang="en-IN" sz="1900">
                <a:latin typeface="Arial"/>
                <a:ea typeface="Arial"/>
                <a:cs typeface="Arial"/>
                <a:sym typeface="Arial"/>
              </a:rPr>
              <a:t>  - 1 epoch/round, batch 32, Adam (1×10⁻⁴), Cross-Entropy loss</a:t>
            </a:r>
            <a:endParaRPr sz="1900">
              <a:latin typeface="Arial"/>
              <a:ea typeface="Arial"/>
              <a:cs typeface="Arial"/>
              <a:sym typeface="Arial"/>
            </a:endParaRPr>
          </a:p>
          <a:p>
            <a:pPr indent="0" lvl="0" marL="0" rtl="0" algn="l">
              <a:lnSpc>
                <a:spcPct val="108000"/>
              </a:lnSpc>
              <a:spcBef>
                <a:spcPts val="1000"/>
              </a:spcBef>
              <a:spcAft>
                <a:spcPts val="0"/>
              </a:spcAft>
              <a:buClr>
                <a:schemeClr val="dk1"/>
              </a:buClr>
              <a:buSzPts val="1100"/>
              <a:buFont typeface="Arial"/>
              <a:buNone/>
            </a:pPr>
            <a:r>
              <a:rPr b="1" lang="en-IN" sz="1900">
                <a:latin typeface="Arial"/>
                <a:ea typeface="Arial"/>
                <a:cs typeface="Arial"/>
                <a:sym typeface="Arial"/>
              </a:rPr>
              <a:t>• ECG:</a:t>
            </a:r>
            <a:endParaRPr b="1" sz="1900">
              <a:latin typeface="Arial"/>
              <a:ea typeface="Arial"/>
              <a:cs typeface="Arial"/>
              <a:sym typeface="Arial"/>
            </a:endParaRPr>
          </a:p>
          <a:p>
            <a:pPr indent="0" lvl="0" marL="0" rtl="0" algn="l">
              <a:lnSpc>
                <a:spcPct val="108000"/>
              </a:lnSpc>
              <a:spcBef>
                <a:spcPts val="1000"/>
              </a:spcBef>
              <a:spcAft>
                <a:spcPts val="0"/>
              </a:spcAft>
              <a:buNone/>
            </a:pPr>
            <a:r>
              <a:rPr lang="en-IN" sz="1900">
                <a:latin typeface="Arial"/>
                <a:ea typeface="Arial"/>
                <a:cs typeface="Arial"/>
                <a:sym typeface="Arial"/>
              </a:rPr>
              <a:t>  - </a:t>
            </a:r>
            <a:r>
              <a:rPr lang="en-IN" sz="1900">
                <a:latin typeface="Arial"/>
                <a:ea typeface="Arial"/>
                <a:cs typeface="Arial"/>
                <a:sym typeface="Arial"/>
              </a:rPr>
              <a:t>Model: CNN-BiLSTM with Attention (3 Conv1D blocks → BiLSTM(64×2) + Attention → FC layers)</a:t>
            </a:r>
            <a:endParaRPr sz="1900">
              <a:latin typeface="Arial"/>
              <a:ea typeface="Arial"/>
              <a:cs typeface="Arial"/>
              <a:sym typeface="Arial"/>
            </a:endParaRPr>
          </a:p>
          <a:p>
            <a:pPr indent="0" lvl="0" marL="0" rtl="0" algn="l">
              <a:lnSpc>
                <a:spcPct val="108000"/>
              </a:lnSpc>
              <a:spcBef>
                <a:spcPts val="1000"/>
              </a:spcBef>
              <a:spcAft>
                <a:spcPts val="0"/>
              </a:spcAft>
              <a:buClr>
                <a:schemeClr val="dk1"/>
              </a:buClr>
              <a:buSzPts val="1100"/>
              <a:buFont typeface="Arial"/>
              <a:buNone/>
            </a:pPr>
            <a:r>
              <a:rPr lang="en-IN" sz="1900">
                <a:latin typeface="Arial"/>
                <a:ea typeface="Arial"/>
                <a:cs typeface="Arial"/>
                <a:sym typeface="Arial"/>
              </a:rPr>
              <a:t>  - 5 epochs/round, Adam (1×10⁻³) with LR scheduler, BCE/Focal Loss</a:t>
            </a:r>
            <a:endParaRPr sz="19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900">
              <a:latin typeface="Arial"/>
              <a:ea typeface="Arial"/>
              <a:cs typeface="Arial"/>
              <a:sym typeface="Arial"/>
            </a:endParaRPr>
          </a:p>
          <a:p>
            <a:pPr indent="0" lvl="0" marL="0" rtl="0" algn="l">
              <a:lnSpc>
                <a:spcPct val="108000"/>
              </a:lnSpc>
              <a:spcBef>
                <a:spcPts val="1000"/>
              </a:spcBef>
              <a:spcAft>
                <a:spcPts val="0"/>
              </a:spcAft>
              <a:buClr>
                <a:schemeClr val="dk1"/>
              </a:buClr>
              <a:buSzPts val="1100"/>
              <a:buFont typeface="Arial"/>
              <a:buNone/>
            </a:pPr>
            <a:r>
              <a:rPr b="1" lang="en-IN" sz="1900">
                <a:latin typeface="Arial"/>
                <a:ea typeface="Arial"/>
                <a:cs typeface="Arial"/>
                <a:sym typeface="Arial"/>
              </a:rPr>
              <a:t>Server aggregation (FedAvg):</a:t>
            </a:r>
            <a:endParaRPr b="1" sz="1900">
              <a:latin typeface="Arial"/>
              <a:ea typeface="Arial"/>
              <a:cs typeface="Arial"/>
              <a:sym typeface="Arial"/>
            </a:endParaRPr>
          </a:p>
          <a:p>
            <a:pPr indent="0" lvl="0" marL="0" rtl="0" algn="l">
              <a:lnSpc>
                <a:spcPct val="108000"/>
              </a:lnSpc>
              <a:spcBef>
                <a:spcPts val="1000"/>
              </a:spcBef>
              <a:spcAft>
                <a:spcPts val="0"/>
              </a:spcAft>
              <a:buClr>
                <a:schemeClr val="dk1"/>
              </a:buClr>
              <a:buSzPts val="1100"/>
              <a:buFont typeface="Arial"/>
              <a:buNone/>
            </a:pPr>
            <a:r>
              <a:rPr lang="en-IN" sz="1900">
                <a:latin typeface="Arial"/>
                <a:ea typeface="Arial"/>
                <a:cs typeface="Arial"/>
                <a:sym typeface="Arial"/>
              </a:rPr>
              <a:t>• Central server aggregates model weights using Federated Averaging (weighted by local data size)</a:t>
            </a:r>
            <a:endParaRPr sz="1900">
              <a:latin typeface="Arial"/>
              <a:ea typeface="Arial"/>
              <a:cs typeface="Arial"/>
              <a:sym typeface="Arial"/>
            </a:endParaRPr>
          </a:p>
          <a:p>
            <a:pPr indent="0" lvl="0" marL="0" rtl="0" algn="l">
              <a:lnSpc>
                <a:spcPct val="108000"/>
              </a:lnSpc>
              <a:spcBef>
                <a:spcPts val="1000"/>
              </a:spcBef>
              <a:spcAft>
                <a:spcPts val="0"/>
              </a:spcAft>
              <a:buNone/>
            </a:pPr>
            <a:r>
              <a:rPr lang="en-IN" sz="1900">
                <a:latin typeface="Arial"/>
                <a:ea typeface="Arial"/>
                <a:cs typeface="Arial"/>
                <a:sym typeface="Arial"/>
              </a:rPr>
              <a:t>• Only model parameters exchanged; raw patient data stays local</a:t>
            </a:r>
            <a:endParaRPr b="1" sz="1900">
              <a:latin typeface="Arial"/>
              <a:ea typeface="Arial"/>
              <a:cs typeface="Arial"/>
              <a:sym typeface="Arial"/>
            </a:endParaRPr>
          </a:p>
        </p:txBody>
      </p:sp>
      <p:pic>
        <p:nvPicPr>
          <p:cNvPr id="293" name="Google Shape;293;g3a3072fe6a8_1_57"/>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294" name="Google Shape;294;g3a3072fe6a8_1_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295" name="Google Shape;295;g3a3072fe6a8_1_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g3a3072fe6a8_1_66"/>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02" name="Google Shape;302;g3a3072fe6a8_1_6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03" name="Google Shape;303;g3a3072fe6a8_1_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304" name="Google Shape;304;g3a3072fe6a8_1_6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IN" sz="3700">
                <a:latin typeface="Arial"/>
                <a:ea typeface="Arial"/>
                <a:cs typeface="Arial"/>
                <a:sym typeface="Arial"/>
              </a:rPr>
              <a:t>FedAvg - Experimentation &amp; Results</a:t>
            </a:r>
            <a:endParaRPr b="1" sz="5300">
              <a:latin typeface="Arial"/>
              <a:ea typeface="Arial"/>
              <a:cs typeface="Arial"/>
              <a:sym typeface="Arial"/>
            </a:endParaRPr>
          </a:p>
        </p:txBody>
      </p:sp>
      <p:sp>
        <p:nvSpPr>
          <p:cNvPr id="305" name="Google Shape;305;g3a3072fe6a8_1_6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77500" lnSpcReduction="20000"/>
          </a:bodyPr>
          <a:lstStyle/>
          <a:p>
            <a:pPr indent="0" lvl="0" marL="0" rtl="0" algn="l">
              <a:spcBef>
                <a:spcPts val="1000"/>
              </a:spcBef>
              <a:spcAft>
                <a:spcPts val="0"/>
              </a:spcAft>
              <a:buClr>
                <a:schemeClr val="dk1"/>
              </a:buClr>
              <a:buSzPct val="39285"/>
              <a:buFont typeface="Arial"/>
              <a:buNone/>
            </a:pPr>
            <a:r>
              <a:rPr b="1" lang="en-IN">
                <a:latin typeface="Arial"/>
                <a:ea typeface="Arial"/>
                <a:cs typeface="Arial"/>
                <a:sym typeface="Arial"/>
              </a:rPr>
              <a:t>Chest X-ray14 (Image-based FL):</a:t>
            </a:r>
            <a:endParaRPr b="1">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3 non-IID hospitals, 5 federated rounds</a:t>
            </a:r>
            <a:endParaRPr>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Results:</a:t>
            </a:r>
            <a:endParaRPr>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 Validation accuracy: ≈92.2 - 92.6%</a:t>
            </a:r>
            <a:endParaRPr>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 Global CNN-LSTM converged stably</a:t>
            </a:r>
            <a:endParaRPr>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 FedAvg reduced impact of label imbalance across sites</a:t>
            </a:r>
            <a:endParaRPr>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b="1" lang="en-IN">
                <a:latin typeface="Arial"/>
                <a:ea typeface="Arial"/>
                <a:cs typeface="Arial"/>
                <a:sym typeface="Arial"/>
              </a:rPr>
              <a:t>MIT-BIH Arrhythmia (ECG FL):</a:t>
            </a:r>
            <a:endParaRPr b="1">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3 non-IID nodes, 3 federated rounds</a:t>
            </a:r>
            <a:endParaRPr>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Results:</a:t>
            </a:r>
            <a:endParaRPr>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 Global CNN-BiLSTM: ≈94% accuracy</a:t>
            </a:r>
            <a:endParaRPr>
              <a:latin typeface="Arial"/>
              <a:ea typeface="Arial"/>
              <a:cs typeface="Arial"/>
              <a:sym typeface="Arial"/>
            </a:endParaRPr>
          </a:p>
          <a:p>
            <a:pPr indent="0" lvl="0" marL="0" rtl="0" algn="l">
              <a:spcBef>
                <a:spcPts val="1000"/>
              </a:spcBef>
              <a:spcAft>
                <a:spcPts val="0"/>
              </a:spcAft>
              <a:buClr>
                <a:schemeClr val="dk1"/>
              </a:buClr>
              <a:buSzPct val="39285"/>
              <a:buFont typeface="Arial"/>
              <a:buNone/>
            </a:pPr>
            <a:r>
              <a:rPr lang="en-IN">
                <a:latin typeface="Arial"/>
                <a:ea typeface="Arial"/>
                <a:cs typeface="Arial"/>
                <a:sym typeface="Arial"/>
              </a:rPr>
              <a:t>  – High precision/recall for abnormal beat detection</a:t>
            </a:r>
            <a:endParaRPr>
              <a:latin typeface="Arial"/>
              <a:ea typeface="Arial"/>
              <a:cs typeface="Arial"/>
              <a:sym typeface="Arial"/>
            </a:endParaRPr>
          </a:p>
          <a:p>
            <a:pPr indent="0" lvl="0" marL="0" rtl="0" algn="l">
              <a:spcBef>
                <a:spcPts val="1000"/>
              </a:spcBef>
              <a:spcAft>
                <a:spcPts val="0"/>
              </a:spcAft>
              <a:buNone/>
            </a:pPr>
            <a:r>
              <a:rPr lang="en-IN">
                <a:latin typeface="Arial"/>
                <a:ea typeface="Arial"/>
                <a:cs typeface="Arial"/>
                <a:sym typeface="Arial"/>
              </a:rPr>
              <a:t>  – Federated model matched centralized training performance</a:t>
            </a:r>
            <a:endParaRPr>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a3072fe6a8_1_7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IN" sz="3400">
                <a:latin typeface="Arial"/>
                <a:ea typeface="Arial"/>
                <a:cs typeface="Arial"/>
                <a:sym typeface="Arial"/>
              </a:rPr>
              <a:t>FedAvg - Experimentation &amp; Results (contd.)</a:t>
            </a:r>
            <a:r>
              <a:rPr b="1" lang="en-IN" sz="5000">
                <a:latin typeface="Arial"/>
                <a:ea typeface="Arial"/>
                <a:cs typeface="Arial"/>
                <a:sym typeface="Arial"/>
              </a:rPr>
              <a:t> </a:t>
            </a:r>
            <a:endParaRPr b="1" sz="4100">
              <a:latin typeface="Arial"/>
              <a:ea typeface="Arial"/>
              <a:cs typeface="Arial"/>
              <a:sym typeface="Arial"/>
            </a:endParaRPr>
          </a:p>
        </p:txBody>
      </p:sp>
      <p:pic>
        <p:nvPicPr>
          <p:cNvPr id="312" name="Google Shape;312;g3a3072fe6a8_1_75"/>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13" name="Google Shape;313;g3a3072fe6a8_1_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14" name="Google Shape;314;g3a3072fe6a8_1_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315" name="Google Shape;315;g3a3072fe6a8_1_7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IN" sz="2300">
                <a:latin typeface="Arial"/>
                <a:ea typeface="Arial"/>
                <a:cs typeface="Arial"/>
                <a:sym typeface="Arial"/>
              </a:rPr>
              <a:t>Key Observations </a:t>
            </a:r>
            <a:r>
              <a:rPr b="1" lang="en-IN" sz="2300">
                <a:latin typeface="Arial"/>
                <a:ea typeface="Arial"/>
                <a:cs typeface="Arial"/>
                <a:sym typeface="Arial"/>
              </a:rPr>
              <a:t>(FedAvg Baseline):</a:t>
            </a:r>
            <a:endParaRPr b="1" sz="23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t/>
            </a:r>
            <a:endParaRPr b="1" sz="23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lang="en-IN" sz="2300">
                <a:latin typeface="Arial"/>
                <a:ea typeface="Arial"/>
                <a:cs typeface="Arial"/>
                <a:sym typeface="Arial"/>
              </a:rPr>
              <a:t>• Federated learning viable for imaging and time-series healthcare data</a:t>
            </a:r>
            <a:endParaRPr sz="23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t/>
            </a:r>
            <a:endParaRPr sz="23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lang="en-IN" sz="2300">
                <a:latin typeface="Arial"/>
                <a:ea typeface="Arial"/>
                <a:cs typeface="Arial"/>
                <a:sym typeface="Arial"/>
              </a:rPr>
              <a:t>• FedAvg handles moderate non-IID distributions well, preserves privacy</a:t>
            </a:r>
            <a:endParaRPr sz="23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t/>
            </a:r>
            <a:endParaRPr sz="23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n-IN" sz="2300">
                <a:latin typeface="Arial"/>
                <a:ea typeface="Arial"/>
                <a:cs typeface="Arial"/>
                <a:sym typeface="Arial"/>
              </a:rPr>
              <a:t>Limitations:</a:t>
            </a:r>
            <a:endParaRPr b="1" sz="23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lang="en-IN" sz="2300">
                <a:latin typeface="Arial"/>
                <a:ea typeface="Arial"/>
                <a:cs typeface="Arial"/>
                <a:sym typeface="Arial"/>
              </a:rPr>
              <a:t>  – Convergence slows under extreme client imbalance</a:t>
            </a:r>
            <a:endParaRPr sz="2300">
              <a:latin typeface="Arial"/>
              <a:ea typeface="Arial"/>
              <a:cs typeface="Arial"/>
              <a:sym typeface="Arial"/>
            </a:endParaRPr>
          </a:p>
          <a:p>
            <a:pPr indent="0" lvl="0" marL="0" rtl="0" algn="l">
              <a:spcBef>
                <a:spcPts val="1000"/>
              </a:spcBef>
              <a:spcAft>
                <a:spcPts val="0"/>
              </a:spcAft>
              <a:buNone/>
            </a:pPr>
            <a:r>
              <a:rPr lang="en-IN" sz="2300">
                <a:latin typeface="Arial"/>
                <a:ea typeface="Arial"/>
                <a:cs typeface="Arial"/>
                <a:sym typeface="Arial"/>
              </a:rPr>
              <a:t>  – Motivates FedProx (stability) and FedAdam (speed)</a:t>
            </a:r>
            <a:endParaRPr sz="23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bd3844482c_1_1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700">
                <a:latin typeface="Arial"/>
                <a:ea typeface="Arial"/>
                <a:cs typeface="Arial"/>
                <a:sym typeface="Arial"/>
              </a:rPr>
              <a:t>Dataset 3: Synthetic Patient Monitoring</a:t>
            </a:r>
            <a:endParaRPr b="1" sz="3300">
              <a:latin typeface="Arial"/>
              <a:ea typeface="Arial"/>
              <a:cs typeface="Arial"/>
              <a:sym typeface="Arial"/>
            </a:endParaRPr>
          </a:p>
        </p:txBody>
      </p:sp>
      <p:pic>
        <p:nvPicPr>
          <p:cNvPr id="322" name="Google Shape;322;g3bd3844482c_1_12"/>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23" name="Google Shape;323;g3bd3844482c_1_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24" name="Google Shape;324;g3bd3844482c_1_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325" name="Google Shape;325;g3bd3844482c_1_1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lnSpc>
                <a:spcPct val="70000"/>
              </a:lnSpc>
              <a:spcBef>
                <a:spcPts val="1000"/>
              </a:spcBef>
              <a:spcAft>
                <a:spcPts val="0"/>
              </a:spcAft>
              <a:buClr>
                <a:schemeClr val="dk1"/>
              </a:buClr>
              <a:buSzPts val="605"/>
              <a:buFont typeface="Arial"/>
              <a:buNone/>
            </a:pPr>
            <a:r>
              <a:rPr b="1" lang="en-IN" sz="1740">
                <a:latin typeface="Arial"/>
                <a:ea typeface="Arial"/>
                <a:cs typeface="Arial"/>
                <a:sym typeface="Arial"/>
              </a:rPr>
              <a:t>Why we added this dataset:</a:t>
            </a:r>
            <a:endParaRPr b="1"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rPr lang="en-IN" sz="1740">
                <a:latin typeface="Arial"/>
                <a:ea typeface="Arial"/>
                <a:cs typeface="Arial"/>
                <a:sym typeface="Arial"/>
              </a:rPr>
              <a:t>• Tests FL on </a:t>
            </a:r>
            <a:r>
              <a:rPr b="1" lang="en-IN" sz="1740">
                <a:latin typeface="Arial"/>
                <a:ea typeface="Arial"/>
                <a:cs typeface="Arial"/>
                <a:sym typeface="Arial"/>
              </a:rPr>
              <a:t>tabular healthcare data</a:t>
            </a:r>
            <a:r>
              <a:rPr lang="en-IN" sz="1740">
                <a:latin typeface="Arial"/>
                <a:ea typeface="Arial"/>
                <a:cs typeface="Arial"/>
                <a:sym typeface="Arial"/>
              </a:rPr>
              <a:t> (vitals + demographics)</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rPr lang="en-IN" sz="1740">
                <a:latin typeface="Arial"/>
                <a:ea typeface="Arial"/>
                <a:cs typeface="Arial"/>
                <a:sym typeface="Arial"/>
              </a:rPr>
              <a:t>• Simulates </a:t>
            </a:r>
            <a:r>
              <a:rPr b="1" lang="en-IN" sz="1740">
                <a:latin typeface="Arial"/>
                <a:ea typeface="Arial"/>
                <a:cs typeface="Arial"/>
                <a:sym typeface="Arial"/>
              </a:rPr>
              <a:t>extreme non-IID scenario</a:t>
            </a:r>
            <a:r>
              <a:rPr lang="en-IN" sz="1740">
                <a:latin typeface="Arial"/>
                <a:ea typeface="Arial"/>
                <a:cs typeface="Arial"/>
                <a:sym typeface="Arial"/>
              </a:rPr>
              <a:t> (9.4:1 client imbalance)</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rPr lang="en-IN" sz="1740">
                <a:latin typeface="Arial"/>
                <a:ea typeface="Arial"/>
                <a:cs typeface="Arial"/>
                <a:sym typeface="Arial"/>
              </a:rPr>
              <a:t>• Enables rapid experimentation with multiple FL algorithms</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rPr b="1" lang="en-IN" sz="1740">
                <a:latin typeface="Arial"/>
                <a:ea typeface="Arial"/>
                <a:cs typeface="Arial"/>
                <a:sym typeface="Arial"/>
              </a:rPr>
              <a:t>Dataset Details:</a:t>
            </a:r>
            <a:endParaRPr b="1"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rPr lang="en-IN" sz="1740">
                <a:latin typeface="Arial"/>
                <a:ea typeface="Arial"/>
                <a:cs typeface="Arial"/>
                <a:sym typeface="Arial"/>
              </a:rPr>
              <a:t>• </a:t>
            </a:r>
            <a:r>
              <a:rPr lang="en-IN" sz="1740">
                <a:latin typeface="Arial"/>
                <a:ea typeface="Arial"/>
                <a:cs typeface="Arial"/>
                <a:sym typeface="Arial"/>
              </a:rPr>
              <a:t>60,000 patient records, 9 features (Heart rate, SpO2, BP, Temp, Age, Gender, etc.)</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rPr lang="en-IN" sz="1740">
                <a:latin typeface="Arial"/>
                <a:ea typeface="Arial"/>
                <a:cs typeface="Arial"/>
                <a:sym typeface="Arial"/>
              </a:rPr>
              <a:t>• </a:t>
            </a:r>
            <a:r>
              <a:rPr lang="en-IN" sz="1740">
                <a:latin typeface="Arial"/>
                <a:ea typeface="Arial"/>
                <a:cs typeface="Arial"/>
                <a:sym typeface="Arial"/>
              </a:rPr>
              <a:t>5 disease classes: Asthma, Diabetes, Healthy, Heart Disease, Hypertension</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rPr lang="en-IN" sz="1740">
                <a:latin typeface="Arial"/>
                <a:ea typeface="Arial"/>
                <a:cs typeface="Arial"/>
                <a:sym typeface="Arial"/>
              </a:rPr>
              <a:t>• </a:t>
            </a:r>
            <a:r>
              <a:rPr lang="en-IN" sz="1740">
                <a:latin typeface="Arial"/>
                <a:ea typeface="Arial"/>
                <a:cs typeface="Arial"/>
                <a:sym typeface="Arial"/>
              </a:rPr>
              <a:t>Non-IID split: 3 clients with extreme imbalance</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1100"/>
              <a:buFont typeface="Arial"/>
              <a:buNone/>
            </a:pPr>
            <a:r>
              <a:rPr lang="en-IN" sz="1740">
                <a:latin typeface="Arial"/>
                <a:ea typeface="Arial"/>
                <a:cs typeface="Arial"/>
                <a:sym typeface="Arial"/>
              </a:rPr>
              <a:t>-  Client 1: 26,133 samples (43.6%)</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1100"/>
              <a:buFont typeface="Arial"/>
              <a:buNone/>
            </a:pPr>
            <a:r>
              <a:rPr lang="en-IN" sz="1740">
                <a:latin typeface="Arial"/>
                <a:ea typeface="Arial"/>
                <a:cs typeface="Arial"/>
                <a:sym typeface="Arial"/>
              </a:rPr>
              <a:t>-  Client 2: 19,089 samples (31.8%)</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1100"/>
              <a:buFont typeface="Arial"/>
              <a:buNone/>
            </a:pPr>
            <a:r>
              <a:rPr lang="en-IN" sz="1740">
                <a:latin typeface="Arial"/>
                <a:ea typeface="Arial"/>
                <a:cs typeface="Arial"/>
                <a:sym typeface="Arial"/>
              </a:rPr>
              <a:t>-  Client 3: 2,778 samples (4.6%)</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1100"/>
              <a:buFont typeface="Arial"/>
              <a:buNone/>
            </a:pPr>
            <a:r>
              <a:rPr lang="en-IN" sz="1740">
                <a:latin typeface="Arial"/>
                <a:ea typeface="Arial"/>
                <a:cs typeface="Arial"/>
                <a:sym typeface="Arial"/>
              </a:rPr>
              <a:t>-  Imbalance ratio: 9.4:1 (largest to smallest)</a:t>
            </a:r>
            <a:endParaRPr sz="1740">
              <a:latin typeface="Arial"/>
              <a:ea typeface="Arial"/>
              <a:cs typeface="Arial"/>
              <a:sym typeface="Arial"/>
            </a:endParaRPr>
          </a:p>
          <a:p>
            <a:pPr indent="0" lvl="0" marL="0" rtl="0" algn="l">
              <a:lnSpc>
                <a:spcPct val="70000"/>
              </a:lnSpc>
              <a:spcBef>
                <a:spcPts val="1000"/>
              </a:spcBef>
              <a:spcAft>
                <a:spcPts val="0"/>
              </a:spcAft>
              <a:buClr>
                <a:schemeClr val="dk1"/>
              </a:buClr>
              <a:buSzPts val="605"/>
              <a:buFont typeface="Arial"/>
              <a:buNone/>
            </a:pPr>
            <a:r>
              <a:t/>
            </a:r>
            <a:endParaRPr sz="1740">
              <a:latin typeface="Arial"/>
              <a:ea typeface="Arial"/>
              <a:cs typeface="Arial"/>
              <a:sym typeface="Arial"/>
            </a:endParaRPr>
          </a:p>
          <a:p>
            <a:pPr indent="0" lvl="0" marL="0" rtl="0" algn="l">
              <a:lnSpc>
                <a:spcPct val="70000"/>
              </a:lnSpc>
              <a:spcBef>
                <a:spcPts val="1000"/>
              </a:spcBef>
              <a:spcAft>
                <a:spcPts val="0"/>
              </a:spcAft>
              <a:buSzPts val="605"/>
              <a:buNone/>
            </a:pPr>
            <a:r>
              <a:rPr lang="en-IN" sz="1740">
                <a:latin typeface="Arial"/>
                <a:ea typeface="Arial"/>
                <a:cs typeface="Arial"/>
                <a:sym typeface="Arial"/>
              </a:rPr>
              <a:t>• Challenge: Extreme heterogeneity tests algorithm robustness</a:t>
            </a:r>
            <a:endParaRPr sz="174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3bcf4afe8ba_1_1"/>
          <p:cNvSpPr txBox="1"/>
          <p:nvPr>
            <p:ph type="title"/>
          </p:nvPr>
        </p:nvSpPr>
        <p:spPr>
          <a:xfrm>
            <a:off x="838200" y="490600"/>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700">
                <a:latin typeface="Arial"/>
                <a:ea typeface="Arial"/>
                <a:cs typeface="Arial"/>
                <a:sym typeface="Arial"/>
              </a:rPr>
              <a:t>Implementation using FedProx</a:t>
            </a:r>
            <a:endParaRPr b="1" sz="3300">
              <a:latin typeface="Arial"/>
              <a:ea typeface="Arial"/>
              <a:cs typeface="Arial"/>
              <a:sym typeface="Arial"/>
            </a:endParaRPr>
          </a:p>
        </p:txBody>
      </p:sp>
      <p:sp>
        <p:nvSpPr>
          <p:cNvPr id="332" name="Google Shape;332;g3bcf4afe8ba_1_1"/>
          <p:cNvSpPr txBox="1"/>
          <p:nvPr>
            <p:ph idx="1" type="body"/>
          </p:nvPr>
        </p:nvSpPr>
        <p:spPr>
          <a:xfrm>
            <a:off x="838200" y="1558825"/>
            <a:ext cx="10515600" cy="498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N" sz="2100">
                <a:latin typeface="Arial"/>
                <a:ea typeface="Arial"/>
                <a:cs typeface="Arial"/>
                <a:sym typeface="Arial"/>
              </a:rPr>
              <a:t>Dataset: </a:t>
            </a:r>
            <a:r>
              <a:rPr b="1" lang="en-IN" sz="2100">
                <a:latin typeface="Arial"/>
                <a:ea typeface="Arial"/>
                <a:cs typeface="Arial"/>
                <a:sym typeface="Arial"/>
              </a:rPr>
              <a:t>Synthetic Healthcare Monitoring Dataset</a:t>
            </a:r>
            <a:r>
              <a:rPr lang="en-IN" sz="2100">
                <a:latin typeface="Arial"/>
                <a:ea typeface="Arial"/>
                <a:cs typeface="Arial"/>
                <a:sym typeface="Arial"/>
              </a:rPr>
              <a:t> (60,000 patients)</a:t>
            </a:r>
            <a:endParaRPr sz="2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100">
                <a:latin typeface="Arial"/>
                <a:ea typeface="Arial"/>
                <a:cs typeface="Arial"/>
                <a:sym typeface="Arial"/>
              </a:rPr>
              <a:t>Target: </a:t>
            </a:r>
            <a:r>
              <a:rPr b="1" lang="en-IN" sz="2100">
                <a:latin typeface="Arial"/>
                <a:ea typeface="Arial"/>
                <a:cs typeface="Arial"/>
                <a:sym typeface="Arial"/>
              </a:rPr>
              <a:t>Predicted Disease</a:t>
            </a:r>
            <a:r>
              <a:rPr lang="en-IN" sz="2100">
                <a:latin typeface="Arial"/>
                <a:ea typeface="Arial"/>
                <a:cs typeface="Arial"/>
                <a:sym typeface="Arial"/>
              </a:rPr>
              <a:t> (Asthma, Diabetes, Healthy, Heart Disease, Hypertension)</a:t>
            </a:r>
            <a:endParaRPr sz="2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100">
                <a:latin typeface="Arial"/>
                <a:ea typeface="Arial"/>
                <a:cs typeface="Arial"/>
                <a:sym typeface="Arial"/>
              </a:rPr>
              <a:t>Data preprocessing:</a:t>
            </a:r>
            <a:endParaRPr sz="2100">
              <a:latin typeface="Arial"/>
              <a:ea typeface="Arial"/>
              <a:cs typeface="Arial"/>
              <a:sym typeface="Arial"/>
            </a:endParaRPr>
          </a:p>
          <a:p>
            <a:pPr indent="-361950" lvl="0" marL="457200" rtl="0" algn="l">
              <a:lnSpc>
                <a:spcPct val="115000"/>
              </a:lnSpc>
              <a:spcBef>
                <a:spcPts val="1200"/>
              </a:spcBef>
              <a:spcAft>
                <a:spcPts val="0"/>
              </a:spcAft>
              <a:buSzPts val="2100"/>
              <a:buChar char="●"/>
            </a:pPr>
            <a:r>
              <a:rPr lang="en-IN" sz="2100">
                <a:latin typeface="Arial"/>
                <a:ea typeface="Arial"/>
                <a:cs typeface="Arial"/>
                <a:sym typeface="Arial"/>
              </a:rPr>
              <a:t>Missing value imputation</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IN" sz="2100">
                <a:latin typeface="Arial"/>
                <a:ea typeface="Arial"/>
                <a:cs typeface="Arial"/>
                <a:sym typeface="Arial"/>
              </a:rPr>
              <a:t>One-hot encoding for categorical data</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IN" sz="2100">
                <a:latin typeface="Arial"/>
                <a:ea typeface="Arial"/>
                <a:cs typeface="Arial"/>
                <a:sym typeface="Arial"/>
              </a:rPr>
              <a:t>Standard normalization (StandardScaler)</a:t>
            </a:r>
            <a:endParaRPr sz="2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100">
                <a:latin typeface="Arial"/>
                <a:ea typeface="Arial"/>
                <a:cs typeface="Arial"/>
                <a:sym typeface="Arial"/>
              </a:rPr>
              <a:t>Removed leakage columns (alert signals derived from vitals)</a:t>
            </a:r>
            <a:endParaRPr sz="2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100">
                <a:latin typeface="Arial"/>
                <a:ea typeface="Arial"/>
                <a:cs typeface="Arial"/>
                <a:sym typeface="Arial"/>
              </a:rPr>
              <a:t>Data distributed into </a:t>
            </a:r>
            <a:r>
              <a:rPr b="1" lang="en-IN" sz="2100">
                <a:latin typeface="Arial"/>
                <a:ea typeface="Arial"/>
                <a:cs typeface="Arial"/>
                <a:sym typeface="Arial"/>
              </a:rPr>
              <a:t>3 non-IID hospital clients</a:t>
            </a:r>
            <a:r>
              <a:rPr lang="en-IN" sz="2100">
                <a:latin typeface="Arial"/>
                <a:ea typeface="Arial"/>
                <a:cs typeface="Arial"/>
                <a:sym typeface="Arial"/>
              </a:rPr>
              <a:t> using Dirichlet label skew</a:t>
            </a:r>
            <a:endParaRPr sz="2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100">
                <a:latin typeface="Arial"/>
                <a:ea typeface="Arial"/>
                <a:cs typeface="Arial"/>
                <a:sym typeface="Arial"/>
              </a:rPr>
              <a:t>Each client trains locally using </a:t>
            </a:r>
            <a:r>
              <a:rPr b="1" lang="en-IN" sz="2100">
                <a:latin typeface="Arial"/>
                <a:ea typeface="Arial"/>
                <a:cs typeface="Arial"/>
                <a:sym typeface="Arial"/>
              </a:rPr>
              <a:t>FedProx loss function</a:t>
            </a:r>
            <a:endParaRPr b="1" sz="2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IN" sz="2100">
                <a:latin typeface="Arial"/>
                <a:ea typeface="Arial"/>
                <a:cs typeface="Arial"/>
                <a:sym typeface="Arial"/>
              </a:rPr>
              <a:t>Server aggregates model updates using </a:t>
            </a:r>
            <a:r>
              <a:rPr b="1" lang="en-IN" sz="2100">
                <a:latin typeface="Arial"/>
                <a:ea typeface="Arial"/>
                <a:cs typeface="Arial"/>
                <a:sym typeface="Arial"/>
              </a:rPr>
              <a:t>FedAvg</a:t>
            </a:r>
            <a:endParaRPr sz="1800">
              <a:latin typeface="Roboto"/>
              <a:ea typeface="Roboto"/>
              <a:cs typeface="Roboto"/>
              <a:sym typeface="Roboto"/>
            </a:endParaRPr>
          </a:p>
        </p:txBody>
      </p:sp>
      <p:pic>
        <p:nvPicPr>
          <p:cNvPr id="333" name="Google Shape;333;g3bcf4afe8ba_1_1"/>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34" name="Google Shape;334;g3bcf4afe8ba_1_1"/>
          <p:cNvSpPr txBox="1"/>
          <p:nvPr>
            <p:ph idx="11" type="ftr"/>
          </p:nvPr>
        </p:nvSpPr>
        <p:spPr>
          <a:xfrm>
            <a:off x="4622275" y="763500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35" name="Google Shape;335;g3bcf4afe8ba_1_1"/>
          <p:cNvSpPr txBox="1"/>
          <p:nvPr>
            <p:ph idx="12" type="sldNum"/>
          </p:nvPr>
        </p:nvSpPr>
        <p:spPr>
          <a:xfrm>
            <a:off x="2148675" y="763500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bcf4afe8ba_1_10"/>
          <p:cNvSpPr txBox="1"/>
          <p:nvPr>
            <p:ph type="title"/>
          </p:nvPr>
        </p:nvSpPr>
        <p:spPr>
          <a:xfrm>
            <a:off x="838200" y="490600"/>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4100">
                <a:latin typeface="Arial"/>
                <a:ea typeface="Arial"/>
                <a:cs typeface="Arial"/>
                <a:sym typeface="Arial"/>
              </a:rPr>
              <a:t>Model Architecture (FedProx)</a:t>
            </a:r>
            <a:endParaRPr b="1" sz="3700">
              <a:latin typeface="Arial"/>
              <a:ea typeface="Arial"/>
              <a:cs typeface="Arial"/>
              <a:sym typeface="Arial"/>
            </a:endParaRPr>
          </a:p>
        </p:txBody>
      </p:sp>
      <p:sp>
        <p:nvSpPr>
          <p:cNvPr id="342" name="Google Shape;342;g3bcf4afe8ba_1_10"/>
          <p:cNvSpPr txBox="1"/>
          <p:nvPr>
            <p:ph idx="1" type="body"/>
          </p:nvPr>
        </p:nvSpPr>
        <p:spPr>
          <a:xfrm>
            <a:off x="738975" y="1558825"/>
            <a:ext cx="10515600" cy="4660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IN" sz="1800">
                <a:latin typeface="Arial"/>
                <a:ea typeface="Arial"/>
                <a:cs typeface="Arial"/>
                <a:sym typeface="Arial"/>
              </a:rPr>
              <a:t>Model Type:</a:t>
            </a:r>
            <a:r>
              <a:rPr lang="en-IN" sz="1800">
                <a:latin typeface="Arial"/>
                <a:ea typeface="Arial"/>
                <a:cs typeface="Arial"/>
                <a:sym typeface="Arial"/>
              </a:rPr>
              <a:t> Tabular Deep Neural Network (MLP)</a:t>
            </a:r>
            <a:endParaRPr sz="1800">
              <a:latin typeface="Arial"/>
              <a:ea typeface="Arial"/>
              <a:cs typeface="Arial"/>
              <a:sym typeface="Arial"/>
            </a:endParaRPr>
          </a:p>
          <a:p>
            <a:pPr indent="-342900" lvl="0" marL="457200" rtl="0" algn="l">
              <a:lnSpc>
                <a:spcPct val="115000"/>
              </a:lnSpc>
              <a:spcBef>
                <a:spcPts val="1200"/>
              </a:spcBef>
              <a:spcAft>
                <a:spcPts val="0"/>
              </a:spcAft>
              <a:buSzPts val="1800"/>
              <a:buChar char="●"/>
            </a:pPr>
            <a:r>
              <a:rPr lang="en-IN" sz="1800">
                <a:latin typeface="Arial"/>
                <a:ea typeface="Arial"/>
                <a:cs typeface="Arial"/>
                <a:sym typeface="Arial"/>
              </a:rPr>
              <a:t>Input Layer: 9 normalized health features</a:t>
            </a:r>
            <a:br>
              <a:rPr lang="en-IN"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IN" sz="1800">
                <a:latin typeface="Arial"/>
                <a:ea typeface="Arial"/>
                <a:cs typeface="Arial"/>
                <a:sym typeface="Arial"/>
              </a:rPr>
              <a:t>Hidden Layer 1: 128 neurons, ReLU, Dropout(0.2)</a:t>
            </a:r>
            <a:br>
              <a:rPr lang="en-IN"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IN" sz="1800">
                <a:latin typeface="Arial"/>
                <a:ea typeface="Arial"/>
                <a:cs typeface="Arial"/>
                <a:sym typeface="Arial"/>
              </a:rPr>
              <a:t>Hidden Layer 2: 64 neurons, ReLU, Dropout(0.2)</a:t>
            </a:r>
            <a:br>
              <a:rPr lang="en-IN"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IN" sz="1800">
                <a:latin typeface="Arial"/>
                <a:ea typeface="Arial"/>
                <a:cs typeface="Arial"/>
                <a:sym typeface="Arial"/>
              </a:rPr>
              <a:t>Output Layer: 5 neurons (multi-class disease prediction)</a:t>
            </a:r>
            <a:br>
              <a:rPr lang="en-IN"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IN" sz="1800">
                <a:latin typeface="Arial"/>
                <a:ea typeface="Arial"/>
                <a:cs typeface="Arial"/>
                <a:sym typeface="Arial"/>
              </a:rPr>
              <a:t>Loss Function: Cross-Entropy</a:t>
            </a:r>
            <a:br>
              <a:rPr lang="en-IN"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IN" sz="1800">
                <a:latin typeface="Arial"/>
                <a:ea typeface="Arial"/>
                <a:cs typeface="Arial"/>
                <a:sym typeface="Arial"/>
              </a:rPr>
              <a:t>Optimizer: Adam (LR = 0.001)</a:t>
            </a:r>
            <a:br>
              <a:rPr lang="en-IN" sz="1800">
                <a:latin typeface="Arial"/>
                <a:ea typeface="Arial"/>
                <a:cs typeface="Arial"/>
                <a:sym typeface="Arial"/>
              </a:rPr>
            </a:br>
            <a:endParaRPr sz="1800">
              <a:latin typeface="Arial"/>
              <a:ea typeface="Arial"/>
              <a:cs typeface="Arial"/>
              <a:sym typeface="Arial"/>
            </a:endParaRPr>
          </a:p>
          <a:p>
            <a:pPr indent="0" lvl="0" marL="457200" rtl="0" algn="l">
              <a:lnSpc>
                <a:spcPct val="115000"/>
              </a:lnSpc>
              <a:spcBef>
                <a:spcPts val="1200"/>
              </a:spcBef>
              <a:spcAft>
                <a:spcPts val="1200"/>
              </a:spcAft>
              <a:buNone/>
            </a:pPr>
            <a:r>
              <a:t/>
            </a:r>
            <a:endParaRPr sz="1800">
              <a:latin typeface="Arial"/>
              <a:ea typeface="Arial"/>
              <a:cs typeface="Arial"/>
              <a:sym typeface="Arial"/>
            </a:endParaRPr>
          </a:p>
        </p:txBody>
      </p:sp>
      <p:pic>
        <p:nvPicPr>
          <p:cNvPr id="343" name="Google Shape;343;g3bcf4afe8ba_1_10"/>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44" name="Google Shape;344;g3bcf4afe8ba_1_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45" name="Google Shape;345;g3bcf4afe8ba_1_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bcf4afe8ba_1_19"/>
          <p:cNvSpPr txBox="1"/>
          <p:nvPr>
            <p:ph type="title"/>
          </p:nvPr>
        </p:nvSpPr>
        <p:spPr>
          <a:xfrm>
            <a:off x="838200" y="589125"/>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b="1" lang="en-IN" sz="3459">
                <a:latin typeface="Arial"/>
                <a:ea typeface="Arial"/>
                <a:cs typeface="Arial"/>
                <a:sym typeface="Arial"/>
              </a:rPr>
              <a:t>Experimentation &amp; Results using FedProx</a:t>
            </a:r>
            <a:endParaRPr b="1" sz="3100">
              <a:latin typeface="Arial"/>
              <a:ea typeface="Arial"/>
              <a:cs typeface="Arial"/>
              <a:sym typeface="Arial"/>
            </a:endParaRPr>
          </a:p>
        </p:txBody>
      </p:sp>
      <p:sp>
        <p:nvSpPr>
          <p:cNvPr id="352" name="Google Shape;352;g3bcf4afe8ba_1_19"/>
          <p:cNvSpPr txBox="1"/>
          <p:nvPr>
            <p:ph idx="1" type="body"/>
          </p:nvPr>
        </p:nvSpPr>
        <p:spPr>
          <a:xfrm>
            <a:off x="838200" y="1608075"/>
            <a:ext cx="10515600" cy="4660800"/>
          </a:xfrm>
          <a:prstGeom prst="rect">
            <a:avLst/>
          </a:prstGeom>
          <a:noFill/>
          <a:ln>
            <a:noFill/>
          </a:ln>
        </p:spPr>
        <p:txBody>
          <a:bodyPr anchorCtr="0" anchor="t" bIns="45700" lIns="91425" spcFirstLastPara="1" rIns="91425" wrap="square" tIns="45700">
            <a:noAutofit/>
          </a:bodyPr>
          <a:lstStyle/>
          <a:p>
            <a:pPr indent="-374650" lvl="0" marL="457200" rtl="0" algn="l">
              <a:lnSpc>
                <a:spcPct val="115000"/>
              </a:lnSpc>
              <a:spcBef>
                <a:spcPts val="1200"/>
              </a:spcBef>
              <a:spcAft>
                <a:spcPts val="0"/>
              </a:spcAft>
              <a:buSzPts val="2300"/>
              <a:buFont typeface="Arial"/>
              <a:buChar char="•"/>
            </a:pPr>
            <a:r>
              <a:rPr lang="en-IN" sz="1800">
                <a:latin typeface="Arial"/>
                <a:ea typeface="Arial"/>
                <a:cs typeface="Arial"/>
                <a:sym typeface="Arial"/>
              </a:rPr>
              <a:t>Federated learning was conducted for </a:t>
            </a:r>
            <a:r>
              <a:rPr b="1" lang="en-IN" sz="1800">
                <a:latin typeface="Arial"/>
                <a:ea typeface="Arial"/>
                <a:cs typeface="Arial"/>
                <a:sym typeface="Arial"/>
              </a:rPr>
              <a:t>5 rounds</a:t>
            </a:r>
            <a:r>
              <a:rPr lang="en-IN" sz="1800">
                <a:latin typeface="Arial"/>
                <a:ea typeface="Arial"/>
                <a:cs typeface="Arial"/>
                <a:sym typeface="Arial"/>
              </a:rPr>
              <a:t>, where each client performed </a:t>
            </a:r>
            <a:r>
              <a:rPr b="1" lang="en-IN" sz="1800">
                <a:latin typeface="Arial"/>
                <a:ea typeface="Arial"/>
                <a:cs typeface="Arial"/>
                <a:sym typeface="Arial"/>
              </a:rPr>
              <a:t>2 local training epochs per round</a:t>
            </a:r>
            <a:r>
              <a:rPr lang="en-IN" sz="1800">
                <a:latin typeface="Arial"/>
                <a:ea typeface="Arial"/>
                <a:cs typeface="Arial"/>
                <a:sym typeface="Arial"/>
              </a:rPr>
              <a:t>. The system simulated </a:t>
            </a:r>
            <a:r>
              <a:rPr b="1" lang="en-IN" sz="1800">
                <a:latin typeface="Arial"/>
                <a:ea typeface="Arial"/>
                <a:cs typeface="Arial"/>
                <a:sym typeface="Arial"/>
              </a:rPr>
              <a:t>3 hospitals with non-IID patient distributions</a:t>
            </a:r>
            <a:r>
              <a:rPr lang="en-IN" sz="1800">
                <a:latin typeface="Arial"/>
                <a:ea typeface="Arial"/>
                <a:cs typeface="Arial"/>
                <a:sym typeface="Arial"/>
              </a:rPr>
              <a:t> to reflect real-world healthcare data imbalance.</a:t>
            </a:r>
            <a:endParaRPr sz="18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374650" lvl="0" marL="457200" rtl="0" algn="l">
              <a:lnSpc>
                <a:spcPct val="115000"/>
              </a:lnSpc>
              <a:spcBef>
                <a:spcPts val="1200"/>
              </a:spcBef>
              <a:spcAft>
                <a:spcPts val="0"/>
              </a:spcAft>
              <a:buSzPts val="2300"/>
              <a:buFont typeface="Arial"/>
              <a:buChar char="•"/>
            </a:pPr>
            <a:r>
              <a:rPr lang="en-IN" sz="1800">
                <a:latin typeface="Arial"/>
                <a:ea typeface="Arial"/>
                <a:cs typeface="Arial"/>
                <a:sym typeface="Arial"/>
              </a:rPr>
              <a:t>The </a:t>
            </a:r>
            <a:r>
              <a:rPr b="1" lang="en-IN" sz="1800">
                <a:latin typeface="Arial"/>
                <a:ea typeface="Arial"/>
                <a:cs typeface="Arial"/>
                <a:sym typeface="Arial"/>
              </a:rPr>
              <a:t>final global model achieved an accuracy of 93.76%</a:t>
            </a:r>
            <a:r>
              <a:rPr lang="en-IN" sz="1800">
                <a:latin typeface="Arial"/>
                <a:ea typeface="Arial"/>
                <a:cs typeface="Arial"/>
                <a:sym typeface="Arial"/>
              </a:rPr>
              <a:t>, with a </a:t>
            </a:r>
            <a:r>
              <a:rPr b="1" lang="en-IN" sz="1800">
                <a:latin typeface="Arial"/>
                <a:ea typeface="Arial"/>
                <a:cs typeface="Arial"/>
                <a:sym typeface="Arial"/>
              </a:rPr>
              <a:t>macro F1 score of 0.9375</a:t>
            </a:r>
            <a:r>
              <a:rPr lang="en-IN" sz="1800">
                <a:latin typeface="Arial"/>
                <a:ea typeface="Arial"/>
                <a:cs typeface="Arial"/>
                <a:sym typeface="Arial"/>
              </a:rPr>
              <a:t> and </a:t>
            </a:r>
            <a:r>
              <a:rPr b="1" lang="en-IN" sz="1800">
                <a:latin typeface="Arial"/>
                <a:ea typeface="Arial"/>
                <a:cs typeface="Arial"/>
                <a:sym typeface="Arial"/>
              </a:rPr>
              <a:t>micro F1 score of 0.9376</a:t>
            </a:r>
            <a:r>
              <a:rPr lang="en-IN" sz="1800">
                <a:latin typeface="Arial"/>
                <a:ea typeface="Arial"/>
                <a:cs typeface="Arial"/>
                <a:sym typeface="Arial"/>
              </a:rPr>
              <a:t>, indicating strong and balanced disease prediction performance.</a:t>
            </a:r>
            <a:endParaRPr sz="18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374650" lvl="0" marL="457200" rtl="0" algn="l">
              <a:lnSpc>
                <a:spcPct val="115000"/>
              </a:lnSpc>
              <a:spcBef>
                <a:spcPts val="1200"/>
              </a:spcBef>
              <a:spcAft>
                <a:spcPts val="0"/>
              </a:spcAft>
              <a:buSzPts val="2300"/>
              <a:buFont typeface="Arial"/>
              <a:buChar char="•"/>
            </a:pPr>
            <a:r>
              <a:rPr lang="en-IN" sz="1800">
                <a:latin typeface="Arial"/>
                <a:ea typeface="Arial"/>
                <a:cs typeface="Arial"/>
                <a:sym typeface="Arial"/>
              </a:rPr>
              <a:t>The model performed well across all five disease categories. The main classification confusion was observed between </a:t>
            </a:r>
            <a:r>
              <a:rPr b="1" lang="en-IN" sz="1800">
                <a:latin typeface="Arial"/>
                <a:ea typeface="Arial"/>
                <a:cs typeface="Arial"/>
                <a:sym typeface="Arial"/>
              </a:rPr>
              <a:t>Asthma and Diabetes Mellitus</a:t>
            </a:r>
            <a:r>
              <a:rPr lang="en-IN" sz="1800">
                <a:latin typeface="Arial"/>
                <a:ea typeface="Arial"/>
                <a:cs typeface="Arial"/>
                <a:sym typeface="Arial"/>
              </a:rPr>
              <a:t>, likely due to overlapping physiological indicators in the dataset.</a:t>
            </a:r>
            <a:endParaRPr sz="2300">
              <a:latin typeface="Arial"/>
              <a:ea typeface="Arial"/>
              <a:cs typeface="Arial"/>
              <a:sym typeface="Arial"/>
            </a:endParaRPr>
          </a:p>
        </p:txBody>
      </p:sp>
      <p:pic>
        <p:nvPicPr>
          <p:cNvPr id="353" name="Google Shape;353;g3bcf4afe8ba_1_19"/>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54" name="Google Shape;354;g3bcf4afe8ba_1_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55" name="Google Shape;355;g3bcf4afe8ba_1_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bd3844482c_3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b="1" lang="en-IN" sz="3459">
                <a:latin typeface="Arial"/>
                <a:ea typeface="Arial"/>
                <a:cs typeface="Arial"/>
                <a:sym typeface="Arial"/>
              </a:rPr>
              <a:t>Experimentation &amp; Results using FedProx</a:t>
            </a:r>
            <a:endParaRPr/>
          </a:p>
        </p:txBody>
      </p:sp>
      <p:sp>
        <p:nvSpPr>
          <p:cNvPr id="362" name="Google Shape;362;g3bd3844482c_3_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363" name="Google Shape;363;g3bd3844482c_3_24"/>
          <p:cNvPicPr preferRelativeResize="0"/>
          <p:nvPr/>
        </p:nvPicPr>
        <p:blipFill>
          <a:blip r:embed="rId3">
            <a:alphaModFix/>
          </a:blip>
          <a:stretch>
            <a:fillRect/>
          </a:stretch>
        </p:blipFill>
        <p:spPr>
          <a:xfrm>
            <a:off x="529684" y="1672525"/>
            <a:ext cx="5876091" cy="4351200"/>
          </a:xfrm>
          <a:prstGeom prst="rect">
            <a:avLst/>
          </a:prstGeom>
          <a:noFill/>
          <a:ln>
            <a:noFill/>
          </a:ln>
        </p:spPr>
      </p:pic>
      <p:pic>
        <p:nvPicPr>
          <p:cNvPr id="364" name="Google Shape;364;g3bd3844482c_3_24"/>
          <p:cNvPicPr preferRelativeResize="0"/>
          <p:nvPr/>
        </p:nvPicPr>
        <p:blipFill>
          <a:blip r:embed="rId4">
            <a:alphaModFix/>
          </a:blip>
          <a:stretch>
            <a:fillRect/>
          </a:stretch>
        </p:blipFill>
        <p:spPr>
          <a:xfrm>
            <a:off x="6035950" y="1594600"/>
            <a:ext cx="5587876" cy="4202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bd16a3255e_0_37"/>
          <p:cNvSpPr txBox="1"/>
          <p:nvPr>
            <p:ph type="title"/>
          </p:nvPr>
        </p:nvSpPr>
        <p:spPr>
          <a:xfrm>
            <a:off x="838200" y="490600"/>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500">
                <a:latin typeface="Arial"/>
                <a:ea typeface="Arial"/>
                <a:cs typeface="Arial"/>
                <a:sym typeface="Arial"/>
              </a:rPr>
              <a:t>Outcomes using FedProx</a:t>
            </a:r>
            <a:endParaRPr b="1" sz="3500">
              <a:latin typeface="Arial"/>
              <a:ea typeface="Arial"/>
              <a:cs typeface="Arial"/>
              <a:sym typeface="Arial"/>
            </a:endParaRPr>
          </a:p>
        </p:txBody>
      </p:sp>
      <p:sp>
        <p:nvSpPr>
          <p:cNvPr id="371" name="Google Shape;371;g3bd16a3255e_0_37"/>
          <p:cNvSpPr txBox="1"/>
          <p:nvPr>
            <p:ph idx="1" type="body"/>
          </p:nvPr>
        </p:nvSpPr>
        <p:spPr>
          <a:xfrm>
            <a:off x="838200" y="1520625"/>
            <a:ext cx="10515600" cy="46608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1200"/>
              </a:spcBef>
              <a:spcAft>
                <a:spcPts val="0"/>
              </a:spcAft>
              <a:buSzPts val="2200"/>
              <a:buFont typeface="Arial"/>
              <a:buChar char="•"/>
            </a:pPr>
            <a:r>
              <a:rPr lang="en-IN" sz="2200">
                <a:latin typeface="Arial"/>
                <a:ea typeface="Arial"/>
                <a:cs typeface="Arial"/>
                <a:sym typeface="Arial"/>
              </a:rPr>
              <a:t>FedProx stabilized training under heterogeneous client data</a:t>
            </a:r>
            <a:endParaRPr sz="2200">
              <a:latin typeface="Arial"/>
              <a:ea typeface="Arial"/>
              <a:cs typeface="Arial"/>
              <a:sym typeface="Arial"/>
            </a:endParaRPr>
          </a:p>
          <a:p>
            <a:pPr indent="0" lvl="0" marL="457200" rtl="0" algn="l">
              <a:lnSpc>
                <a:spcPct val="115000"/>
              </a:lnSpc>
              <a:spcBef>
                <a:spcPts val="1200"/>
              </a:spcBef>
              <a:spcAft>
                <a:spcPts val="0"/>
              </a:spcAft>
              <a:buNone/>
            </a:pPr>
            <a:r>
              <a:t/>
            </a:r>
            <a:endParaRPr sz="2200">
              <a:latin typeface="Arial"/>
              <a:ea typeface="Arial"/>
              <a:cs typeface="Arial"/>
              <a:sym typeface="Arial"/>
            </a:endParaRPr>
          </a:p>
          <a:p>
            <a:pPr indent="-368300" lvl="0" marL="457200" rtl="0" algn="l">
              <a:lnSpc>
                <a:spcPct val="115000"/>
              </a:lnSpc>
              <a:spcBef>
                <a:spcPts val="1200"/>
              </a:spcBef>
              <a:spcAft>
                <a:spcPts val="0"/>
              </a:spcAft>
              <a:buSzPts val="2200"/>
              <a:buFont typeface="Arial"/>
              <a:buChar char="•"/>
            </a:pPr>
            <a:r>
              <a:rPr lang="en-IN" sz="2200">
                <a:latin typeface="Arial"/>
                <a:ea typeface="Arial"/>
                <a:cs typeface="Arial"/>
                <a:sym typeface="Arial"/>
              </a:rPr>
              <a:t>Reduced divergence of local client models</a:t>
            </a:r>
            <a:endParaRPr sz="2200">
              <a:latin typeface="Arial"/>
              <a:ea typeface="Arial"/>
              <a:cs typeface="Arial"/>
              <a:sym typeface="Arial"/>
            </a:endParaRPr>
          </a:p>
          <a:p>
            <a:pPr indent="0" lvl="0" marL="457200" rtl="0" algn="l">
              <a:lnSpc>
                <a:spcPct val="115000"/>
              </a:lnSpc>
              <a:spcBef>
                <a:spcPts val="1200"/>
              </a:spcBef>
              <a:spcAft>
                <a:spcPts val="0"/>
              </a:spcAft>
              <a:buNone/>
            </a:pPr>
            <a:r>
              <a:t/>
            </a:r>
            <a:endParaRPr sz="2200">
              <a:latin typeface="Arial"/>
              <a:ea typeface="Arial"/>
              <a:cs typeface="Arial"/>
              <a:sym typeface="Arial"/>
            </a:endParaRPr>
          </a:p>
          <a:p>
            <a:pPr indent="-368300" lvl="0" marL="457200" rtl="0" algn="l">
              <a:lnSpc>
                <a:spcPct val="115000"/>
              </a:lnSpc>
              <a:spcBef>
                <a:spcPts val="1200"/>
              </a:spcBef>
              <a:spcAft>
                <a:spcPts val="0"/>
              </a:spcAft>
              <a:buSzPts val="2200"/>
              <a:buFont typeface="Arial"/>
              <a:buChar char="•"/>
            </a:pPr>
            <a:r>
              <a:rPr lang="en-IN" sz="2200">
                <a:latin typeface="Arial"/>
                <a:ea typeface="Arial"/>
                <a:cs typeface="Arial"/>
                <a:sym typeface="Arial"/>
              </a:rPr>
              <a:t>Adaptive model deployment (child model used only when better than global)</a:t>
            </a:r>
            <a:endParaRPr sz="2200">
              <a:latin typeface="Arial"/>
              <a:ea typeface="Arial"/>
              <a:cs typeface="Arial"/>
              <a:sym typeface="Arial"/>
            </a:endParaRPr>
          </a:p>
          <a:p>
            <a:pPr indent="0" lvl="0" marL="457200" rtl="0" algn="l">
              <a:lnSpc>
                <a:spcPct val="115000"/>
              </a:lnSpc>
              <a:spcBef>
                <a:spcPts val="1200"/>
              </a:spcBef>
              <a:spcAft>
                <a:spcPts val="0"/>
              </a:spcAft>
              <a:buNone/>
            </a:pPr>
            <a:r>
              <a:t/>
            </a:r>
            <a:endParaRPr sz="2200">
              <a:latin typeface="Arial"/>
              <a:ea typeface="Arial"/>
              <a:cs typeface="Arial"/>
              <a:sym typeface="Arial"/>
            </a:endParaRPr>
          </a:p>
          <a:p>
            <a:pPr indent="-368300" lvl="0" marL="457200" rtl="0" algn="l">
              <a:lnSpc>
                <a:spcPct val="115000"/>
              </a:lnSpc>
              <a:spcBef>
                <a:spcPts val="1200"/>
              </a:spcBef>
              <a:spcAft>
                <a:spcPts val="0"/>
              </a:spcAft>
              <a:buSzPts val="2200"/>
              <a:buFont typeface="Arial"/>
              <a:buChar char="•"/>
            </a:pPr>
            <a:r>
              <a:rPr lang="en-IN" sz="2200">
                <a:latin typeface="Arial"/>
                <a:ea typeface="Arial"/>
                <a:cs typeface="Arial"/>
                <a:sym typeface="Arial"/>
              </a:rPr>
              <a:t>Achieved high predictive accuracy while preserving data privacy</a:t>
            </a:r>
            <a:endParaRPr sz="2200">
              <a:latin typeface="Arial"/>
              <a:ea typeface="Arial"/>
              <a:cs typeface="Arial"/>
              <a:sym typeface="Arial"/>
            </a:endParaRPr>
          </a:p>
          <a:p>
            <a:pPr indent="0" lvl="0" marL="457200" rtl="0" algn="l">
              <a:lnSpc>
                <a:spcPct val="115000"/>
              </a:lnSpc>
              <a:spcBef>
                <a:spcPts val="1200"/>
              </a:spcBef>
              <a:spcAft>
                <a:spcPts val="0"/>
              </a:spcAft>
              <a:buNone/>
            </a:pPr>
            <a:r>
              <a:t/>
            </a:r>
            <a:endParaRPr sz="2200">
              <a:latin typeface="Arial"/>
              <a:ea typeface="Arial"/>
              <a:cs typeface="Arial"/>
              <a:sym typeface="Arial"/>
            </a:endParaRPr>
          </a:p>
          <a:p>
            <a:pPr indent="-368300" lvl="0" marL="457200" rtl="0" algn="l">
              <a:lnSpc>
                <a:spcPct val="115000"/>
              </a:lnSpc>
              <a:spcBef>
                <a:spcPts val="1200"/>
              </a:spcBef>
              <a:spcAft>
                <a:spcPts val="0"/>
              </a:spcAft>
              <a:buSzPts val="2200"/>
              <a:buFont typeface="Arial"/>
              <a:buChar char="•"/>
            </a:pPr>
            <a:r>
              <a:rPr lang="en-IN" sz="2200">
                <a:latin typeface="Arial"/>
                <a:ea typeface="Arial"/>
                <a:cs typeface="Arial"/>
                <a:sym typeface="Arial"/>
              </a:rPr>
              <a:t>Demonstrates practical federated AI system for healthcare</a:t>
            </a:r>
            <a:endParaRPr b="1" sz="2000">
              <a:latin typeface="Arial"/>
              <a:ea typeface="Arial"/>
              <a:cs typeface="Arial"/>
              <a:sym typeface="Arial"/>
            </a:endParaRPr>
          </a:p>
        </p:txBody>
      </p:sp>
      <p:pic>
        <p:nvPicPr>
          <p:cNvPr id="372" name="Google Shape;372;g3bd16a3255e_0_37"/>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73" name="Google Shape;373;g3bd16a3255e_0_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74" name="Google Shape;374;g3bd16a3255e_0_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bd16a3255e_0_0"/>
          <p:cNvSpPr txBox="1"/>
          <p:nvPr>
            <p:ph type="title"/>
          </p:nvPr>
        </p:nvSpPr>
        <p:spPr>
          <a:xfrm>
            <a:off x="838200" y="490600"/>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600">
                <a:latin typeface="Arial"/>
                <a:ea typeface="Arial"/>
                <a:cs typeface="Arial"/>
                <a:sym typeface="Arial"/>
              </a:rPr>
              <a:t>Implementation using FedAdam</a:t>
            </a:r>
            <a:endParaRPr b="1" sz="3600">
              <a:latin typeface="Arial"/>
              <a:ea typeface="Arial"/>
              <a:cs typeface="Arial"/>
              <a:sym typeface="Arial"/>
            </a:endParaRPr>
          </a:p>
        </p:txBody>
      </p:sp>
      <p:sp>
        <p:nvSpPr>
          <p:cNvPr id="381" name="Google Shape;381;g3bd16a3255e_0_0"/>
          <p:cNvSpPr txBox="1"/>
          <p:nvPr>
            <p:ph idx="1" type="body"/>
          </p:nvPr>
        </p:nvSpPr>
        <p:spPr>
          <a:xfrm>
            <a:off x="838200" y="1520625"/>
            <a:ext cx="10515600" cy="4660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600"/>
              </a:spcBef>
              <a:spcAft>
                <a:spcPts val="0"/>
              </a:spcAft>
              <a:buClr>
                <a:schemeClr val="dk1"/>
              </a:buClr>
              <a:buSzPts val="1100"/>
              <a:buFont typeface="Arial"/>
              <a:buNone/>
            </a:pPr>
            <a:r>
              <a:rPr b="1" lang="en-IN" sz="1500">
                <a:latin typeface="Arial"/>
                <a:ea typeface="Arial"/>
                <a:cs typeface="Arial"/>
                <a:sym typeface="Arial"/>
              </a:rPr>
              <a:t>Dataset download &amp; filtering:</a:t>
            </a:r>
            <a:br>
              <a:rPr lang="en-IN" sz="1500">
                <a:latin typeface="Arial"/>
                <a:ea typeface="Arial"/>
                <a:cs typeface="Arial"/>
                <a:sym typeface="Arial"/>
              </a:rPr>
            </a:br>
            <a:r>
              <a:rPr lang="en-IN" sz="1500">
                <a:latin typeface="Arial"/>
                <a:ea typeface="Arial"/>
                <a:cs typeface="Arial"/>
                <a:sym typeface="Arial"/>
              </a:rPr>
              <a:t>● Synthetic Patient Monitoring: 60,000 records, 13 features → filtered to 9 features (5 disease classes)</a:t>
            </a:r>
            <a:br>
              <a:rPr lang="en-IN" sz="1500">
                <a:latin typeface="Arial"/>
                <a:ea typeface="Arial"/>
                <a:cs typeface="Arial"/>
                <a:sym typeface="Arial"/>
              </a:rPr>
            </a:br>
            <a:r>
              <a:rPr lang="en-IN" sz="1500">
                <a:latin typeface="Arial"/>
                <a:ea typeface="Arial"/>
                <a:cs typeface="Arial"/>
                <a:sym typeface="Arial"/>
              </a:rPr>
              <a:t>● Dropped leakage columns (alert features); normalized and one-hot encoded</a:t>
            </a:r>
            <a:endParaRPr sz="1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IN" sz="1500">
                <a:latin typeface="Arial"/>
                <a:ea typeface="Arial"/>
                <a:cs typeface="Arial"/>
                <a:sym typeface="Arial"/>
              </a:rPr>
              <a:t>Data preprocessing &amp; Non-IID splitting:</a:t>
            </a:r>
            <a:br>
              <a:rPr lang="en-IN" sz="1500">
                <a:latin typeface="Arial"/>
                <a:ea typeface="Arial"/>
                <a:cs typeface="Arial"/>
                <a:sym typeface="Arial"/>
              </a:rPr>
            </a:br>
            <a:r>
              <a:rPr lang="en-IN" sz="1500">
                <a:latin typeface="Arial"/>
                <a:ea typeface="Arial"/>
                <a:cs typeface="Arial"/>
                <a:sym typeface="Arial"/>
              </a:rPr>
              <a:t>● 5 non-IID clients simulating hospitals with varying data distributions</a:t>
            </a:r>
            <a:br>
              <a:rPr lang="en-IN" sz="1500">
                <a:latin typeface="Arial"/>
                <a:ea typeface="Arial"/>
                <a:cs typeface="Arial"/>
                <a:sym typeface="Arial"/>
              </a:rPr>
            </a:br>
            <a:r>
              <a:rPr lang="en-IN" sz="1500">
                <a:latin typeface="Arial"/>
                <a:ea typeface="Arial"/>
                <a:cs typeface="Arial"/>
                <a:sym typeface="Arial"/>
              </a:rPr>
              <a:t>● Train-test split: 80-20 (48K train, 12K test)</a:t>
            </a:r>
            <a:endParaRPr sz="1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IN" sz="1500">
                <a:latin typeface="Arial"/>
                <a:ea typeface="Arial"/>
                <a:cs typeface="Arial"/>
                <a:sym typeface="Arial"/>
              </a:rPr>
              <a:t>Local client training:</a:t>
            </a:r>
            <a:br>
              <a:rPr lang="en-IN" sz="1500">
                <a:latin typeface="Arial"/>
                <a:ea typeface="Arial"/>
                <a:cs typeface="Arial"/>
                <a:sym typeface="Arial"/>
              </a:rPr>
            </a:br>
            <a:r>
              <a:rPr lang="en-IN" sz="1500">
                <a:latin typeface="Arial"/>
                <a:ea typeface="Arial"/>
                <a:cs typeface="Arial"/>
                <a:sym typeface="Arial"/>
              </a:rPr>
              <a:t>● Simple MLP: Input(9) → Dense(128) → Dense(64) → Output(5)</a:t>
            </a:r>
            <a:br>
              <a:rPr lang="en-IN" sz="1500">
                <a:latin typeface="Arial"/>
                <a:ea typeface="Arial"/>
                <a:cs typeface="Arial"/>
                <a:sym typeface="Arial"/>
              </a:rPr>
            </a:br>
            <a:r>
              <a:rPr lang="en-IN" sz="1500">
                <a:latin typeface="Arial"/>
                <a:ea typeface="Arial"/>
                <a:cs typeface="Arial"/>
                <a:sym typeface="Arial"/>
              </a:rPr>
              <a:t>● Optimizer: FedAdam (β₁=0.9, β₂=0.999)</a:t>
            </a:r>
            <a:br>
              <a:rPr lang="en-IN" sz="1500">
                <a:latin typeface="Arial"/>
                <a:ea typeface="Arial"/>
                <a:cs typeface="Arial"/>
                <a:sym typeface="Arial"/>
              </a:rPr>
            </a:br>
            <a:r>
              <a:rPr lang="en-IN" sz="1500">
                <a:latin typeface="Arial"/>
                <a:ea typeface="Arial"/>
                <a:cs typeface="Arial"/>
                <a:sym typeface="Arial"/>
              </a:rPr>
              <a:t>● Loss: Cross-Entropy with class weighting</a:t>
            </a:r>
            <a:endParaRPr sz="1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IN" sz="1500">
                <a:latin typeface="Arial"/>
                <a:ea typeface="Arial"/>
                <a:cs typeface="Arial"/>
                <a:sym typeface="Arial"/>
              </a:rPr>
              <a:t>Server aggregation:</a:t>
            </a:r>
            <a:br>
              <a:rPr lang="en-IN" sz="1500">
                <a:latin typeface="Arial"/>
                <a:ea typeface="Arial"/>
                <a:cs typeface="Arial"/>
                <a:sym typeface="Arial"/>
              </a:rPr>
            </a:br>
            <a:r>
              <a:rPr lang="en-IN" sz="1500">
                <a:latin typeface="Arial"/>
                <a:ea typeface="Arial"/>
                <a:cs typeface="Arial"/>
                <a:sym typeface="Arial"/>
              </a:rPr>
              <a:t>● FedAdam: Adaptive moment estimation at server (momentum + variance)</a:t>
            </a:r>
            <a:br>
              <a:rPr lang="en-IN" sz="1500">
                <a:latin typeface="Arial"/>
                <a:ea typeface="Arial"/>
                <a:cs typeface="Arial"/>
                <a:sym typeface="Arial"/>
              </a:rPr>
            </a:br>
            <a:r>
              <a:rPr lang="en-IN" sz="1500">
                <a:latin typeface="Arial"/>
                <a:ea typeface="Arial"/>
                <a:cs typeface="Arial"/>
                <a:sym typeface="Arial"/>
              </a:rPr>
              <a:t>● 20 rounds, 5 clients per round, CUDA acceleration</a:t>
            </a:r>
            <a:endParaRPr sz="1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IN" sz="1500">
                <a:latin typeface="Arial"/>
                <a:ea typeface="Arial"/>
                <a:cs typeface="Arial"/>
                <a:sym typeface="Arial"/>
              </a:rPr>
              <a:t>Global evaluation:</a:t>
            </a:r>
            <a:br>
              <a:rPr lang="en-IN" sz="1500">
                <a:latin typeface="Arial"/>
                <a:ea typeface="Arial"/>
                <a:cs typeface="Arial"/>
                <a:sym typeface="Arial"/>
              </a:rPr>
            </a:br>
            <a:r>
              <a:rPr lang="en-IN" sz="1500">
                <a:latin typeface="Arial"/>
                <a:ea typeface="Arial"/>
                <a:cs typeface="Arial"/>
                <a:sym typeface="Arial"/>
              </a:rPr>
              <a:t>● Test accuracy: 92.50% | Final loss: 0.2044</a:t>
            </a:r>
            <a:endParaRPr sz="1500">
              <a:latin typeface="Arial"/>
              <a:ea typeface="Arial"/>
              <a:cs typeface="Arial"/>
              <a:sym typeface="Arial"/>
            </a:endParaRPr>
          </a:p>
          <a:p>
            <a:pPr indent="0" lvl="0" marL="0" rtl="0" algn="l">
              <a:lnSpc>
                <a:spcPct val="90000"/>
              </a:lnSpc>
              <a:spcBef>
                <a:spcPts val="1000"/>
              </a:spcBef>
              <a:spcAft>
                <a:spcPts val="0"/>
              </a:spcAft>
              <a:buNone/>
            </a:pPr>
            <a:r>
              <a:t/>
            </a:r>
            <a:endParaRPr b="1" sz="1900">
              <a:latin typeface="Arial"/>
              <a:ea typeface="Arial"/>
              <a:cs typeface="Arial"/>
              <a:sym typeface="Arial"/>
            </a:endParaRPr>
          </a:p>
        </p:txBody>
      </p:sp>
      <p:pic>
        <p:nvPicPr>
          <p:cNvPr id="382" name="Google Shape;382;g3bd16a3255e_0_0"/>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83" name="Google Shape;383;g3bd16a3255e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84" name="Google Shape;384;g3bd16a3255e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3bd16a3255e_0_18"/>
          <p:cNvSpPr txBox="1"/>
          <p:nvPr>
            <p:ph type="title"/>
          </p:nvPr>
        </p:nvSpPr>
        <p:spPr>
          <a:xfrm>
            <a:off x="838200" y="490600"/>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600">
                <a:latin typeface="Arial"/>
                <a:ea typeface="Arial"/>
                <a:cs typeface="Arial"/>
                <a:sym typeface="Arial"/>
              </a:rPr>
              <a:t>Model Architecture (FedAdam)</a:t>
            </a:r>
            <a:endParaRPr b="1" sz="3600">
              <a:latin typeface="Arial"/>
              <a:ea typeface="Arial"/>
              <a:cs typeface="Arial"/>
              <a:sym typeface="Arial"/>
            </a:endParaRPr>
          </a:p>
        </p:txBody>
      </p:sp>
      <p:sp>
        <p:nvSpPr>
          <p:cNvPr id="391" name="Google Shape;391;g3bd16a3255e_0_18"/>
          <p:cNvSpPr txBox="1"/>
          <p:nvPr>
            <p:ph idx="1" type="body"/>
          </p:nvPr>
        </p:nvSpPr>
        <p:spPr>
          <a:xfrm>
            <a:off x="838200" y="1520625"/>
            <a:ext cx="10515600" cy="4660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600"/>
              </a:spcBef>
              <a:spcAft>
                <a:spcPts val="0"/>
              </a:spcAft>
              <a:buClr>
                <a:schemeClr val="dk1"/>
              </a:buClr>
              <a:buSzPts val="1100"/>
              <a:buFont typeface="Arial"/>
              <a:buNone/>
            </a:pPr>
            <a:r>
              <a:rPr b="1" lang="en-IN" sz="2200">
                <a:latin typeface="Arial"/>
                <a:ea typeface="Arial"/>
                <a:cs typeface="Arial"/>
                <a:sym typeface="Arial"/>
              </a:rPr>
              <a:t>Simple MLP (3 Layers):</a:t>
            </a:r>
            <a:endParaRPr b="1" sz="2200">
              <a:latin typeface="Arial"/>
              <a:ea typeface="Arial"/>
              <a:cs typeface="Arial"/>
              <a:sym typeface="Arial"/>
            </a:endParaRPr>
          </a:p>
          <a:p>
            <a:pPr indent="-336550" lvl="0" marL="457200" rtl="0" algn="l">
              <a:lnSpc>
                <a:spcPct val="115000"/>
              </a:lnSpc>
              <a:spcBef>
                <a:spcPts val="600"/>
              </a:spcBef>
              <a:spcAft>
                <a:spcPts val="0"/>
              </a:spcAft>
              <a:buSzPts val="1700"/>
              <a:buFont typeface="Arial"/>
              <a:buChar char="●"/>
            </a:pPr>
            <a:r>
              <a:rPr lang="en-IN" sz="2200">
                <a:latin typeface="Arial"/>
                <a:ea typeface="Arial"/>
                <a:cs typeface="Arial"/>
                <a:sym typeface="Arial"/>
              </a:rPr>
              <a:t>Input: 9 features (vitals + demographics)</a:t>
            </a:r>
            <a:endParaRPr sz="2200">
              <a:latin typeface="Arial"/>
              <a:ea typeface="Arial"/>
              <a:cs typeface="Arial"/>
              <a:sym typeface="Arial"/>
            </a:endParaRPr>
          </a:p>
          <a:p>
            <a:pPr indent="-336550" lvl="0" marL="457200" rtl="0" algn="l">
              <a:lnSpc>
                <a:spcPct val="115000"/>
              </a:lnSpc>
              <a:spcBef>
                <a:spcPts val="0"/>
              </a:spcBef>
              <a:spcAft>
                <a:spcPts val="0"/>
              </a:spcAft>
              <a:buSzPts val="1700"/>
              <a:buFont typeface="Arial"/>
              <a:buChar char="●"/>
            </a:pPr>
            <a:r>
              <a:rPr lang="en-IN" sz="2200">
                <a:latin typeface="Arial"/>
                <a:ea typeface="Arial"/>
                <a:cs typeface="Arial"/>
                <a:sym typeface="Arial"/>
              </a:rPr>
              <a:t>Hidden 1: 128 neurons, ReLU, Dropout(0.3)</a:t>
            </a:r>
            <a:endParaRPr sz="2200">
              <a:latin typeface="Arial"/>
              <a:ea typeface="Arial"/>
              <a:cs typeface="Arial"/>
              <a:sym typeface="Arial"/>
            </a:endParaRPr>
          </a:p>
          <a:p>
            <a:pPr indent="-336550" lvl="0" marL="457200" rtl="0" algn="l">
              <a:lnSpc>
                <a:spcPct val="115000"/>
              </a:lnSpc>
              <a:spcBef>
                <a:spcPts val="0"/>
              </a:spcBef>
              <a:spcAft>
                <a:spcPts val="0"/>
              </a:spcAft>
              <a:buSzPts val="1700"/>
              <a:buFont typeface="Arial"/>
              <a:buChar char="●"/>
            </a:pPr>
            <a:r>
              <a:rPr lang="en-IN" sz="2200">
                <a:latin typeface="Arial"/>
                <a:ea typeface="Arial"/>
                <a:cs typeface="Arial"/>
                <a:sym typeface="Arial"/>
              </a:rPr>
              <a:t>Hidden 2: 64 neurons, ReLU, Dropout(0.3)</a:t>
            </a:r>
            <a:endParaRPr sz="2200">
              <a:latin typeface="Arial"/>
              <a:ea typeface="Arial"/>
              <a:cs typeface="Arial"/>
              <a:sym typeface="Arial"/>
            </a:endParaRPr>
          </a:p>
          <a:p>
            <a:pPr indent="-336550" lvl="0" marL="457200" rtl="0" algn="l">
              <a:lnSpc>
                <a:spcPct val="115000"/>
              </a:lnSpc>
              <a:spcBef>
                <a:spcPts val="0"/>
              </a:spcBef>
              <a:spcAft>
                <a:spcPts val="0"/>
              </a:spcAft>
              <a:buSzPts val="1700"/>
              <a:buFont typeface="Arial"/>
              <a:buChar char="●"/>
            </a:pPr>
            <a:r>
              <a:rPr lang="en-IN" sz="2200">
                <a:latin typeface="Arial"/>
                <a:ea typeface="Arial"/>
                <a:cs typeface="Arial"/>
                <a:sym typeface="Arial"/>
              </a:rPr>
              <a:t>Output: 5 classes (Softmax)</a:t>
            </a:r>
            <a:endParaRPr sz="2200">
              <a:latin typeface="Arial"/>
              <a:ea typeface="Arial"/>
              <a:cs typeface="Arial"/>
              <a:sym typeface="Arial"/>
            </a:endParaRPr>
          </a:p>
          <a:p>
            <a:pPr indent="0" lvl="0" marL="0" rtl="0" algn="l">
              <a:lnSpc>
                <a:spcPct val="115000"/>
              </a:lnSpc>
              <a:spcBef>
                <a:spcPts val="600"/>
              </a:spcBef>
              <a:spcAft>
                <a:spcPts val="0"/>
              </a:spcAft>
              <a:buClr>
                <a:schemeClr val="dk1"/>
              </a:buClr>
              <a:buSzPts val="1100"/>
              <a:buFont typeface="Arial"/>
              <a:buNone/>
            </a:pPr>
            <a:r>
              <a:rPr b="1" lang="en-IN" sz="2200">
                <a:latin typeface="Arial"/>
                <a:ea typeface="Arial"/>
                <a:cs typeface="Arial"/>
                <a:sym typeface="Arial"/>
              </a:rPr>
              <a:t>Training Config:</a:t>
            </a:r>
            <a:endParaRPr b="1" sz="2200">
              <a:latin typeface="Arial"/>
              <a:ea typeface="Arial"/>
              <a:cs typeface="Arial"/>
              <a:sym typeface="Arial"/>
            </a:endParaRPr>
          </a:p>
          <a:p>
            <a:pPr indent="-336550" lvl="0" marL="457200" rtl="0" algn="l">
              <a:lnSpc>
                <a:spcPct val="115000"/>
              </a:lnSpc>
              <a:spcBef>
                <a:spcPts val="600"/>
              </a:spcBef>
              <a:spcAft>
                <a:spcPts val="0"/>
              </a:spcAft>
              <a:buSzPts val="1700"/>
              <a:buFont typeface="Arial"/>
              <a:buChar char="●"/>
            </a:pPr>
            <a:r>
              <a:rPr lang="en-IN" sz="2200">
                <a:latin typeface="Arial"/>
                <a:ea typeface="Arial"/>
                <a:cs typeface="Arial"/>
                <a:sym typeface="Arial"/>
              </a:rPr>
              <a:t>Optimizer: Adam (lr=1×10⁻³)</a:t>
            </a:r>
            <a:endParaRPr sz="2200">
              <a:latin typeface="Arial"/>
              <a:ea typeface="Arial"/>
              <a:cs typeface="Arial"/>
              <a:sym typeface="Arial"/>
            </a:endParaRPr>
          </a:p>
          <a:p>
            <a:pPr indent="-336550" lvl="0" marL="457200" rtl="0" algn="l">
              <a:lnSpc>
                <a:spcPct val="115000"/>
              </a:lnSpc>
              <a:spcBef>
                <a:spcPts val="0"/>
              </a:spcBef>
              <a:spcAft>
                <a:spcPts val="0"/>
              </a:spcAft>
              <a:buSzPts val="1700"/>
              <a:buFont typeface="Arial"/>
              <a:buChar char="●"/>
            </a:pPr>
            <a:r>
              <a:rPr lang="en-IN" sz="2200">
                <a:latin typeface="Arial"/>
                <a:ea typeface="Arial"/>
                <a:cs typeface="Arial"/>
                <a:sym typeface="Arial"/>
              </a:rPr>
              <a:t>Loss: Cross-Entropy</a:t>
            </a:r>
            <a:endParaRPr sz="2200">
              <a:latin typeface="Arial"/>
              <a:ea typeface="Arial"/>
              <a:cs typeface="Arial"/>
              <a:sym typeface="Arial"/>
            </a:endParaRPr>
          </a:p>
          <a:p>
            <a:pPr indent="-336550" lvl="0" marL="457200" rtl="0" algn="l">
              <a:lnSpc>
                <a:spcPct val="115000"/>
              </a:lnSpc>
              <a:spcBef>
                <a:spcPts val="0"/>
              </a:spcBef>
              <a:spcAft>
                <a:spcPts val="0"/>
              </a:spcAft>
              <a:buSzPts val="1700"/>
              <a:buFont typeface="Arial"/>
              <a:buChar char="●"/>
            </a:pPr>
            <a:r>
              <a:rPr lang="en-IN" sz="2200">
                <a:latin typeface="Arial"/>
                <a:ea typeface="Arial"/>
                <a:cs typeface="Arial"/>
                <a:sym typeface="Arial"/>
              </a:rPr>
              <a:t>Regularization: Dropout(0.3) + L2 decay</a:t>
            </a:r>
            <a:endParaRPr sz="2200">
              <a:latin typeface="Arial"/>
              <a:ea typeface="Arial"/>
              <a:cs typeface="Arial"/>
              <a:sym typeface="Arial"/>
            </a:endParaRPr>
          </a:p>
          <a:p>
            <a:pPr indent="-336550" lvl="0" marL="457200" rtl="0" algn="l">
              <a:lnSpc>
                <a:spcPct val="115000"/>
              </a:lnSpc>
              <a:spcBef>
                <a:spcPts val="0"/>
              </a:spcBef>
              <a:spcAft>
                <a:spcPts val="0"/>
              </a:spcAft>
              <a:buSzPts val="1700"/>
              <a:buFont typeface="Arial"/>
              <a:buChar char="●"/>
            </a:pPr>
            <a:r>
              <a:rPr lang="en-IN" sz="2200">
                <a:latin typeface="Arial"/>
                <a:ea typeface="Arial"/>
                <a:cs typeface="Arial"/>
                <a:sym typeface="Arial"/>
              </a:rPr>
              <a:t>Total params: ~13,000</a:t>
            </a:r>
            <a:endParaRPr sz="2100">
              <a:latin typeface="Arial"/>
              <a:ea typeface="Arial"/>
              <a:cs typeface="Arial"/>
              <a:sym typeface="Arial"/>
            </a:endParaRPr>
          </a:p>
        </p:txBody>
      </p:sp>
      <p:pic>
        <p:nvPicPr>
          <p:cNvPr id="392" name="Google Shape;392;g3bd16a3255e_0_18"/>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393" name="Google Shape;393;g3bd16a3255e_0_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394" name="Google Shape;394;g3bd16a3255e_0_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bd16a3255e_0_27"/>
          <p:cNvSpPr txBox="1"/>
          <p:nvPr>
            <p:ph type="title"/>
          </p:nvPr>
        </p:nvSpPr>
        <p:spPr>
          <a:xfrm>
            <a:off x="838200" y="589125"/>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b="1" lang="en-IN" sz="3559">
                <a:latin typeface="Arial"/>
                <a:ea typeface="Arial"/>
                <a:cs typeface="Arial"/>
                <a:sym typeface="Arial"/>
              </a:rPr>
              <a:t>Experimentation &amp; Results using FedAdam</a:t>
            </a:r>
            <a:endParaRPr b="1" sz="3200">
              <a:latin typeface="Arial"/>
              <a:ea typeface="Arial"/>
              <a:cs typeface="Arial"/>
              <a:sym typeface="Arial"/>
            </a:endParaRPr>
          </a:p>
        </p:txBody>
      </p:sp>
      <p:sp>
        <p:nvSpPr>
          <p:cNvPr id="401" name="Google Shape;401;g3bd16a3255e_0_27"/>
          <p:cNvSpPr txBox="1"/>
          <p:nvPr>
            <p:ph idx="1" type="body"/>
          </p:nvPr>
        </p:nvSpPr>
        <p:spPr>
          <a:xfrm>
            <a:off x="838200" y="1520625"/>
            <a:ext cx="10515600" cy="4660800"/>
          </a:xfrm>
          <a:prstGeom prst="rect">
            <a:avLst/>
          </a:prstGeom>
          <a:noFill/>
          <a:ln>
            <a:noFill/>
          </a:ln>
        </p:spPr>
        <p:txBody>
          <a:bodyPr anchorCtr="0" anchor="t" bIns="45700" lIns="91425" spcFirstLastPara="1" rIns="91425" wrap="square" tIns="45700">
            <a:noAutofit/>
          </a:bodyPr>
          <a:lstStyle/>
          <a:p>
            <a:pPr indent="0" lvl="0" marL="0" rtl="0" algn="l">
              <a:lnSpc>
                <a:spcPct val="171429"/>
              </a:lnSpc>
              <a:spcBef>
                <a:spcPts val="1100"/>
              </a:spcBef>
              <a:spcAft>
                <a:spcPts val="0"/>
              </a:spcAft>
              <a:buNone/>
            </a:pPr>
            <a:r>
              <a:rPr lang="en-IN" sz="2200">
                <a:solidFill>
                  <a:srgbClr val="000000"/>
                </a:solidFill>
                <a:latin typeface="Arial"/>
                <a:ea typeface="Arial"/>
                <a:cs typeface="Arial"/>
                <a:sym typeface="Arial"/>
              </a:rPr>
              <a:t>Final Accurac</a:t>
            </a:r>
            <a:r>
              <a:rPr lang="en-IN" sz="2200">
                <a:solidFill>
                  <a:srgbClr val="000000"/>
                </a:solidFill>
                <a:latin typeface="Arial"/>
                <a:ea typeface="Arial"/>
                <a:cs typeface="Arial"/>
                <a:sym typeface="Arial"/>
              </a:rPr>
              <a:t>y - </a:t>
            </a:r>
            <a:r>
              <a:rPr lang="en-IN" sz="2200">
                <a:solidFill>
                  <a:srgbClr val="000000"/>
                </a:solidFill>
                <a:latin typeface="Arial"/>
                <a:ea typeface="Arial"/>
                <a:cs typeface="Arial"/>
                <a:sym typeface="Arial"/>
              </a:rPr>
              <a:t>92.50%</a:t>
            </a:r>
            <a:endParaRPr sz="2200">
              <a:solidFill>
                <a:srgbClr val="000000"/>
              </a:solidFill>
              <a:latin typeface="Arial"/>
              <a:ea typeface="Arial"/>
              <a:cs typeface="Arial"/>
              <a:sym typeface="Arial"/>
            </a:endParaRPr>
          </a:p>
          <a:p>
            <a:pPr indent="0" lvl="0" marL="0" rtl="0" algn="l">
              <a:lnSpc>
                <a:spcPct val="171429"/>
              </a:lnSpc>
              <a:spcBef>
                <a:spcPts val="1100"/>
              </a:spcBef>
              <a:spcAft>
                <a:spcPts val="0"/>
              </a:spcAft>
              <a:buNone/>
            </a:pPr>
            <a:r>
              <a:rPr lang="en-IN" sz="2200">
                <a:solidFill>
                  <a:srgbClr val="000000"/>
                </a:solidFill>
                <a:latin typeface="Arial"/>
                <a:ea typeface="Arial"/>
                <a:cs typeface="Arial"/>
                <a:sym typeface="Arial"/>
              </a:rPr>
              <a:t>Final Loss - 0.2044</a:t>
            </a:r>
            <a:endParaRPr sz="2200">
              <a:solidFill>
                <a:srgbClr val="000000"/>
              </a:solidFill>
              <a:latin typeface="Arial"/>
              <a:ea typeface="Arial"/>
              <a:cs typeface="Arial"/>
              <a:sym typeface="Arial"/>
            </a:endParaRPr>
          </a:p>
          <a:p>
            <a:pPr indent="0" lvl="0" marL="0" rtl="0" algn="l">
              <a:lnSpc>
                <a:spcPct val="171429"/>
              </a:lnSpc>
              <a:spcBef>
                <a:spcPts val="1100"/>
              </a:spcBef>
              <a:spcAft>
                <a:spcPts val="0"/>
              </a:spcAft>
              <a:buNone/>
            </a:pPr>
            <a:r>
              <a:rPr lang="en-IN" sz="2200">
                <a:solidFill>
                  <a:srgbClr val="000000"/>
                </a:solidFill>
                <a:latin typeface="Arial"/>
                <a:ea typeface="Arial"/>
                <a:cs typeface="Arial"/>
                <a:sym typeface="Arial"/>
              </a:rPr>
              <a:t>Convergence - Round 3 (90% accuracy)</a:t>
            </a:r>
            <a:endParaRPr sz="2200">
              <a:latin typeface="Arial"/>
              <a:ea typeface="Arial"/>
              <a:cs typeface="Arial"/>
              <a:sym typeface="Arial"/>
            </a:endParaRPr>
          </a:p>
          <a:p>
            <a:pPr indent="0" lvl="0" marL="0" rtl="0" algn="l">
              <a:lnSpc>
                <a:spcPct val="115000"/>
              </a:lnSpc>
              <a:spcBef>
                <a:spcPts val="1100"/>
              </a:spcBef>
              <a:spcAft>
                <a:spcPts val="0"/>
              </a:spcAft>
              <a:buClr>
                <a:schemeClr val="dk1"/>
              </a:buClr>
              <a:buSzPts val="1100"/>
              <a:buFont typeface="Arial"/>
              <a:buNone/>
            </a:pPr>
            <a:r>
              <a:rPr lang="en-IN" sz="2200">
                <a:latin typeface="Arial"/>
                <a:ea typeface="Arial"/>
                <a:cs typeface="Arial"/>
                <a:sym typeface="Arial"/>
              </a:rPr>
              <a:t>Key Observations:</a:t>
            </a:r>
            <a:endParaRPr sz="2200">
              <a:latin typeface="Arial"/>
              <a:ea typeface="Arial"/>
              <a:cs typeface="Arial"/>
              <a:sym typeface="Arial"/>
            </a:endParaRPr>
          </a:p>
          <a:p>
            <a:pPr indent="-317500" lvl="0" marL="457200" rtl="0" algn="l">
              <a:lnSpc>
                <a:spcPct val="115000"/>
              </a:lnSpc>
              <a:spcBef>
                <a:spcPts val="600"/>
              </a:spcBef>
              <a:spcAft>
                <a:spcPts val="0"/>
              </a:spcAft>
              <a:buSzPts val="1400"/>
              <a:buFont typeface="Arial"/>
              <a:buChar char="●"/>
            </a:pPr>
            <a:r>
              <a:rPr lang="en-IN" sz="2200">
                <a:latin typeface="Arial"/>
                <a:ea typeface="Arial"/>
                <a:cs typeface="Arial"/>
                <a:sym typeface="Arial"/>
              </a:rPr>
              <a:t>Fastest convergence: 90% by round 3</a:t>
            </a:r>
            <a:endParaRPr sz="22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IN" sz="2200">
                <a:latin typeface="Arial"/>
                <a:ea typeface="Arial"/>
                <a:cs typeface="Arial"/>
                <a:sym typeface="Arial"/>
              </a:rPr>
              <a:t>Stable loss reduction: 1.5 → 0.2</a:t>
            </a:r>
            <a:endParaRPr sz="22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IN" sz="2200">
                <a:latin typeface="Arial"/>
                <a:ea typeface="Arial"/>
                <a:cs typeface="Arial"/>
                <a:sym typeface="Arial"/>
              </a:rPr>
              <a:t>Effective non-IID handling across 5 clients</a:t>
            </a:r>
            <a:endParaRPr sz="2400">
              <a:latin typeface="Arial"/>
              <a:ea typeface="Arial"/>
              <a:cs typeface="Arial"/>
              <a:sym typeface="Arial"/>
            </a:endParaRPr>
          </a:p>
        </p:txBody>
      </p:sp>
      <p:pic>
        <p:nvPicPr>
          <p:cNvPr id="402" name="Google Shape;402;g3bd16a3255e_0_27"/>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403" name="Google Shape;403;g3bd16a3255e_0_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404" name="Google Shape;404;g3bd16a3255e_0_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bd16a3255e_0_79"/>
          <p:cNvSpPr txBox="1"/>
          <p:nvPr>
            <p:ph idx="4294967295" type="title"/>
          </p:nvPr>
        </p:nvSpPr>
        <p:spPr>
          <a:xfrm>
            <a:off x="838200" y="589125"/>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a:t>Experimentation &amp; Results</a:t>
            </a:r>
            <a:endParaRPr b="1" sz="4000">
              <a:latin typeface="Arial"/>
              <a:ea typeface="Arial"/>
              <a:cs typeface="Arial"/>
              <a:sym typeface="Arial"/>
            </a:endParaRPr>
          </a:p>
        </p:txBody>
      </p:sp>
      <p:pic>
        <p:nvPicPr>
          <p:cNvPr id="411" name="Google Shape;411;g3bd16a3255e_0_79"/>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412" name="Google Shape;412;g3bd16a3255e_0_7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413" name="Google Shape;413;g3bd16a3255e_0_7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pic>
        <p:nvPicPr>
          <p:cNvPr id="414" name="Google Shape;414;g3bd16a3255e_0_79" title="fedadam1.jpeg"/>
          <p:cNvPicPr preferRelativeResize="0"/>
          <p:nvPr/>
        </p:nvPicPr>
        <p:blipFill rotWithShape="1">
          <a:blip r:embed="rId4">
            <a:alphaModFix/>
          </a:blip>
          <a:srcRect b="2409" l="5860" r="6803" t="7002"/>
          <a:stretch/>
        </p:blipFill>
        <p:spPr>
          <a:xfrm>
            <a:off x="281375" y="2092562"/>
            <a:ext cx="5668225" cy="3516925"/>
          </a:xfrm>
          <a:prstGeom prst="rect">
            <a:avLst/>
          </a:prstGeom>
          <a:noFill/>
          <a:ln>
            <a:noFill/>
          </a:ln>
        </p:spPr>
      </p:pic>
      <p:pic>
        <p:nvPicPr>
          <p:cNvPr id="415" name="Google Shape;415;g3bd16a3255e_0_79" title="fedadam.jpeg"/>
          <p:cNvPicPr preferRelativeResize="0"/>
          <p:nvPr/>
        </p:nvPicPr>
        <p:blipFill>
          <a:blip r:embed="rId5">
            <a:alphaModFix/>
          </a:blip>
          <a:stretch>
            <a:fillRect/>
          </a:stretch>
        </p:blipFill>
        <p:spPr>
          <a:xfrm>
            <a:off x="6306800" y="1944150"/>
            <a:ext cx="5966924" cy="381378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bcf4afe8ba_1_28"/>
          <p:cNvSpPr txBox="1"/>
          <p:nvPr>
            <p:ph type="title"/>
          </p:nvPr>
        </p:nvSpPr>
        <p:spPr>
          <a:xfrm>
            <a:off x="838200" y="490600"/>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600">
                <a:latin typeface="Arial"/>
                <a:ea typeface="Arial"/>
                <a:cs typeface="Arial"/>
                <a:sym typeface="Arial"/>
              </a:rPr>
              <a:t>Outcomes using FedAdam</a:t>
            </a:r>
            <a:endParaRPr b="1" sz="3600">
              <a:latin typeface="Arial"/>
              <a:ea typeface="Arial"/>
              <a:cs typeface="Arial"/>
              <a:sym typeface="Arial"/>
            </a:endParaRPr>
          </a:p>
        </p:txBody>
      </p:sp>
      <p:sp>
        <p:nvSpPr>
          <p:cNvPr id="422" name="Google Shape;422;g3bcf4afe8ba_1_28"/>
          <p:cNvSpPr txBox="1"/>
          <p:nvPr>
            <p:ph idx="1" type="body"/>
          </p:nvPr>
        </p:nvSpPr>
        <p:spPr>
          <a:xfrm>
            <a:off x="838200" y="1520625"/>
            <a:ext cx="10515600" cy="4660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None/>
            </a:pPr>
            <a:r>
              <a:rPr b="1" lang="en-IN" sz="2300">
                <a:latin typeface="Arial"/>
                <a:ea typeface="Arial"/>
                <a:cs typeface="Arial"/>
                <a:sym typeface="Arial"/>
              </a:rPr>
              <a:t>Strengths:</a:t>
            </a:r>
            <a:br>
              <a:rPr lang="en-IN" sz="2300">
                <a:latin typeface="Arial"/>
                <a:ea typeface="Arial"/>
                <a:cs typeface="Arial"/>
                <a:sym typeface="Arial"/>
              </a:rPr>
            </a:br>
            <a:r>
              <a:rPr lang="en-IN" sz="2300">
                <a:latin typeface="Arial"/>
                <a:ea typeface="Arial"/>
                <a:cs typeface="Arial"/>
                <a:sym typeface="Arial"/>
              </a:rPr>
              <a:t>- F</a:t>
            </a:r>
            <a:r>
              <a:rPr lang="en-IN" sz="2300">
                <a:latin typeface="Arial"/>
                <a:ea typeface="Arial"/>
                <a:cs typeface="Arial"/>
                <a:sym typeface="Arial"/>
              </a:rPr>
              <a:t>astest convergence: Round 3 vs round 8-10 for others</a:t>
            </a:r>
            <a:br>
              <a:rPr lang="en-IN" sz="2300">
                <a:latin typeface="Arial"/>
                <a:ea typeface="Arial"/>
                <a:cs typeface="Arial"/>
                <a:sym typeface="Arial"/>
              </a:rPr>
            </a:br>
            <a:r>
              <a:rPr lang="en-IN" sz="2300">
                <a:latin typeface="Arial"/>
                <a:ea typeface="Arial"/>
                <a:cs typeface="Arial"/>
                <a:sym typeface="Arial"/>
              </a:rPr>
              <a:t>- Adaptive server-side learning (momentum + variance)</a:t>
            </a:r>
            <a:br>
              <a:rPr lang="en-IN" sz="2300">
                <a:latin typeface="Arial"/>
                <a:ea typeface="Arial"/>
                <a:cs typeface="Arial"/>
                <a:sym typeface="Arial"/>
              </a:rPr>
            </a:br>
            <a:r>
              <a:rPr lang="en-IN" sz="2300">
                <a:latin typeface="Arial"/>
                <a:ea typeface="Arial"/>
                <a:cs typeface="Arial"/>
                <a:sym typeface="Arial"/>
              </a:rPr>
              <a:t>- Edge-friendly: &lt;1MB model size</a:t>
            </a:r>
            <a:endParaRPr sz="2300">
              <a:latin typeface="Arial"/>
              <a:ea typeface="Arial"/>
              <a:cs typeface="Arial"/>
              <a:sym typeface="Arial"/>
            </a:endParaRPr>
          </a:p>
          <a:p>
            <a:pPr indent="0" lvl="0" marL="0" rtl="0" algn="l">
              <a:lnSpc>
                <a:spcPct val="115000"/>
              </a:lnSpc>
              <a:spcBef>
                <a:spcPts val="1800"/>
              </a:spcBef>
              <a:spcAft>
                <a:spcPts val="0"/>
              </a:spcAft>
              <a:buNone/>
            </a:pPr>
            <a:r>
              <a:t/>
            </a:r>
            <a:endParaRPr sz="2300">
              <a:latin typeface="Arial"/>
              <a:ea typeface="Arial"/>
              <a:cs typeface="Arial"/>
              <a:sym typeface="Arial"/>
            </a:endParaRPr>
          </a:p>
          <a:p>
            <a:pPr indent="0" lvl="0" marL="0" rtl="0" algn="l">
              <a:lnSpc>
                <a:spcPct val="115000"/>
              </a:lnSpc>
              <a:spcBef>
                <a:spcPts val="1200"/>
              </a:spcBef>
              <a:spcAft>
                <a:spcPts val="600"/>
              </a:spcAft>
              <a:buClr>
                <a:schemeClr val="dk1"/>
              </a:buClr>
              <a:buSzPts val="1100"/>
              <a:buFont typeface="Arial"/>
              <a:buNone/>
            </a:pPr>
            <a:r>
              <a:rPr b="1" lang="en-IN" sz="2300">
                <a:latin typeface="Arial"/>
                <a:ea typeface="Arial"/>
                <a:cs typeface="Arial"/>
                <a:sym typeface="Arial"/>
              </a:rPr>
              <a:t>Performance:</a:t>
            </a:r>
            <a:br>
              <a:rPr lang="en-IN" sz="2300">
                <a:latin typeface="Arial"/>
                <a:ea typeface="Arial"/>
                <a:cs typeface="Arial"/>
                <a:sym typeface="Arial"/>
              </a:rPr>
            </a:br>
            <a:r>
              <a:rPr lang="en-IN" sz="1200">
                <a:latin typeface="Arial"/>
                <a:ea typeface="Arial"/>
                <a:cs typeface="Arial"/>
                <a:sym typeface="Arial"/>
              </a:rPr>
              <a:t>●  </a:t>
            </a:r>
            <a:r>
              <a:rPr lang="en-IN" sz="2300">
                <a:latin typeface="Arial"/>
                <a:ea typeface="Arial"/>
                <a:cs typeface="Arial"/>
                <a:sym typeface="Arial"/>
              </a:rPr>
              <a:t>92.50% accuracy for 5-class disease prediction</a:t>
            </a:r>
            <a:br>
              <a:rPr lang="en-IN" sz="2300">
                <a:latin typeface="Arial"/>
                <a:ea typeface="Arial"/>
                <a:cs typeface="Arial"/>
                <a:sym typeface="Arial"/>
              </a:rPr>
            </a:br>
            <a:r>
              <a:rPr lang="en-IN" sz="1300">
                <a:latin typeface="Arial"/>
                <a:ea typeface="Arial"/>
                <a:cs typeface="Arial"/>
                <a:sym typeface="Arial"/>
              </a:rPr>
              <a:t>● </a:t>
            </a:r>
            <a:r>
              <a:rPr lang="en-IN" sz="2300">
                <a:latin typeface="Arial"/>
                <a:ea typeface="Arial"/>
                <a:cs typeface="Arial"/>
                <a:sym typeface="Arial"/>
              </a:rPr>
              <a:t>Rapid deployment capability (3 rounds to 90%)</a:t>
            </a:r>
            <a:br>
              <a:rPr lang="en-IN" sz="2300">
                <a:latin typeface="Arial"/>
                <a:ea typeface="Arial"/>
                <a:cs typeface="Arial"/>
                <a:sym typeface="Arial"/>
              </a:rPr>
            </a:br>
            <a:r>
              <a:rPr lang="en-IN" sz="1300">
                <a:latin typeface="Arial"/>
                <a:ea typeface="Arial"/>
                <a:cs typeface="Arial"/>
                <a:sym typeface="Arial"/>
              </a:rPr>
              <a:t>● </a:t>
            </a:r>
            <a:r>
              <a:rPr lang="en-IN" sz="2300">
                <a:latin typeface="Arial"/>
                <a:ea typeface="Arial"/>
                <a:cs typeface="Arial"/>
                <a:sym typeface="Arial"/>
              </a:rPr>
              <a:t>Suitable for time-constrained clinical scenarios</a:t>
            </a:r>
            <a:endParaRPr b="1" sz="1000">
              <a:latin typeface="Arial"/>
              <a:ea typeface="Arial"/>
              <a:cs typeface="Arial"/>
              <a:sym typeface="Arial"/>
            </a:endParaRPr>
          </a:p>
        </p:txBody>
      </p:sp>
      <p:pic>
        <p:nvPicPr>
          <p:cNvPr id="423" name="Google Shape;423;g3bcf4afe8ba_1_28"/>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424" name="Google Shape;424;g3bcf4afe8ba_1_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425" name="Google Shape;425;g3bcf4afe8ba_1_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bd16a3255e_0_58"/>
          <p:cNvSpPr txBox="1"/>
          <p:nvPr>
            <p:ph type="title"/>
          </p:nvPr>
        </p:nvSpPr>
        <p:spPr>
          <a:xfrm>
            <a:off x="838200" y="365125"/>
            <a:ext cx="10515600" cy="1235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600">
                <a:latin typeface="Arial"/>
                <a:ea typeface="Arial"/>
                <a:cs typeface="Arial"/>
                <a:sym typeface="Arial"/>
              </a:rPr>
              <a:t>Comparison between all the methods</a:t>
            </a:r>
            <a:endParaRPr b="1" sz="3600">
              <a:latin typeface="Arial"/>
              <a:ea typeface="Arial"/>
              <a:cs typeface="Arial"/>
              <a:sym typeface="Arial"/>
            </a:endParaRPr>
          </a:p>
        </p:txBody>
      </p:sp>
      <p:pic>
        <p:nvPicPr>
          <p:cNvPr id="432" name="Google Shape;432;g3bd16a3255e_0_58"/>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433" name="Google Shape;433;g3bd16a3255e_0_5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434" name="Google Shape;434;g3bd16a3255e_0_5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435" name="Google Shape;435;g3bd16a3255e_0_58"/>
          <p:cNvGraphicFramePr/>
          <p:nvPr/>
        </p:nvGraphicFramePr>
        <p:xfrm>
          <a:off x="952500" y="1520625"/>
          <a:ext cx="3000000" cy="3000000"/>
        </p:xfrm>
        <a:graphic>
          <a:graphicData uri="http://schemas.openxmlformats.org/drawingml/2006/table">
            <a:tbl>
              <a:tblPr>
                <a:noFill/>
                <a:tableStyleId>{F9423510-A241-49EB-94F7-8464A1D09D61}</a:tableStyleId>
              </a:tblPr>
              <a:tblGrid>
                <a:gridCol w="2571750"/>
                <a:gridCol w="2571750"/>
                <a:gridCol w="2571750"/>
                <a:gridCol w="2571750"/>
              </a:tblGrid>
              <a:tr h="677675">
                <a:tc>
                  <a:txBody>
                    <a:bodyPr/>
                    <a:lstStyle/>
                    <a:p>
                      <a:pPr indent="0" lvl="0" marL="0" rtl="0" algn="l">
                        <a:spcBef>
                          <a:spcPts val="0"/>
                        </a:spcBef>
                        <a:spcAft>
                          <a:spcPts val="0"/>
                        </a:spcAft>
                        <a:buNone/>
                      </a:pPr>
                      <a:r>
                        <a:rPr b="1" lang="en-IN" sz="2500"/>
                        <a:t>Metric</a:t>
                      </a:r>
                      <a:endParaRPr b="1" sz="2500"/>
                    </a:p>
                  </a:txBody>
                  <a:tcPr marT="91425" marB="91425" marR="91425" marL="91425"/>
                </a:tc>
                <a:tc>
                  <a:txBody>
                    <a:bodyPr/>
                    <a:lstStyle/>
                    <a:p>
                      <a:pPr indent="0" lvl="0" marL="0" rtl="0" algn="l">
                        <a:spcBef>
                          <a:spcPts val="0"/>
                        </a:spcBef>
                        <a:spcAft>
                          <a:spcPts val="0"/>
                        </a:spcAft>
                        <a:buNone/>
                      </a:pPr>
                      <a:r>
                        <a:rPr b="1" lang="en-IN" sz="2500"/>
                        <a:t>FedAvg</a:t>
                      </a:r>
                      <a:endParaRPr b="1" sz="2500"/>
                    </a:p>
                  </a:txBody>
                  <a:tcPr marT="91425" marB="91425" marR="91425" marL="91425"/>
                </a:tc>
                <a:tc>
                  <a:txBody>
                    <a:bodyPr/>
                    <a:lstStyle/>
                    <a:p>
                      <a:pPr indent="0" lvl="0" marL="0" rtl="0" algn="l">
                        <a:spcBef>
                          <a:spcPts val="0"/>
                        </a:spcBef>
                        <a:spcAft>
                          <a:spcPts val="0"/>
                        </a:spcAft>
                        <a:buNone/>
                      </a:pPr>
                      <a:r>
                        <a:rPr b="1" lang="en-IN" sz="2500"/>
                        <a:t>FedProx</a:t>
                      </a:r>
                      <a:endParaRPr b="1" sz="2500"/>
                    </a:p>
                  </a:txBody>
                  <a:tcPr marT="91425" marB="91425" marR="91425" marL="91425"/>
                </a:tc>
                <a:tc>
                  <a:txBody>
                    <a:bodyPr/>
                    <a:lstStyle/>
                    <a:p>
                      <a:pPr indent="0" lvl="0" marL="0" rtl="0" algn="l">
                        <a:spcBef>
                          <a:spcPts val="0"/>
                        </a:spcBef>
                        <a:spcAft>
                          <a:spcPts val="0"/>
                        </a:spcAft>
                        <a:buNone/>
                      </a:pPr>
                      <a:r>
                        <a:rPr b="1" lang="en-IN" sz="2500"/>
                        <a:t>FedAdam</a:t>
                      </a:r>
                      <a:endParaRPr b="1" sz="2500"/>
                    </a:p>
                  </a:txBody>
                  <a:tcPr marT="91425" marB="91425" marR="91425" marL="91425"/>
                </a:tc>
              </a:tr>
              <a:tr h="677675">
                <a:tc>
                  <a:txBody>
                    <a:bodyPr/>
                    <a:lstStyle/>
                    <a:p>
                      <a:pPr indent="0" lvl="0" marL="0" rtl="0" algn="l">
                        <a:spcBef>
                          <a:spcPts val="0"/>
                        </a:spcBef>
                        <a:spcAft>
                          <a:spcPts val="0"/>
                        </a:spcAft>
                        <a:buNone/>
                      </a:pPr>
                      <a:r>
                        <a:rPr lang="en-IN" sz="2500"/>
                        <a:t>Accuracy</a:t>
                      </a:r>
                      <a:endParaRPr sz="2500"/>
                    </a:p>
                  </a:txBody>
                  <a:tcPr marT="91425" marB="91425" marR="91425" marL="91425"/>
                </a:tc>
                <a:tc>
                  <a:txBody>
                    <a:bodyPr/>
                    <a:lstStyle/>
                    <a:p>
                      <a:pPr indent="0" lvl="0" marL="0" rtl="0" algn="l">
                        <a:spcBef>
                          <a:spcPts val="0"/>
                        </a:spcBef>
                        <a:spcAft>
                          <a:spcPts val="0"/>
                        </a:spcAft>
                        <a:buNone/>
                      </a:pPr>
                      <a:r>
                        <a:rPr b="1" lang="en-IN" sz="2150">
                          <a:solidFill>
                            <a:schemeClr val="dk1"/>
                          </a:solidFill>
                        </a:rPr>
                        <a:t>94.14% </a:t>
                      </a:r>
                      <a:endParaRPr b="1" sz="2500"/>
                    </a:p>
                  </a:txBody>
                  <a:tcPr marT="91425" marB="91425" marR="91425" marL="91425"/>
                </a:tc>
                <a:tc>
                  <a:txBody>
                    <a:bodyPr/>
                    <a:lstStyle/>
                    <a:p>
                      <a:pPr indent="0" lvl="0" marL="0" rtl="0" algn="l">
                        <a:spcBef>
                          <a:spcPts val="0"/>
                        </a:spcBef>
                        <a:spcAft>
                          <a:spcPts val="0"/>
                        </a:spcAft>
                        <a:buNone/>
                      </a:pPr>
                      <a:r>
                        <a:rPr lang="en-IN" sz="2150">
                          <a:solidFill>
                            <a:schemeClr val="dk1"/>
                          </a:solidFill>
                        </a:rPr>
                        <a:t>93.81%</a:t>
                      </a:r>
                      <a:endParaRPr sz="2500"/>
                    </a:p>
                  </a:txBody>
                  <a:tcPr marT="91425" marB="91425" marR="91425" marL="91425"/>
                </a:tc>
                <a:tc>
                  <a:txBody>
                    <a:bodyPr/>
                    <a:lstStyle/>
                    <a:p>
                      <a:pPr indent="0" lvl="0" marL="0" rtl="0" algn="l">
                        <a:spcBef>
                          <a:spcPts val="0"/>
                        </a:spcBef>
                        <a:spcAft>
                          <a:spcPts val="0"/>
                        </a:spcAft>
                        <a:buNone/>
                      </a:pPr>
                      <a:r>
                        <a:rPr lang="en-IN" sz="2150">
                          <a:solidFill>
                            <a:schemeClr val="dk1"/>
                          </a:solidFill>
                        </a:rPr>
                        <a:t>92.50%</a:t>
                      </a:r>
                      <a:endParaRPr sz="2500"/>
                    </a:p>
                  </a:txBody>
                  <a:tcPr marT="91425" marB="91425" marR="91425" marL="91425"/>
                </a:tc>
              </a:tr>
              <a:tr h="677675">
                <a:tc>
                  <a:txBody>
                    <a:bodyPr/>
                    <a:lstStyle/>
                    <a:p>
                      <a:pPr indent="0" lvl="0" marL="0" rtl="0" algn="l">
                        <a:spcBef>
                          <a:spcPts val="0"/>
                        </a:spcBef>
                        <a:spcAft>
                          <a:spcPts val="0"/>
                        </a:spcAft>
                        <a:buNone/>
                      </a:pPr>
                      <a:r>
                        <a:rPr lang="en-IN" sz="2500"/>
                        <a:t>Loss</a:t>
                      </a:r>
                      <a:endParaRPr sz="2500"/>
                    </a:p>
                  </a:txBody>
                  <a:tcPr marT="91425" marB="91425" marR="91425" marL="91425"/>
                </a:tc>
                <a:tc>
                  <a:txBody>
                    <a:bodyPr/>
                    <a:lstStyle/>
                    <a:p>
                      <a:pPr indent="0" lvl="0" marL="0" rtl="0" algn="l">
                        <a:spcBef>
                          <a:spcPts val="0"/>
                        </a:spcBef>
                        <a:spcAft>
                          <a:spcPts val="0"/>
                        </a:spcAft>
                        <a:buNone/>
                      </a:pPr>
                      <a:r>
                        <a:rPr b="1" lang="en-IN" sz="2150">
                          <a:solidFill>
                            <a:schemeClr val="dk1"/>
                          </a:solidFill>
                        </a:rPr>
                        <a:t>0.1473 </a:t>
                      </a:r>
                      <a:endParaRPr b="1" sz="2500"/>
                    </a:p>
                  </a:txBody>
                  <a:tcPr marT="91425" marB="91425" marR="91425" marL="91425"/>
                </a:tc>
                <a:tc>
                  <a:txBody>
                    <a:bodyPr/>
                    <a:lstStyle/>
                    <a:p>
                      <a:pPr indent="0" lvl="0" marL="0" rtl="0" algn="l">
                        <a:spcBef>
                          <a:spcPts val="0"/>
                        </a:spcBef>
                        <a:spcAft>
                          <a:spcPts val="0"/>
                        </a:spcAft>
                        <a:buNone/>
                      </a:pPr>
                      <a:r>
                        <a:rPr lang="en-IN" sz="2150">
                          <a:solidFill>
                            <a:schemeClr val="dk1"/>
                          </a:solidFill>
                        </a:rPr>
                        <a:t>0.1591</a:t>
                      </a:r>
                      <a:endParaRPr sz="2500"/>
                    </a:p>
                  </a:txBody>
                  <a:tcPr marT="91425" marB="91425" marR="91425" marL="91425"/>
                </a:tc>
                <a:tc>
                  <a:txBody>
                    <a:bodyPr/>
                    <a:lstStyle/>
                    <a:p>
                      <a:pPr indent="0" lvl="0" marL="0" rtl="0" algn="l">
                        <a:spcBef>
                          <a:spcPts val="0"/>
                        </a:spcBef>
                        <a:spcAft>
                          <a:spcPts val="0"/>
                        </a:spcAft>
                        <a:buNone/>
                      </a:pPr>
                      <a:r>
                        <a:rPr lang="en-IN" sz="2150">
                          <a:solidFill>
                            <a:schemeClr val="dk1"/>
                          </a:solidFill>
                        </a:rPr>
                        <a:t>0.2044</a:t>
                      </a:r>
                      <a:endParaRPr sz="2500"/>
                    </a:p>
                  </a:txBody>
                  <a:tcPr marT="91425" marB="91425" marR="91425" marL="91425"/>
                </a:tc>
              </a:tr>
              <a:tr h="677675">
                <a:tc>
                  <a:txBody>
                    <a:bodyPr/>
                    <a:lstStyle/>
                    <a:p>
                      <a:pPr indent="0" lvl="0" marL="0" rtl="0" algn="l">
                        <a:spcBef>
                          <a:spcPts val="0"/>
                        </a:spcBef>
                        <a:spcAft>
                          <a:spcPts val="0"/>
                        </a:spcAft>
                        <a:buNone/>
                      </a:pPr>
                      <a:r>
                        <a:rPr lang="en-IN" sz="2500"/>
                        <a:t>Convergence</a:t>
                      </a:r>
                      <a:endParaRPr sz="2500"/>
                    </a:p>
                  </a:txBody>
                  <a:tcPr marT="91425" marB="91425" marR="91425" marL="91425"/>
                </a:tc>
                <a:tc>
                  <a:txBody>
                    <a:bodyPr/>
                    <a:lstStyle/>
                    <a:p>
                      <a:pPr indent="0" lvl="0" marL="0" rtl="0" algn="l">
                        <a:spcBef>
                          <a:spcPts val="0"/>
                        </a:spcBef>
                        <a:spcAft>
                          <a:spcPts val="0"/>
                        </a:spcAft>
                        <a:buNone/>
                      </a:pPr>
                      <a:r>
                        <a:rPr lang="en-IN" sz="2150">
                          <a:solidFill>
                            <a:schemeClr val="dk1"/>
                          </a:solidFill>
                        </a:rPr>
                        <a:t>Round 10</a:t>
                      </a:r>
                      <a:endParaRPr sz="2500"/>
                    </a:p>
                  </a:txBody>
                  <a:tcPr marT="91425" marB="91425" marR="91425" marL="91425"/>
                </a:tc>
                <a:tc>
                  <a:txBody>
                    <a:bodyPr/>
                    <a:lstStyle/>
                    <a:p>
                      <a:pPr indent="0" lvl="0" marL="0" rtl="0" algn="l">
                        <a:spcBef>
                          <a:spcPts val="0"/>
                        </a:spcBef>
                        <a:spcAft>
                          <a:spcPts val="0"/>
                        </a:spcAft>
                        <a:buNone/>
                      </a:pPr>
                      <a:r>
                        <a:rPr lang="en-IN" sz="2150">
                          <a:solidFill>
                            <a:schemeClr val="dk1"/>
                          </a:solidFill>
                        </a:rPr>
                        <a:t>Round 8</a:t>
                      </a:r>
                      <a:endParaRPr sz="2500"/>
                    </a:p>
                  </a:txBody>
                  <a:tcPr marT="91425" marB="91425" marR="91425" marL="91425"/>
                </a:tc>
                <a:tc>
                  <a:txBody>
                    <a:bodyPr/>
                    <a:lstStyle/>
                    <a:p>
                      <a:pPr indent="0" lvl="0" marL="0" rtl="0" algn="l">
                        <a:spcBef>
                          <a:spcPts val="0"/>
                        </a:spcBef>
                        <a:spcAft>
                          <a:spcPts val="0"/>
                        </a:spcAft>
                        <a:buNone/>
                      </a:pPr>
                      <a:r>
                        <a:rPr b="1" lang="en-IN" sz="2150">
                          <a:solidFill>
                            <a:schemeClr val="dk1"/>
                          </a:solidFill>
                        </a:rPr>
                        <a:t>Round 3 </a:t>
                      </a:r>
                      <a:endParaRPr b="1" sz="2500"/>
                    </a:p>
                  </a:txBody>
                  <a:tcPr marT="91425" marB="91425" marR="91425" marL="91425"/>
                </a:tc>
              </a:tr>
              <a:tr h="677675">
                <a:tc>
                  <a:txBody>
                    <a:bodyPr/>
                    <a:lstStyle/>
                    <a:p>
                      <a:pPr indent="0" lvl="0" marL="0" rtl="0" algn="l">
                        <a:spcBef>
                          <a:spcPts val="0"/>
                        </a:spcBef>
                        <a:spcAft>
                          <a:spcPts val="0"/>
                        </a:spcAft>
                        <a:buNone/>
                      </a:pPr>
                      <a:r>
                        <a:rPr lang="en-IN" sz="2500"/>
                        <a:t>Best for</a:t>
                      </a:r>
                      <a:endParaRPr sz="2500"/>
                    </a:p>
                  </a:txBody>
                  <a:tcPr marT="91425" marB="91425" marR="91425" marL="91425"/>
                </a:tc>
                <a:tc>
                  <a:txBody>
                    <a:bodyPr/>
                    <a:lstStyle/>
                    <a:p>
                      <a:pPr indent="0" lvl="0" marL="0" rtl="0" algn="l">
                        <a:spcBef>
                          <a:spcPts val="0"/>
                        </a:spcBef>
                        <a:spcAft>
                          <a:spcPts val="0"/>
                        </a:spcAft>
                        <a:buNone/>
                      </a:pPr>
                      <a:r>
                        <a:rPr lang="en-IN" sz="2150">
                          <a:solidFill>
                            <a:schemeClr val="dk1"/>
                          </a:solidFill>
                        </a:rPr>
                        <a:t>General</a:t>
                      </a:r>
                      <a:endParaRPr sz="2500"/>
                    </a:p>
                  </a:txBody>
                  <a:tcPr marT="91425" marB="91425" marR="91425" marL="91425"/>
                </a:tc>
                <a:tc>
                  <a:txBody>
                    <a:bodyPr/>
                    <a:lstStyle/>
                    <a:p>
                      <a:pPr indent="0" lvl="0" marL="0" rtl="0" algn="l">
                        <a:spcBef>
                          <a:spcPts val="0"/>
                        </a:spcBef>
                        <a:spcAft>
                          <a:spcPts val="0"/>
                        </a:spcAft>
                        <a:buNone/>
                      </a:pPr>
                      <a:r>
                        <a:rPr lang="en-IN" sz="2150">
                          <a:solidFill>
                            <a:schemeClr val="dk1"/>
                          </a:solidFill>
                        </a:rPr>
                        <a:t>Non-IID</a:t>
                      </a:r>
                      <a:endParaRPr sz="2500"/>
                    </a:p>
                  </a:txBody>
                  <a:tcPr marT="91425" marB="91425" marR="91425" marL="91425"/>
                </a:tc>
                <a:tc>
                  <a:txBody>
                    <a:bodyPr/>
                    <a:lstStyle/>
                    <a:p>
                      <a:pPr indent="0" lvl="0" marL="0" rtl="0" algn="l">
                        <a:spcBef>
                          <a:spcPts val="0"/>
                        </a:spcBef>
                        <a:spcAft>
                          <a:spcPts val="0"/>
                        </a:spcAft>
                        <a:buNone/>
                      </a:pPr>
                      <a:r>
                        <a:rPr lang="en-IN" sz="2150">
                          <a:solidFill>
                            <a:schemeClr val="dk1"/>
                          </a:solidFill>
                        </a:rPr>
                        <a:t>Speed</a:t>
                      </a:r>
                      <a:endParaRPr sz="2500"/>
                    </a:p>
                  </a:txBody>
                  <a:tcPr marT="91425" marB="91425" marR="91425" marL="91425"/>
                </a:tc>
              </a:tr>
            </a:tbl>
          </a:graphicData>
        </a:graphic>
      </p:graphicFrame>
      <p:sp>
        <p:nvSpPr>
          <p:cNvPr id="436" name="Google Shape;436;g3bd16a3255e_0_58"/>
          <p:cNvSpPr txBox="1"/>
          <p:nvPr>
            <p:ph idx="1" type="body"/>
          </p:nvPr>
        </p:nvSpPr>
        <p:spPr>
          <a:xfrm>
            <a:off x="838200" y="5111625"/>
            <a:ext cx="10515600" cy="12351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rPr lang="en-IN" sz="1661">
                <a:latin typeface="Arial"/>
                <a:ea typeface="Arial"/>
                <a:cs typeface="Arial"/>
                <a:sym typeface="Arial"/>
              </a:rPr>
              <a:t>Summary:</a:t>
            </a:r>
            <a:endParaRPr sz="1661">
              <a:latin typeface="Arial"/>
              <a:ea typeface="Arial"/>
              <a:cs typeface="Arial"/>
              <a:sym typeface="Arial"/>
            </a:endParaRPr>
          </a:p>
          <a:p>
            <a:pPr indent="-308676" lvl="0" marL="457200" rtl="0" algn="l">
              <a:lnSpc>
                <a:spcPct val="115000"/>
              </a:lnSpc>
              <a:spcBef>
                <a:spcPts val="600"/>
              </a:spcBef>
              <a:spcAft>
                <a:spcPts val="0"/>
              </a:spcAft>
              <a:buSzPts val="1261"/>
              <a:buFont typeface="Arial"/>
              <a:buChar char="●"/>
            </a:pPr>
            <a:r>
              <a:rPr lang="en-IN" sz="1661">
                <a:latin typeface="Arial"/>
                <a:ea typeface="Arial"/>
                <a:cs typeface="Arial"/>
                <a:sym typeface="Arial"/>
              </a:rPr>
              <a:t>FedAvg: Highest accuracy (94.14%)</a:t>
            </a:r>
            <a:endParaRPr sz="1661">
              <a:latin typeface="Arial"/>
              <a:ea typeface="Arial"/>
              <a:cs typeface="Arial"/>
              <a:sym typeface="Arial"/>
            </a:endParaRPr>
          </a:p>
          <a:p>
            <a:pPr indent="-308676" lvl="0" marL="457200" rtl="0" algn="l">
              <a:lnSpc>
                <a:spcPct val="115000"/>
              </a:lnSpc>
              <a:spcBef>
                <a:spcPts val="0"/>
              </a:spcBef>
              <a:spcAft>
                <a:spcPts val="0"/>
              </a:spcAft>
              <a:buSzPts val="1261"/>
              <a:buFont typeface="Arial"/>
              <a:buChar char="●"/>
            </a:pPr>
            <a:r>
              <a:rPr lang="en-IN" sz="1661">
                <a:latin typeface="Arial"/>
                <a:ea typeface="Arial"/>
                <a:cs typeface="Arial"/>
                <a:sym typeface="Arial"/>
              </a:rPr>
              <a:t>FedProx: Best for extreme heterogeneity (93.81% with 9.4:1 clients)</a:t>
            </a:r>
            <a:endParaRPr sz="1661">
              <a:latin typeface="Arial"/>
              <a:ea typeface="Arial"/>
              <a:cs typeface="Arial"/>
              <a:sym typeface="Arial"/>
            </a:endParaRPr>
          </a:p>
          <a:p>
            <a:pPr indent="-308676" lvl="0" marL="457200" rtl="0" algn="l">
              <a:lnSpc>
                <a:spcPct val="115000"/>
              </a:lnSpc>
              <a:spcBef>
                <a:spcPts val="0"/>
              </a:spcBef>
              <a:spcAft>
                <a:spcPts val="0"/>
              </a:spcAft>
              <a:buSzPts val="1261"/>
              <a:buFont typeface="Arial"/>
              <a:buChar char="●"/>
            </a:pPr>
            <a:r>
              <a:rPr lang="en-IN" sz="1661">
                <a:latin typeface="Arial"/>
                <a:ea typeface="Arial"/>
                <a:cs typeface="Arial"/>
                <a:sym typeface="Arial"/>
              </a:rPr>
              <a:t>FedAdam: Fastest convergence (3 rounds to 90%+ accuracy)</a:t>
            </a:r>
            <a:endParaRPr>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a3072fe6a8_1_111"/>
          <p:cNvSpPr txBox="1"/>
          <p:nvPr>
            <p:ph type="title"/>
          </p:nvPr>
        </p:nvSpPr>
        <p:spPr>
          <a:xfrm>
            <a:off x="838200" y="490600"/>
            <a:ext cx="10515600" cy="722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600">
                <a:latin typeface="Arial"/>
                <a:ea typeface="Arial"/>
                <a:cs typeface="Arial"/>
                <a:sym typeface="Arial"/>
              </a:rPr>
              <a:t>Overall Insights:</a:t>
            </a:r>
            <a:endParaRPr b="1" sz="3600">
              <a:latin typeface="Arial"/>
              <a:ea typeface="Arial"/>
              <a:cs typeface="Arial"/>
              <a:sym typeface="Arial"/>
            </a:endParaRPr>
          </a:p>
        </p:txBody>
      </p:sp>
      <p:sp>
        <p:nvSpPr>
          <p:cNvPr id="443" name="Google Shape;443;g3a3072fe6a8_1_111"/>
          <p:cNvSpPr txBox="1"/>
          <p:nvPr>
            <p:ph idx="1" type="body"/>
          </p:nvPr>
        </p:nvSpPr>
        <p:spPr>
          <a:xfrm>
            <a:off x="838200" y="1332925"/>
            <a:ext cx="10838100" cy="4848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IN" sz="1900">
                <a:latin typeface="Arial"/>
                <a:ea typeface="Arial"/>
                <a:cs typeface="Arial"/>
                <a:sym typeface="Arial"/>
              </a:rPr>
              <a:t>Federated Learning works across modalities:  </a:t>
            </a:r>
            <a:endParaRPr b="1"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en-IN" sz="1900">
                <a:latin typeface="Arial"/>
                <a:ea typeface="Arial"/>
                <a:cs typeface="Arial"/>
                <a:sym typeface="Arial"/>
              </a:rPr>
              <a:t> X-ray, ECG, and tabular patient data all achieved &gt;92% accuracy without centralizing raw data.</a:t>
            </a:r>
            <a:endParaRPr sz="1900">
              <a:latin typeface="Arial"/>
              <a:ea typeface="Arial"/>
              <a:cs typeface="Arial"/>
              <a:sym typeface="Arial"/>
            </a:endParaRPr>
          </a:p>
          <a:p>
            <a:pPr indent="0" lvl="0" marL="0" rtl="0" algn="l">
              <a:lnSpc>
                <a:spcPct val="115000"/>
              </a:lnSpc>
              <a:spcBef>
                <a:spcPts val="0"/>
              </a:spcBef>
              <a:spcAft>
                <a:spcPts val="0"/>
              </a:spcAft>
              <a:buNone/>
            </a:pPr>
            <a:r>
              <a:rPr b="1" lang="en-IN" sz="1900">
                <a:latin typeface="Arial"/>
                <a:ea typeface="Arial"/>
                <a:cs typeface="Arial"/>
                <a:sym typeface="Arial"/>
              </a:rPr>
              <a:t>Algorithm choice depends on deployment constraints:</a:t>
            </a:r>
            <a:endParaRPr b="1" sz="1900">
              <a:latin typeface="Arial"/>
              <a:ea typeface="Arial"/>
              <a:cs typeface="Arial"/>
              <a:sym typeface="Arial"/>
            </a:endParaRPr>
          </a:p>
          <a:p>
            <a:pPr indent="-349250" lvl="1" marL="914400" rtl="0" algn="l">
              <a:lnSpc>
                <a:spcPct val="115000"/>
              </a:lnSpc>
              <a:spcBef>
                <a:spcPts val="900"/>
              </a:spcBef>
              <a:spcAft>
                <a:spcPts val="0"/>
              </a:spcAft>
              <a:buSzPts val="1900"/>
              <a:buFont typeface="Arial"/>
              <a:buChar char="•"/>
            </a:pPr>
            <a:r>
              <a:rPr lang="en-IN" sz="1900">
                <a:latin typeface="Arial"/>
                <a:ea typeface="Arial"/>
                <a:cs typeface="Arial"/>
                <a:sym typeface="Arial"/>
              </a:rPr>
              <a:t>FedAvg:  Best overall accuracy and simplicity; good for balanced hospital networks.</a:t>
            </a:r>
            <a:endParaRPr sz="1900">
              <a:latin typeface="Arial"/>
              <a:ea typeface="Arial"/>
              <a:cs typeface="Arial"/>
              <a:sym typeface="Arial"/>
            </a:endParaRPr>
          </a:p>
          <a:p>
            <a:pPr indent="-349250" lvl="1" marL="914400" rtl="0" algn="l">
              <a:lnSpc>
                <a:spcPct val="115000"/>
              </a:lnSpc>
              <a:spcBef>
                <a:spcPts val="0"/>
              </a:spcBef>
              <a:spcAft>
                <a:spcPts val="0"/>
              </a:spcAft>
              <a:buSzPts val="1900"/>
              <a:buFont typeface="Arial"/>
              <a:buChar char="•"/>
            </a:pPr>
            <a:r>
              <a:rPr lang="en-IN" sz="1900">
                <a:latin typeface="Arial"/>
                <a:ea typeface="Arial"/>
                <a:cs typeface="Arial"/>
                <a:sym typeface="Arial"/>
              </a:rPr>
              <a:t>FedProx:  Preferred when hospital datasets are highly unbalanced or heterogeneous.</a:t>
            </a:r>
            <a:endParaRPr sz="1900">
              <a:latin typeface="Arial"/>
              <a:ea typeface="Arial"/>
              <a:cs typeface="Arial"/>
              <a:sym typeface="Arial"/>
            </a:endParaRPr>
          </a:p>
          <a:p>
            <a:pPr indent="-349250" lvl="1" marL="914400" rtl="0" algn="l">
              <a:lnSpc>
                <a:spcPct val="115000"/>
              </a:lnSpc>
              <a:spcBef>
                <a:spcPts val="0"/>
              </a:spcBef>
              <a:spcAft>
                <a:spcPts val="0"/>
              </a:spcAft>
              <a:buSzPts val="1900"/>
              <a:buFont typeface="Arial"/>
              <a:buChar char="•"/>
            </a:pPr>
            <a:r>
              <a:rPr lang="en-IN" sz="1900">
                <a:latin typeface="Arial"/>
                <a:ea typeface="Arial"/>
                <a:cs typeface="Arial"/>
                <a:sym typeface="Arial"/>
              </a:rPr>
              <a:t>FedAdam: Ideal when we need a good model quickly (e.g., few rounds, time critical settings).</a:t>
            </a:r>
            <a:endParaRPr sz="1900">
              <a:latin typeface="Arial"/>
              <a:ea typeface="Arial"/>
              <a:cs typeface="Arial"/>
              <a:sym typeface="Arial"/>
            </a:endParaRPr>
          </a:p>
          <a:p>
            <a:pPr indent="0" lvl="0" marL="0" rtl="0" algn="l">
              <a:lnSpc>
                <a:spcPct val="115000"/>
              </a:lnSpc>
              <a:spcBef>
                <a:spcPts val="900"/>
              </a:spcBef>
              <a:spcAft>
                <a:spcPts val="0"/>
              </a:spcAft>
              <a:buNone/>
            </a:pPr>
            <a:r>
              <a:rPr b="1" lang="en-IN" sz="1900">
                <a:latin typeface="Arial"/>
                <a:ea typeface="Arial"/>
                <a:cs typeface="Arial"/>
                <a:sym typeface="Arial"/>
              </a:rPr>
              <a:t>Non-IID data is the key challenge:</a:t>
            </a:r>
            <a:r>
              <a:rPr lang="en-IN" sz="1900">
                <a:latin typeface="Arial"/>
                <a:ea typeface="Arial"/>
                <a:cs typeface="Arial"/>
                <a:sym typeface="Arial"/>
              </a:rPr>
              <a:t> </a:t>
            </a:r>
            <a:endParaRPr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en-IN" sz="1900">
                <a:latin typeface="Arial"/>
                <a:ea typeface="Arial"/>
                <a:cs typeface="Arial"/>
                <a:sym typeface="Arial"/>
              </a:rPr>
              <a:t>FedProx and FedAdam help address it in different ways (stability vs speed).</a:t>
            </a:r>
            <a:endParaRPr sz="1900">
              <a:latin typeface="Arial"/>
              <a:ea typeface="Arial"/>
              <a:cs typeface="Arial"/>
              <a:sym typeface="Arial"/>
            </a:endParaRPr>
          </a:p>
          <a:p>
            <a:pPr indent="0" lvl="0" marL="0" rtl="0" algn="l">
              <a:lnSpc>
                <a:spcPct val="115000"/>
              </a:lnSpc>
              <a:spcBef>
                <a:spcPts val="0"/>
              </a:spcBef>
              <a:spcAft>
                <a:spcPts val="0"/>
              </a:spcAft>
              <a:buNone/>
            </a:pPr>
            <a:r>
              <a:rPr b="1" lang="en-IN" sz="1900">
                <a:latin typeface="Arial"/>
                <a:ea typeface="Arial"/>
                <a:cs typeface="Arial"/>
                <a:sym typeface="Arial"/>
              </a:rPr>
              <a:t>Edge feasibility: </a:t>
            </a:r>
            <a:endParaRPr b="1"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en-IN" sz="1900">
                <a:latin typeface="Arial"/>
                <a:ea typeface="Arial"/>
                <a:cs typeface="Arial"/>
                <a:sym typeface="Arial"/>
              </a:rPr>
              <a:t>Simple MLP (~13K params, &lt;1MB) can run on hospital edge servers, enabling scalable deployment.</a:t>
            </a:r>
            <a:endParaRPr sz="1900">
              <a:latin typeface="Arial"/>
              <a:ea typeface="Arial"/>
              <a:cs typeface="Arial"/>
              <a:sym typeface="Arial"/>
            </a:endParaRPr>
          </a:p>
          <a:p>
            <a:pPr indent="0" lvl="0" marL="0" rtl="0" algn="l">
              <a:lnSpc>
                <a:spcPct val="115000"/>
              </a:lnSpc>
              <a:spcBef>
                <a:spcPts val="0"/>
              </a:spcBef>
              <a:spcAft>
                <a:spcPts val="0"/>
              </a:spcAft>
              <a:buNone/>
            </a:pPr>
            <a:r>
              <a:rPr b="1" lang="en-IN" sz="1900">
                <a:latin typeface="Arial"/>
                <a:ea typeface="Arial"/>
                <a:cs typeface="Arial"/>
                <a:sym typeface="Arial"/>
              </a:rPr>
              <a:t>Privacy preserved by design:</a:t>
            </a:r>
            <a:r>
              <a:rPr lang="en-IN" sz="1900">
                <a:latin typeface="Arial"/>
                <a:ea typeface="Arial"/>
                <a:cs typeface="Arial"/>
                <a:sym typeface="Arial"/>
              </a:rPr>
              <a:t> </a:t>
            </a:r>
            <a:endParaRPr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en-IN" sz="1900">
                <a:latin typeface="Arial"/>
                <a:ea typeface="Arial"/>
                <a:cs typeface="Arial"/>
                <a:sym typeface="Arial"/>
              </a:rPr>
              <a:t>Only model weights shared; patient data remains local, aligning with HIPAA/GDPR principles.</a:t>
            </a:r>
            <a:endParaRPr sz="1900">
              <a:latin typeface="Arial"/>
              <a:ea typeface="Arial"/>
              <a:cs typeface="Arial"/>
              <a:sym typeface="Arial"/>
            </a:endParaRPr>
          </a:p>
        </p:txBody>
      </p:sp>
      <p:pic>
        <p:nvPicPr>
          <p:cNvPr id="444" name="Google Shape;444;g3a3072fe6a8_1_111"/>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445" name="Google Shape;445;g3a3072fe6a8_1_111"/>
          <p:cNvSpPr txBox="1"/>
          <p:nvPr>
            <p:ph idx="11" type="ftr"/>
          </p:nvPr>
        </p:nvSpPr>
        <p:spPr>
          <a:xfrm>
            <a:off x="3955275" y="62799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IN"/>
              <a:t>Indian Institute of Information Technology Kottayam</a:t>
            </a:r>
            <a:endParaRPr/>
          </a:p>
        </p:txBody>
      </p:sp>
      <p:sp>
        <p:nvSpPr>
          <p:cNvPr id="446" name="Google Shape;446;g3a3072fe6a8_1_1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a3072fe6a8_1_120"/>
          <p:cNvSpPr txBox="1"/>
          <p:nvPr>
            <p:ph type="title"/>
          </p:nvPr>
        </p:nvSpPr>
        <p:spPr>
          <a:xfrm>
            <a:off x="838200" y="490600"/>
            <a:ext cx="10515600" cy="931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sz="3800">
                <a:latin typeface="Arial"/>
                <a:ea typeface="Arial"/>
                <a:cs typeface="Arial"/>
                <a:sym typeface="Arial"/>
              </a:rPr>
              <a:t>Demonstration</a:t>
            </a:r>
            <a:endParaRPr b="1" sz="3800">
              <a:latin typeface="Arial"/>
              <a:ea typeface="Arial"/>
              <a:cs typeface="Arial"/>
              <a:sym typeface="Arial"/>
            </a:endParaRPr>
          </a:p>
        </p:txBody>
      </p:sp>
      <p:sp>
        <p:nvSpPr>
          <p:cNvPr id="453" name="Google Shape;453;g3a3072fe6a8_1_120"/>
          <p:cNvSpPr txBox="1"/>
          <p:nvPr>
            <p:ph idx="1" type="body"/>
          </p:nvPr>
        </p:nvSpPr>
        <p:spPr>
          <a:xfrm>
            <a:off x="838200" y="1520625"/>
            <a:ext cx="10515600" cy="46608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t/>
            </a:r>
            <a:endParaRPr sz="2100">
              <a:latin typeface="Arial"/>
              <a:ea typeface="Arial"/>
              <a:cs typeface="Arial"/>
              <a:sym typeface="Arial"/>
            </a:endParaRPr>
          </a:p>
          <a:p>
            <a:pPr indent="-361950" lvl="0" marL="457200" rtl="0" algn="l">
              <a:spcBef>
                <a:spcPts val="1000"/>
              </a:spcBef>
              <a:spcAft>
                <a:spcPts val="0"/>
              </a:spcAft>
              <a:buSzPts val="2100"/>
              <a:buFont typeface="Arial"/>
              <a:buChar char="•"/>
            </a:pPr>
            <a:r>
              <a:rPr lang="en-IN" sz="2100">
                <a:latin typeface="Arial"/>
                <a:ea typeface="Arial"/>
                <a:cs typeface="Arial"/>
                <a:sym typeface="Arial"/>
              </a:rPr>
              <a:t>The system was implemented in </a:t>
            </a:r>
            <a:r>
              <a:rPr b="1" lang="en-IN" sz="2100">
                <a:latin typeface="Arial"/>
                <a:ea typeface="Arial"/>
                <a:cs typeface="Arial"/>
                <a:sym typeface="Arial"/>
              </a:rPr>
              <a:t>Google Colab</a:t>
            </a:r>
            <a:r>
              <a:rPr lang="en-IN" sz="2100">
                <a:latin typeface="Arial"/>
                <a:ea typeface="Arial"/>
                <a:cs typeface="Arial"/>
                <a:sym typeface="Arial"/>
              </a:rPr>
              <a:t> using </a:t>
            </a:r>
            <a:r>
              <a:rPr b="1" lang="en-IN" sz="2100">
                <a:latin typeface="Arial"/>
                <a:ea typeface="Arial"/>
                <a:cs typeface="Arial"/>
                <a:sym typeface="Arial"/>
              </a:rPr>
              <a:t>PyTorch</a:t>
            </a:r>
            <a:r>
              <a:rPr lang="en-IN" sz="2100">
                <a:latin typeface="Arial"/>
                <a:ea typeface="Arial"/>
                <a:cs typeface="Arial"/>
                <a:sym typeface="Arial"/>
              </a:rPr>
              <a:t> and </a:t>
            </a:r>
            <a:r>
              <a:rPr b="1" lang="en-IN" sz="2100">
                <a:latin typeface="Arial"/>
                <a:ea typeface="Arial"/>
                <a:cs typeface="Arial"/>
                <a:sym typeface="Arial"/>
              </a:rPr>
              <a:t>KaggleHub</a:t>
            </a:r>
            <a:r>
              <a:rPr lang="en-IN" sz="2100">
                <a:latin typeface="Arial"/>
                <a:ea typeface="Arial"/>
                <a:cs typeface="Arial"/>
                <a:sym typeface="Arial"/>
              </a:rPr>
              <a:t> datasets.</a:t>
            </a:r>
            <a:br>
              <a:rPr lang="en-IN" sz="2100">
                <a:latin typeface="Arial"/>
                <a:ea typeface="Arial"/>
                <a:cs typeface="Arial"/>
                <a:sym typeface="Arial"/>
              </a:rPr>
            </a:br>
            <a:endParaRPr sz="2100">
              <a:latin typeface="Arial"/>
              <a:ea typeface="Arial"/>
              <a:cs typeface="Arial"/>
              <a:sym typeface="Arial"/>
            </a:endParaRPr>
          </a:p>
          <a:p>
            <a:pPr indent="-361950" lvl="0" marL="457200" rtl="0" algn="l">
              <a:spcBef>
                <a:spcPts val="0"/>
              </a:spcBef>
              <a:spcAft>
                <a:spcPts val="0"/>
              </a:spcAft>
              <a:buSzPts val="2100"/>
              <a:buFont typeface="Arial"/>
              <a:buChar char="•"/>
            </a:pPr>
            <a:r>
              <a:rPr lang="en-IN" sz="2100">
                <a:latin typeface="Arial"/>
                <a:ea typeface="Arial"/>
                <a:cs typeface="Arial"/>
                <a:sym typeface="Arial"/>
              </a:rPr>
              <a:t>Federated learning workflow successfully simulated with three hospital clients.</a:t>
            </a:r>
            <a:br>
              <a:rPr lang="en-IN" sz="2100">
                <a:latin typeface="Arial"/>
                <a:ea typeface="Arial"/>
                <a:cs typeface="Arial"/>
                <a:sym typeface="Arial"/>
              </a:rPr>
            </a:br>
            <a:endParaRPr sz="2100">
              <a:latin typeface="Arial"/>
              <a:ea typeface="Arial"/>
              <a:cs typeface="Arial"/>
              <a:sym typeface="Arial"/>
            </a:endParaRPr>
          </a:p>
          <a:p>
            <a:pPr indent="-361950" lvl="0" marL="457200" rtl="0" algn="l">
              <a:spcBef>
                <a:spcPts val="0"/>
              </a:spcBef>
              <a:spcAft>
                <a:spcPts val="0"/>
              </a:spcAft>
              <a:buSzPts val="2100"/>
              <a:buFont typeface="Arial"/>
              <a:buChar char="•"/>
            </a:pPr>
            <a:r>
              <a:rPr lang="en-IN" sz="2100">
                <a:latin typeface="Arial"/>
                <a:ea typeface="Arial"/>
                <a:cs typeface="Arial"/>
                <a:sym typeface="Arial"/>
              </a:rPr>
              <a:t>Each client trained locally and contributed model weights to a central aggregator.</a:t>
            </a:r>
            <a:br>
              <a:rPr lang="en-IN" sz="2100">
                <a:latin typeface="Arial"/>
                <a:ea typeface="Arial"/>
                <a:cs typeface="Arial"/>
                <a:sym typeface="Arial"/>
              </a:rPr>
            </a:br>
            <a:endParaRPr sz="2100">
              <a:latin typeface="Arial"/>
              <a:ea typeface="Arial"/>
              <a:cs typeface="Arial"/>
              <a:sym typeface="Arial"/>
            </a:endParaRPr>
          </a:p>
          <a:p>
            <a:pPr indent="-361950" lvl="0" marL="457200" rtl="0" algn="l">
              <a:spcBef>
                <a:spcPts val="0"/>
              </a:spcBef>
              <a:spcAft>
                <a:spcPts val="0"/>
              </a:spcAft>
              <a:buSzPts val="2100"/>
              <a:buFont typeface="Arial"/>
              <a:buChar char="•"/>
            </a:pPr>
            <a:r>
              <a:rPr lang="en-IN" sz="2100">
                <a:latin typeface="Arial"/>
                <a:ea typeface="Arial"/>
                <a:cs typeface="Arial"/>
                <a:sym typeface="Arial"/>
              </a:rPr>
              <a:t>The global model was validated to ensure learning across all disease categories.</a:t>
            </a:r>
            <a:br>
              <a:rPr lang="en-IN" sz="2100">
                <a:latin typeface="Arial"/>
                <a:ea typeface="Arial"/>
                <a:cs typeface="Arial"/>
                <a:sym typeface="Arial"/>
              </a:rPr>
            </a:br>
            <a:endParaRPr sz="2100">
              <a:latin typeface="Arial"/>
              <a:ea typeface="Arial"/>
              <a:cs typeface="Arial"/>
              <a:sym typeface="Arial"/>
            </a:endParaRPr>
          </a:p>
          <a:p>
            <a:pPr indent="-361950" lvl="0" marL="457200" rtl="0" algn="l">
              <a:spcBef>
                <a:spcPts val="0"/>
              </a:spcBef>
              <a:spcAft>
                <a:spcPts val="0"/>
              </a:spcAft>
              <a:buSzPts val="2100"/>
              <a:buFont typeface="Arial"/>
              <a:buChar char="•"/>
            </a:pPr>
            <a:r>
              <a:rPr lang="en-IN" sz="2100">
                <a:latin typeface="Arial"/>
                <a:ea typeface="Arial"/>
                <a:cs typeface="Arial"/>
                <a:sym typeface="Arial"/>
              </a:rPr>
              <a:t>A sample of X-ray images with predicted disease labels was displayed as proof of model interpretability.</a:t>
            </a:r>
            <a:endParaRPr sz="2100">
              <a:latin typeface="Arial"/>
              <a:ea typeface="Arial"/>
              <a:cs typeface="Arial"/>
              <a:sym typeface="Arial"/>
            </a:endParaRPr>
          </a:p>
          <a:p>
            <a:pPr indent="-361950" lvl="0" marL="457200" rtl="0" algn="l">
              <a:spcBef>
                <a:spcPts val="0"/>
              </a:spcBef>
              <a:spcAft>
                <a:spcPts val="0"/>
              </a:spcAft>
              <a:buSzPts val="2100"/>
              <a:buFont typeface="Arial"/>
              <a:buChar char="•"/>
            </a:pPr>
            <a:r>
              <a:t/>
            </a:r>
            <a:endParaRPr sz="2100">
              <a:latin typeface="Arial"/>
              <a:ea typeface="Arial"/>
              <a:cs typeface="Arial"/>
              <a:sym typeface="Arial"/>
            </a:endParaRPr>
          </a:p>
          <a:p>
            <a:pPr indent="-361950" lvl="0" marL="457200" rtl="0" algn="l">
              <a:spcBef>
                <a:spcPts val="0"/>
              </a:spcBef>
              <a:spcAft>
                <a:spcPts val="0"/>
              </a:spcAft>
              <a:buSzPts val="2100"/>
              <a:buFont typeface="Arial"/>
              <a:buChar char="•"/>
            </a:pPr>
            <a:r>
              <a:rPr lang="en-IN" sz="2100">
                <a:latin typeface="Arial"/>
                <a:ea typeface="Arial"/>
                <a:cs typeface="Arial"/>
                <a:sym typeface="Arial"/>
              </a:rPr>
              <a:t>ECG waveform predictions for normal and abnormal beats were plotted to verify classification accuracy.</a:t>
            </a:r>
            <a:endParaRPr sz="2417">
              <a:latin typeface="Arial"/>
              <a:ea typeface="Arial"/>
              <a:cs typeface="Arial"/>
              <a:sym typeface="Arial"/>
            </a:endParaRPr>
          </a:p>
        </p:txBody>
      </p:sp>
      <p:pic>
        <p:nvPicPr>
          <p:cNvPr id="454" name="Google Shape;454;g3a3072fe6a8_1_120"/>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455" name="Google Shape;455;g3a3072fe6a8_1_1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456" name="Google Shape;456;g3a3072fe6a8_1_1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g3a2b7ac1c2d_0_57"/>
          <p:cNvPicPr preferRelativeResize="0"/>
          <p:nvPr/>
        </p:nvPicPr>
        <p:blipFill>
          <a:blip r:embed="rId3">
            <a:alphaModFix/>
          </a:blip>
          <a:stretch>
            <a:fillRect/>
          </a:stretch>
        </p:blipFill>
        <p:spPr>
          <a:xfrm>
            <a:off x="426225" y="667625"/>
            <a:ext cx="11339549" cy="5900876"/>
          </a:xfrm>
          <a:prstGeom prst="rect">
            <a:avLst/>
          </a:prstGeom>
          <a:noFill/>
          <a:ln>
            <a:noFill/>
          </a:ln>
        </p:spPr>
      </p:pic>
      <p:sp>
        <p:nvSpPr>
          <p:cNvPr id="463" name="Google Shape;463;g3a2b7ac1c2d_0_57"/>
          <p:cNvSpPr txBox="1"/>
          <p:nvPr/>
        </p:nvSpPr>
        <p:spPr>
          <a:xfrm>
            <a:off x="3990650" y="6488700"/>
            <a:ext cx="3990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1200">
                <a:solidFill>
                  <a:srgbClr val="888888"/>
                </a:solidFill>
                <a:latin typeface="Calibri"/>
                <a:ea typeface="Calibri"/>
                <a:cs typeface="Calibri"/>
                <a:sym typeface="Calibri"/>
              </a:rPr>
              <a:t>Indian Institute of Information Technology Kottayam</a:t>
            </a:r>
            <a:endParaRPr sz="1200">
              <a:solidFill>
                <a:srgbClr val="888888"/>
              </a:solidFill>
              <a:latin typeface="Calibri"/>
              <a:ea typeface="Calibri"/>
              <a:cs typeface="Calibri"/>
              <a:sym typeface="Calibri"/>
            </a:endParaRPr>
          </a:p>
        </p:txBody>
      </p:sp>
      <p:pic>
        <p:nvPicPr>
          <p:cNvPr id="464" name="Google Shape;464;g3a2b7ac1c2d_0_57"/>
          <p:cNvPicPr preferRelativeResize="0"/>
          <p:nvPr/>
        </p:nvPicPr>
        <p:blipFill rotWithShape="1">
          <a:blip r:embed="rId4">
            <a:alphaModFix/>
          </a:blip>
          <a:srcRect b="0" l="0" r="0" t="0"/>
          <a:stretch/>
        </p:blipFill>
        <p:spPr>
          <a:xfrm>
            <a:off x="9672721" y="0"/>
            <a:ext cx="1751379" cy="815788"/>
          </a:xfrm>
          <a:prstGeom prst="rect">
            <a:avLst/>
          </a:prstGeom>
          <a:noFill/>
          <a:ln>
            <a:noFill/>
          </a:ln>
        </p:spPr>
      </p:pic>
      <p:sp>
        <p:nvSpPr>
          <p:cNvPr id="465" name="Google Shape;465;g3a2b7ac1c2d_0_57"/>
          <p:cNvSpPr txBox="1"/>
          <p:nvPr/>
        </p:nvSpPr>
        <p:spPr>
          <a:xfrm>
            <a:off x="8424088" y="6426900"/>
            <a:ext cx="30000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IN" sz="1600">
                <a:solidFill>
                  <a:srgbClr val="888888"/>
                </a:solidFill>
                <a:latin typeface="Calibri"/>
                <a:ea typeface="Calibri"/>
                <a:cs typeface="Calibri"/>
                <a:sym typeface="Calibri"/>
              </a:rPr>
              <a:t>‹#›</a:t>
            </a:fld>
            <a:endParaRPr sz="1600">
              <a:solidFill>
                <a:srgbClr val="888888"/>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pic>
        <p:nvPicPr>
          <p:cNvPr id="471" name="Google Shape;471;g3a2fa9a96b1_0_31"/>
          <p:cNvPicPr preferRelativeResize="0"/>
          <p:nvPr/>
        </p:nvPicPr>
        <p:blipFill>
          <a:blip r:embed="rId3">
            <a:alphaModFix/>
          </a:blip>
          <a:stretch>
            <a:fillRect/>
          </a:stretch>
        </p:blipFill>
        <p:spPr>
          <a:xfrm>
            <a:off x="166688" y="1104900"/>
            <a:ext cx="11858625" cy="37433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38cd6bca61b_3_26"/>
          <p:cNvSpPr txBox="1"/>
          <p:nvPr>
            <p:ph type="title"/>
          </p:nvPr>
        </p:nvSpPr>
        <p:spPr>
          <a:xfrm>
            <a:off x="838200" y="365125"/>
            <a:ext cx="105156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sz="3800">
                <a:latin typeface="Arial"/>
                <a:ea typeface="Arial"/>
                <a:cs typeface="Arial"/>
                <a:sym typeface="Arial"/>
              </a:rPr>
              <a:t>Future Work &amp; Timeline</a:t>
            </a:r>
            <a:endParaRPr b="1" sz="3800">
              <a:latin typeface="Arial"/>
              <a:ea typeface="Arial"/>
              <a:cs typeface="Arial"/>
              <a:sym typeface="Arial"/>
            </a:endParaRPr>
          </a:p>
        </p:txBody>
      </p:sp>
      <p:sp>
        <p:nvSpPr>
          <p:cNvPr id="478" name="Google Shape;478;g38cd6bca61b_3_26"/>
          <p:cNvSpPr txBox="1"/>
          <p:nvPr>
            <p:ph idx="1" type="body"/>
          </p:nvPr>
        </p:nvSpPr>
        <p:spPr>
          <a:xfrm>
            <a:off x="713850" y="1436525"/>
            <a:ext cx="10164900" cy="4664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IN" sz="1700">
                <a:latin typeface="Arial"/>
                <a:ea typeface="Arial"/>
                <a:cs typeface="Arial"/>
                <a:sym typeface="Arial"/>
              </a:rPr>
              <a:t>Model Tuning / Experiment Layer</a:t>
            </a:r>
            <a:endParaRPr b="1" sz="1700">
              <a:latin typeface="Arial"/>
              <a:ea typeface="Arial"/>
              <a:cs typeface="Arial"/>
              <a:sym typeface="Arial"/>
            </a:endParaRPr>
          </a:p>
          <a:p>
            <a:pPr indent="-323850" lvl="0" marL="457200" rtl="0" algn="l">
              <a:lnSpc>
                <a:spcPct val="115000"/>
              </a:lnSpc>
              <a:spcBef>
                <a:spcPts val="1200"/>
              </a:spcBef>
              <a:spcAft>
                <a:spcPts val="0"/>
              </a:spcAft>
              <a:buSzPts val="1500"/>
              <a:buChar char="●"/>
            </a:pPr>
            <a:r>
              <a:rPr lang="en-IN" sz="1700">
                <a:latin typeface="Arial"/>
                <a:ea typeface="Arial"/>
                <a:cs typeface="Arial"/>
                <a:sym typeface="Arial"/>
              </a:rPr>
              <a:t>Implement advanced FL optimizers (</a:t>
            </a:r>
            <a:r>
              <a:rPr b="1" lang="en-IN" sz="1700">
                <a:latin typeface="Arial"/>
                <a:ea typeface="Arial"/>
                <a:cs typeface="Arial"/>
                <a:sym typeface="Arial"/>
              </a:rPr>
              <a:t>FedOpt – FedYogi</a:t>
            </a:r>
            <a:r>
              <a:rPr lang="en-IN" sz="1700">
                <a:latin typeface="Arial"/>
                <a:ea typeface="Arial"/>
                <a:cs typeface="Arial"/>
                <a:sym typeface="Arial"/>
              </a:rPr>
              <a:t>)</a:t>
            </a:r>
            <a:endParaRPr sz="17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IN" sz="1700">
                <a:latin typeface="Arial"/>
                <a:ea typeface="Arial"/>
                <a:cs typeface="Arial"/>
                <a:sym typeface="Arial"/>
              </a:rPr>
              <a:t>Tune hyperparameters (rounds, learning rate, local epochs) for optimization.</a:t>
            </a:r>
            <a:br>
              <a:rPr lang="en-IN" sz="1700">
                <a:latin typeface="Arial"/>
                <a:ea typeface="Arial"/>
                <a:cs typeface="Arial"/>
                <a:sym typeface="Arial"/>
              </a:rPr>
            </a:br>
            <a:endParaRPr sz="1700">
              <a:latin typeface="Arial"/>
              <a:ea typeface="Arial"/>
              <a:cs typeface="Arial"/>
              <a:sym typeface="Arial"/>
            </a:endParaRPr>
          </a:p>
          <a:p>
            <a:pPr indent="0" lvl="0" marL="0" rtl="0" algn="l">
              <a:lnSpc>
                <a:spcPct val="115000"/>
              </a:lnSpc>
              <a:spcBef>
                <a:spcPts val="1200"/>
              </a:spcBef>
              <a:spcAft>
                <a:spcPts val="0"/>
              </a:spcAft>
              <a:buNone/>
            </a:pPr>
            <a:r>
              <a:rPr b="1" lang="en-IN" sz="1700">
                <a:latin typeface="Arial"/>
                <a:ea typeface="Arial"/>
                <a:cs typeface="Arial"/>
                <a:sym typeface="Arial"/>
              </a:rPr>
              <a:t>Digital Twin Layer</a:t>
            </a:r>
            <a:endParaRPr b="1" sz="1700">
              <a:latin typeface="Arial"/>
              <a:ea typeface="Arial"/>
              <a:cs typeface="Arial"/>
              <a:sym typeface="Arial"/>
            </a:endParaRPr>
          </a:p>
          <a:p>
            <a:pPr indent="-323850" lvl="0" marL="457200" rtl="0" algn="l">
              <a:lnSpc>
                <a:spcPct val="115000"/>
              </a:lnSpc>
              <a:spcBef>
                <a:spcPts val="1200"/>
              </a:spcBef>
              <a:spcAft>
                <a:spcPts val="0"/>
              </a:spcAft>
              <a:buSzPts val="1500"/>
              <a:buChar char="●"/>
            </a:pPr>
            <a:r>
              <a:rPr lang="en-IN" sz="1700">
                <a:latin typeface="Arial"/>
                <a:ea typeface="Arial"/>
                <a:cs typeface="Arial"/>
                <a:sym typeface="Arial"/>
              </a:rPr>
              <a:t>Build a </a:t>
            </a:r>
            <a:r>
              <a:rPr b="1" lang="en-IN" sz="1700">
                <a:latin typeface="Arial"/>
                <a:ea typeface="Arial"/>
                <a:cs typeface="Arial"/>
                <a:sym typeface="Arial"/>
              </a:rPr>
              <a:t>patient-level Digital Twin</a:t>
            </a:r>
            <a:r>
              <a:rPr lang="en-IN" sz="1700">
                <a:latin typeface="Arial"/>
                <a:ea typeface="Arial"/>
                <a:cs typeface="Arial"/>
                <a:sym typeface="Arial"/>
              </a:rPr>
              <a:t> interface that simulates data flow between EHR → preprocessing → model inference → result.</a:t>
            </a:r>
            <a:endParaRPr sz="17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IN" sz="1700">
                <a:latin typeface="Arial"/>
                <a:ea typeface="Arial"/>
                <a:cs typeface="Arial"/>
                <a:sym typeface="Arial"/>
              </a:rPr>
              <a:t>Use synthetic or anonymized patient data for demo (not real PHI).</a:t>
            </a:r>
            <a:br>
              <a:rPr lang="en-IN" sz="1700">
                <a:latin typeface="Arial"/>
                <a:ea typeface="Arial"/>
                <a:cs typeface="Arial"/>
                <a:sym typeface="Arial"/>
              </a:rPr>
            </a:br>
            <a:endParaRPr sz="1700">
              <a:latin typeface="Arial"/>
              <a:ea typeface="Arial"/>
              <a:cs typeface="Arial"/>
              <a:sym typeface="Arial"/>
            </a:endParaRPr>
          </a:p>
          <a:p>
            <a:pPr indent="0" lvl="0" marL="0" rtl="0" algn="l">
              <a:lnSpc>
                <a:spcPct val="115000"/>
              </a:lnSpc>
              <a:spcBef>
                <a:spcPts val="1200"/>
              </a:spcBef>
              <a:spcAft>
                <a:spcPts val="0"/>
              </a:spcAft>
              <a:buNone/>
            </a:pPr>
            <a:r>
              <a:rPr b="1" lang="en-IN" sz="1700">
                <a:latin typeface="Arial"/>
                <a:ea typeface="Arial"/>
                <a:cs typeface="Arial"/>
                <a:sym typeface="Arial"/>
              </a:rPr>
              <a:t>FHIR Integration </a:t>
            </a:r>
            <a:endParaRPr b="1" sz="1700">
              <a:latin typeface="Arial"/>
              <a:ea typeface="Arial"/>
              <a:cs typeface="Arial"/>
              <a:sym typeface="Arial"/>
            </a:endParaRPr>
          </a:p>
          <a:p>
            <a:pPr indent="-323850" lvl="0" marL="457200" rtl="0" algn="l">
              <a:lnSpc>
                <a:spcPct val="115000"/>
              </a:lnSpc>
              <a:spcBef>
                <a:spcPts val="1200"/>
              </a:spcBef>
              <a:spcAft>
                <a:spcPts val="0"/>
              </a:spcAft>
              <a:buSzPts val="1500"/>
              <a:buChar char="●"/>
            </a:pPr>
            <a:r>
              <a:rPr lang="en-IN" sz="1700">
                <a:latin typeface="Arial"/>
                <a:ea typeface="Arial"/>
                <a:cs typeface="Arial"/>
                <a:sym typeface="Arial"/>
              </a:rPr>
              <a:t>Add a small pipeline that converts local datasets into </a:t>
            </a:r>
            <a:r>
              <a:rPr b="1" lang="en-IN" sz="1700">
                <a:latin typeface="Arial"/>
                <a:ea typeface="Arial"/>
                <a:cs typeface="Arial"/>
                <a:sym typeface="Arial"/>
              </a:rPr>
              <a:t>FHIR-compliant resources</a:t>
            </a:r>
            <a:r>
              <a:rPr lang="en-IN" sz="1700">
                <a:latin typeface="Arial"/>
                <a:ea typeface="Arial"/>
                <a:cs typeface="Arial"/>
                <a:sym typeface="Arial"/>
              </a:rPr>
              <a:t> (Patient / Observation / Device).</a:t>
            </a:r>
            <a:endParaRPr sz="17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IN" sz="1700">
                <a:latin typeface="Arial"/>
                <a:ea typeface="Arial"/>
                <a:cs typeface="Arial"/>
                <a:sym typeface="Arial"/>
              </a:rPr>
              <a:t>This helps demonstrate real healthcare interoperability</a:t>
            </a:r>
            <a:endParaRPr sz="4100"/>
          </a:p>
        </p:txBody>
      </p:sp>
      <p:pic>
        <p:nvPicPr>
          <p:cNvPr id="479" name="Google Shape;479;g38cd6bca61b_3_26"/>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480" name="Google Shape;480;g38cd6bca61b_3_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481" name="Google Shape;481;g38cd6bca61b_3_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
          <p:cNvSpPr txBox="1"/>
          <p:nvPr>
            <p:ph type="title"/>
          </p:nvPr>
        </p:nvSpPr>
        <p:spPr>
          <a:xfrm>
            <a:off x="323625" y="175825"/>
            <a:ext cx="110301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latin typeface="Arial"/>
                <a:ea typeface="Arial"/>
                <a:cs typeface="Arial"/>
                <a:sym typeface="Arial"/>
              </a:rPr>
              <a:t>References</a:t>
            </a:r>
            <a:endParaRPr>
              <a:latin typeface="Arial"/>
              <a:ea typeface="Arial"/>
              <a:cs typeface="Arial"/>
              <a:sym typeface="Arial"/>
            </a:endParaRPr>
          </a:p>
        </p:txBody>
      </p:sp>
      <p:sp>
        <p:nvSpPr>
          <p:cNvPr id="488" name="Google Shape;488;p8"/>
          <p:cNvSpPr txBox="1"/>
          <p:nvPr>
            <p:ph idx="1" type="body"/>
          </p:nvPr>
        </p:nvSpPr>
        <p:spPr>
          <a:xfrm>
            <a:off x="270350" y="908175"/>
            <a:ext cx="11475900" cy="5579700"/>
          </a:xfrm>
          <a:prstGeom prst="rect">
            <a:avLst/>
          </a:prstGeom>
          <a:noFill/>
          <a:ln>
            <a:noFill/>
          </a:ln>
        </p:spPr>
        <p:txBody>
          <a:bodyPr anchorCtr="0" anchor="t" bIns="45700" lIns="91425" spcFirstLastPara="1" rIns="91425" wrap="square" tIns="45700">
            <a:noAutofit/>
          </a:bodyPr>
          <a:lstStyle/>
          <a:p>
            <a:pPr indent="-292100" lvl="0" marL="457200" rtl="0" algn="l">
              <a:lnSpc>
                <a:spcPct val="70000"/>
              </a:lnSpc>
              <a:spcBef>
                <a:spcPts val="1000"/>
              </a:spcBef>
              <a:spcAft>
                <a:spcPts val="0"/>
              </a:spcAft>
              <a:buClr>
                <a:srgbClr val="222222"/>
              </a:buClr>
              <a:buSzPts val="1000"/>
              <a:buChar char="•"/>
            </a:pPr>
            <a:r>
              <a:rPr lang="en-IN" sz="1000">
                <a:solidFill>
                  <a:srgbClr val="222222"/>
                </a:solidFill>
                <a:highlight>
                  <a:srgbClr val="FFFFFF"/>
                </a:highlight>
                <a:latin typeface="Arial"/>
                <a:ea typeface="Arial"/>
                <a:cs typeface="Arial"/>
                <a:sym typeface="Arial"/>
              </a:rPr>
              <a:t>Antunes, Rodolfo Stoffel, Cristiano André da Costa, Arne Küderle, Imrana Abdullahi Yari, and Björn Eskofier. "Federated learning for healthcare: Systematic review and architecture proposal." </a:t>
            </a:r>
            <a:r>
              <a:rPr i="1" lang="en-IN" sz="1000">
                <a:solidFill>
                  <a:srgbClr val="222222"/>
                </a:solidFill>
                <a:highlight>
                  <a:srgbClr val="FFFFFF"/>
                </a:highlight>
                <a:latin typeface="Arial"/>
                <a:ea typeface="Arial"/>
                <a:cs typeface="Arial"/>
                <a:sym typeface="Arial"/>
              </a:rPr>
              <a:t>ACM Transactions on Intelligent Systems and Technology (TIST)</a:t>
            </a:r>
            <a:r>
              <a:rPr lang="en-IN" sz="1000">
                <a:solidFill>
                  <a:srgbClr val="222222"/>
                </a:solidFill>
                <a:highlight>
                  <a:srgbClr val="FFFFFF"/>
                </a:highlight>
                <a:latin typeface="Arial"/>
                <a:ea typeface="Arial"/>
                <a:cs typeface="Arial"/>
                <a:sym typeface="Arial"/>
              </a:rPr>
              <a:t> 13, no. 4 (2022): 1-23.</a:t>
            </a:r>
            <a:endParaRPr sz="1000">
              <a:solidFill>
                <a:srgbClr val="222222"/>
              </a:solidFill>
              <a:highlight>
                <a:srgbClr val="FFFFFF"/>
              </a:highlight>
              <a:latin typeface="Arial"/>
              <a:ea typeface="Arial"/>
              <a:cs typeface="Arial"/>
              <a:sym typeface="Arial"/>
            </a:endParaRPr>
          </a:p>
          <a:p>
            <a:pPr indent="0" lvl="0" marL="457200" rtl="0" algn="l">
              <a:lnSpc>
                <a:spcPct val="70000"/>
              </a:lnSpc>
              <a:spcBef>
                <a:spcPts val="1000"/>
              </a:spcBef>
              <a:spcAft>
                <a:spcPts val="0"/>
              </a:spcAft>
              <a:buSzPts val="852"/>
              <a:buNone/>
            </a:pPr>
            <a:r>
              <a:t/>
            </a:r>
            <a:endParaRPr sz="1000">
              <a:solidFill>
                <a:srgbClr val="222222"/>
              </a:solidFill>
              <a:highlight>
                <a:srgbClr val="FFFFFF"/>
              </a:highlight>
              <a:latin typeface="Arial"/>
              <a:ea typeface="Arial"/>
              <a:cs typeface="Arial"/>
              <a:sym typeface="Arial"/>
            </a:endParaRPr>
          </a:p>
          <a:p>
            <a:pPr indent="-292100" lvl="0" marL="457200" rtl="0" algn="l">
              <a:lnSpc>
                <a:spcPct val="70000"/>
              </a:lnSpc>
              <a:spcBef>
                <a:spcPts val="1000"/>
              </a:spcBef>
              <a:spcAft>
                <a:spcPts val="0"/>
              </a:spcAft>
              <a:buClr>
                <a:srgbClr val="222222"/>
              </a:buClr>
              <a:buSzPts val="1000"/>
              <a:buChar char="•"/>
            </a:pPr>
            <a:r>
              <a:rPr lang="en-IN" sz="1000">
                <a:solidFill>
                  <a:srgbClr val="222222"/>
                </a:solidFill>
                <a:highlight>
                  <a:srgbClr val="FFFFFF"/>
                </a:highlight>
                <a:latin typeface="Arial"/>
                <a:ea typeface="Arial"/>
                <a:cs typeface="Arial"/>
                <a:sym typeface="Arial"/>
              </a:rPr>
              <a:t>Rauniyar, Ashish, Desta Haileselassie Hagos, Debesh Jha, Jan Erik Håkegård, Ulas Bagci, Danda B. Rawat, and Vladimir Vlassov. "Federated learning for medical applications: A taxonomy, current trends, challenges, and future research directions." </a:t>
            </a:r>
            <a:r>
              <a:rPr i="1" lang="en-IN" sz="1000">
                <a:solidFill>
                  <a:srgbClr val="222222"/>
                </a:solidFill>
                <a:highlight>
                  <a:srgbClr val="FFFFFF"/>
                </a:highlight>
                <a:latin typeface="Arial"/>
                <a:ea typeface="Arial"/>
                <a:cs typeface="Arial"/>
                <a:sym typeface="Arial"/>
              </a:rPr>
              <a:t>IEEE Internet of Things Journal</a:t>
            </a:r>
            <a:r>
              <a:rPr lang="en-IN" sz="1000">
                <a:solidFill>
                  <a:srgbClr val="222222"/>
                </a:solidFill>
                <a:highlight>
                  <a:srgbClr val="FFFFFF"/>
                </a:highlight>
                <a:latin typeface="Arial"/>
                <a:ea typeface="Arial"/>
                <a:cs typeface="Arial"/>
                <a:sym typeface="Arial"/>
              </a:rPr>
              <a:t> 11, no. 5 (2023): 7374-7398</a:t>
            </a:r>
            <a:endParaRPr sz="1000">
              <a:solidFill>
                <a:srgbClr val="222222"/>
              </a:solidFill>
              <a:highlight>
                <a:srgbClr val="FFFFFF"/>
              </a:highlight>
              <a:latin typeface="Arial"/>
              <a:ea typeface="Arial"/>
              <a:cs typeface="Arial"/>
              <a:sym typeface="Arial"/>
            </a:endParaRPr>
          </a:p>
          <a:p>
            <a:pPr indent="0" lvl="0" marL="457200" rtl="0" algn="l">
              <a:lnSpc>
                <a:spcPct val="70000"/>
              </a:lnSpc>
              <a:spcBef>
                <a:spcPts val="1000"/>
              </a:spcBef>
              <a:spcAft>
                <a:spcPts val="0"/>
              </a:spcAft>
              <a:buSzPts val="852"/>
              <a:buNone/>
            </a:pPr>
            <a:r>
              <a:rPr lang="en-IN" sz="1000">
                <a:solidFill>
                  <a:srgbClr val="222222"/>
                </a:solidFill>
                <a:highlight>
                  <a:srgbClr val="FFFFFF"/>
                </a:highlight>
                <a:latin typeface="Arial"/>
                <a:ea typeface="Arial"/>
                <a:cs typeface="Arial"/>
                <a:sym typeface="Arial"/>
              </a:rPr>
              <a:t>.</a:t>
            </a:r>
            <a:endParaRPr sz="1000">
              <a:solidFill>
                <a:srgbClr val="222222"/>
              </a:solidFill>
              <a:highlight>
                <a:srgbClr val="FFFFFF"/>
              </a:highlight>
              <a:latin typeface="Arial"/>
              <a:ea typeface="Arial"/>
              <a:cs typeface="Arial"/>
              <a:sym typeface="Arial"/>
            </a:endParaRPr>
          </a:p>
          <a:p>
            <a:pPr indent="-292100" lvl="0" marL="457200" rtl="0" algn="l">
              <a:lnSpc>
                <a:spcPct val="70000"/>
              </a:lnSpc>
              <a:spcBef>
                <a:spcPts val="1000"/>
              </a:spcBef>
              <a:spcAft>
                <a:spcPts val="0"/>
              </a:spcAft>
              <a:buClr>
                <a:srgbClr val="222222"/>
              </a:buClr>
              <a:buSzPts val="1000"/>
              <a:buChar char="•"/>
            </a:pPr>
            <a:r>
              <a:rPr lang="en-IN" sz="1000">
                <a:solidFill>
                  <a:srgbClr val="222222"/>
                </a:solidFill>
                <a:highlight>
                  <a:srgbClr val="FFFFFF"/>
                </a:highlight>
                <a:latin typeface="Arial"/>
                <a:ea typeface="Arial"/>
                <a:cs typeface="Arial"/>
                <a:sym typeface="Arial"/>
              </a:rPr>
              <a:t>Rahman, Anichur, Md Sazzad Hossain, Ghulam Muhammad, Dipanjali Kundu, Tanoy Debnath, Muaz Rahman, Md Saikat Islam Khan, Prayag Tiwari, and Shahab S. Band. "Federated learning-based AI approaches in smart healthcare: concepts, taxonomies, challenges and open issues." </a:t>
            </a:r>
            <a:r>
              <a:rPr i="1" lang="en-IN" sz="1000">
                <a:solidFill>
                  <a:srgbClr val="222222"/>
                </a:solidFill>
                <a:highlight>
                  <a:srgbClr val="FFFFFF"/>
                </a:highlight>
                <a:latin typeface="Arial"/>
                <a:ea typeface="Arial"/>
                <a:cs typeface="Arial"/>
                <a:sym typeface="Arial"/>
              </a:rPr>
              <a:t>Cluster computing</a:t>
            </a:r>
            <a:r>
              <a:rPr lang="en-IN" sz="1000">
                <a:solidFill>
                  <a:srgbClr val="222222"/>
                </a:solidFill>
                <a:highlight>
                  <a:srgbClr val="FFFFFF"/>
                </a:highlight>
                <a:latin typeface="Arial"/>
                <a:ea typeface="Arial"/>
                <a:cs typeface="Arial"/>
                <a:sym typeface="Arial"/>
              </a:rPr>
              <a:t> 26, no. 4 (2023): 2271-2311.</a:t>
            </a:r>
            <a:endParaRPr sz="1000">
              <a:solidFill>
                <a:srgbClr val="222222"/>
              </a:solidFill>
              <a:highlight>
                <a:srgbClr val="FFFFFF"/>
              </a:highlight>
              <a:latin typeface="Arial"/>
              <a:ea typeface="Arial"/>
              <a:cs typeface="Arial"/>
              <a:sym typeface="Arial"/>
            </a:endParaRPr>
          </a:p>
          <a:p>
            <a:pPr indent="0" lvl="0" marL="457200" rtl="0" algn="l">
              <a:lnSpc>
                <a:spcPct val="70000"/>
              </a:lnSpc>
              <a:spcBef>
                <a:spcPts val="1000"/>
              </a:spcBef>
              <a:spcAft>
                <a:spcPts val="0"/>
              </a:spcAft>
              <a:buSzPts val="852"/>
              <a:buNone/>
            </a:pPr>
            <a:r>
              <a:t/>
            </a:r>
            <a:endParaRPr sz="1000">
              <a:solidFill>
                <a:srgbClr val="222222"/>
              </a:solidFill>
              <a:highlight>
                <a:srgbClr val="FFFFFF"/>
              </a:highlight>
              <a:latin typeface="Arial"/>
              <a:ea typeface="Arial"/>
              <a:cs typeface="Arial"/>
              <a:sym typeface="Arial"/>
            </a:endParaRPr>
          </a:p>
          <a:p>
            <a:pPr indent="-292100" lvl="0" marL="457200" rtl="0" algn="l">
              <a:lnSpc>
                <a:spcPct val="70000"/>
              </a:lnSpc>
              <a:spcBef>
                <a:spcPts val="1000"/>
              </a:spcBef>
              <a:spcAft>
                <a:spcPts val="0"/>
              </a:spcAft>
              <a:buClr>
                <a:srgbClr val="222222"/>
              </a:buClr>
              <a:buSzPts val="1000"/>
              <a:buChar char="•"/>
            </a:pPr>
            <a:r>
              <a:rPr lang="en-IN" sz="1000">
                <a:solidFill>
                  <a:srgbClr val="222222"/>
                </a:solidFill>
                <a:highlight>
                  <a:srgbClr val="FFFFFF"/>
                </a:highlight>
                <a:latin typeface="Arial"/>
                <a:ea typeface="Arial"/>
                <a:cs typeface="Arial"/>
                <a:sym typeface="Arial"/>
              </a:rPr>
              <a:t>Dasaradharami Reddy, K., and Thippa Reddy Gadekallu. "A comprehensive survey on federated learning techniques for healthcare informatics." </a:t>
            </a:r>
            <a:r>
              <a:rPr i="1" lang="en-IN" sz="1000">
                <a:solidFill>
                  <a:srgbClr val="222222"/>
                </a:solidFill>
                <a:highlight>
                  <a:srgbClr val="FFFFFF"/>
                </a:highlight>
                <a:latin typeface="Arial"/>
                <a:ea typeface="Arial"/>
                <a:cs typeface="Arial"/>
                <a:sym typeface="Arial"/>
              </a:rPr>
              <a:t>Computational Intelligence and Neuroscience</a:t>
            </a:r>
            <a:r>
              <a:rPr lang="en-IN" sz="1000">
                <a:solidFill>
                  <a:srgbClr val="222222"/>
                </a:solidFill>
                <a:highlight>
                  <a:srgbClr val="FFFFFF"/>
                </a:highlight>
                <a:latin typeface="Arial"/>
                <a:ea typeface="Arial"/>
                <a:cs typeface="Arial"/>
                <a:sym typeface="Arial"/>
              </a:rPr>
              <a:t> 2023, no. 1 (2023): 8393990.</a:t>
            </a:r>
            <a:endParaRPr sz="1000">
              <a:solidFill>
                <a:srgbClr val="222222"/>
              </a:solidFill>
              <a:highlight>
                <a:srgbClr val="FFFFFF"/>
              </a:highlight>
              <a:latin typeface="Arial"/>
              <a:ea typeface="Arial"/>
              <a:cs typeface="Arial"/>
              <a:sym typeface="Arial"/>
            </a:endParaRPr>
          </a:p>
          <a:p>
            <a:pPr indent="0" lvl="0" marL="457200" rtl="0" algn="l">
              <a:lnSpc>
                <a:spcPct val="70000"/>
              </a:lnSpc>
              <a:spcBef>
                <a:spcPts val="1000"/>
              </a:spcBef>
              <a:spcAft>
                <a:spcPts val="0"/>
              </a:spcAft>
              <a:buSzPts val="852"/>
              <a:buNone/>
            </a:pPr>
            <a:r>
              <a:t/>
            </a:r>
            <a:endParaRPr sz="1000">
              <a:solidFill>
                <a:srgbClr val="222222"/>
              </a:solidFill>
              <a:highlight>
                <a:srgbClr val="FFFFFF"/>
              </a:highlight>
              <a:latin typeface="Arial"/>
              <a:ea typeface="Arial"/>
              <a:cs typeface="Arial"/>
              <a:sym typeface="Arial"/>
            </a:endParaRPr>
          </a:p>
          <a:p>
            <a:pPr indent="-292100" lvl="0" marL="457200" rtl="0" algn="l">
              <a:lnSpc>
                <a:spcPct val="70000"/>
              </a:lnSpc>
              <a:spcBef>
                <a:spcPts val="1000"/>
              </a:spcBef>
              <a:spcAft>
                <a:spcPts val="0"/>
              </a:spcAft>
              <a:buClr>
                <a:srgbClr val="222222"/>
              </a:buClr>
              <a:buSzPts val="1000"/>
              <a:buChar char="•"/>
            </a:pPr>
            <a:r>
              <a:rPr lang="en-IN" sz="1000">
                <a:solidFill>
                  <a:srgbClr val="222222"/>
                </a:solidFill>
                <a:highlight>
                  <a:srgbClr val="FFFFFF"/>
                </a:highlight>
                <a:latin typeface="Arial"/>
                <a:ea typeface="Arial"/>
                <a:cs typeface="Arial"/>
                <a:sym typeface="Arial"/>
              </a:rPr>
              <a:t>Bashir, Ali Kashif, Nancy Victor, Sweta Bhattacharya, Thien Huynh-The, Rajeswari Chengoden, Gokul Yenduri, Praveen Kumar Reddy Maddikunta, Quoc-Viet Pham, Thippa Reddy Gadekallu, and Madhusanka Liyanage. "Federated learning for the healthcare metaverse: Concepts, applications, challenges, and future directions." </a:t>
            </a:r>
            <a:r>
              <a:rPr i="1" lang="en-IN" sz="1000">
                <a:solidFill>
                  <a:srgbClr val="222222"/>
                </a:solidFill>
                <a:highlight>
                  <a:srgbClr val="FFFFFF"/>
                </a:highlight>
                <a:latin typeface="Arial"/>
                <a:ea typeface="Arial"/>
                <a:cs typeface="Arial"/>
                <a:sym typeface="Arial"/>
              </a:rPr>
              <a:t>IEEE Internet of Things Journal</a:t>
            </a:r>
            <a:r>
              <a:rPr lang="en-IN" sz="1000">
                <a:solidFill>
                  <a:srgbClr val="222222"/>
                </a:solidFill>
                <a:highlight>
                  <a:srgbClr val="FFFFFF"/>
                </a:highlight>
                <a:latin typeface="Arial"/>
                <a:ea typeface="Arial"/>
                <a:cs typeface="Arial"/>
                <a:sym typeface="Arial"/>
              </a:rPr>
              <a:t> 10, no. 24 (2023): 21873-21891.</a:t>
            </a:r>
            <a:endParaRPr sz="1000">
              <a:solidFill>
                <a:srgbClr val="222222"/>
              </a:solidFill>
              <a:highlight>
                <a:srgbClr val="FFFFFF"/>
              </a:highlight>
              <a:latin typeface="Arial"/>
              <a:ea typeface="Arial"/>
              <a:cs typeface="Arial"/>
              <a:sym typeface="Arial"/>
            </a:endParaRPr>
          </a:p>
          <a:p>
            <a:pPr indent="0" lvl="0" marL="457200" rtl="0" algn="l">
              <a:lnSpc>
                <a:spcPct val="70000"/>
              </a:lnSpc>
              <a:spcBef>
                <a:spcPts val="1000"/>
              </a:spcBef>
              <a:spcAft>
                <a:spcPts val="0"/>
              </a:spcAft>
              <a:buSzPts val="852"/>
              <a:buNone/>
            </a:pPr>
            <a:r>
              <a:t/>
            </a:r>
            <a:endParaRPr sz="1000">
              <a:solidFill>
                <a:srgbClr val="222222"/>
              </a:solidFill>
              <a:highlight>
                <a:srgbClr val="FFFFFF"/>
              </a:highlight>
              <a:latin typeface="Arial"/>
              <a:ea typeface="Arial"/>
              <a:cs typeface="Arial"/>
              <a:sym typeface="Arial"/>
            </a:endParaRPr>
          </a:p>
          <a:p>
            <a:pPr indent="-292100" lvl="0" marL="457200" rtl="0" algn="l">
              <a:lnSpc>
                <a:spcPct val="100000"/>
              </a:lnSpc>
              <a:spcBef>
                <a:spcPts val="1000"/>
              </a:spcBef>
              <a:spcAft>
                <a:spcPts val="0"/>
              </a:spcAft>
              <a:buSzPts val="1000"/>
              <a:buFont typeface="Arial"/>
              <a:buChar char="•"/>
            </a:pPr>
            <a:r>
              <a:rPr lang="en-IN" sz="1000">
                <a:latin typeface="Arial"/>
                <a:ea typeface="Arial"/>
                <a:cs typeface="Arial"/>
                <a:sym typeface="Arial"/>
              </a:rPr>
              <a:t>Dayan, I., Roth, H.R., Zhong, A. </a:t>
            </a:r>
            <a:r>
              <a:rPr i="1" lang="en-IN" sz="1000">
                <a:latin typeface="Arial"/>
                <a:ea typeface="Arial"/>
                <a:cs typeface="Arial"/>
                <a:sym typeface="Arial"/>
              </a:rPr>
              <a:t>et al.</a:t>
            </a:r>
            <a:r>
              <a:rPr lang="en-IN" sz="1000">
                <a:latin typeface="Arial"/>
                <a:ea typeface="Arial"/>
                <a:cs typeface="Arial"/>
                <a:sym typeface="Arial"/>
              </a:rPr>
              <a:t> Federated learning for predicting clinical outcomes in patients with COVID-19. </a:t>
            </a:r>
            <a:r>
              <a:rPr i="1" lang="en-IN" sz="1000">
                <a:latin typeface="Arial"/>
                <a:ea typeface="Arial"/>
                <a:cs typeface="Arial"/>
                <a:sym typeface="Arial"/>
              </a:rPr>
              <a:t>Nat Med</a:t>
            </a:r>
            <a:r>
              <a:rPr lang="en-IN" sz="1000">
                <a:latin typeface="Arial"/>
                <a:ea typeface="Arial"/>
                <a:cs typeface="Arial"/>
                <a:sym typeface="Arial"/>
              </a:rPr>
              <a:t> </a:t>
            </a:r>
            <a:r>
              <a:rPr b="1" lang="en-IN" sz="1000">
                <a:latin typeface="Arial"/>
                <a:ea typeface="Arial"/>
                <a:cs typeface="Arial"/>
                <a:sym typeface="Arial"/>
              </a:rPr>
              <a:t>27</a:t>
            </a:r>
            <a:r>
              <a:rPr lang="en-IN" sz="1000">
                <a:latin typeface="Arial"/>
                <a:ea typeface="Arial"/>
                <a:cs typeface="Arial"/>
                <a:sym typeface="Arial"/>
              </a:rPr>
              <a:t>, 1735–1743 (2021). https://doi.org/10.1038/s41591-021-01506-3</a:t>
            </a:r>
            <a:endParaRPr sz="1000">
              <a:latin typeface="Arial"/>
              <a:ea typeface="Arial"/>
              <a:cs typeface="Arial"/>
              <a:sym typeface="Arial"/>
            </a:endParaRPr>
          </a:p>
          <a:p>
            <a:pPr indent="0" lvl="0" marL="457200" rtl="0" algn="l">
              <a:lnSpc>
                <a:spcPct val="100000"/>
              </a:lnSpc>
              <a:spcBef>
                <a:spcPts val="1000"/>
              </a:spcBef>
              <a:spcAft>
                <a:spcPts val="0"/>
              </a:spcAft>
              <a:buSzPts val="852"/>
              <a:buNone/>
            </a:pPr>
            <a:r>
              <a:t/>
            </a:r>
            <a:endParaRPr sz="1000">
              <a:latin typeface="Arial"/>
              <a:ea typeface="Arial"/>
              <a:cs typeface="Arial"/>
              <a:sym typeface="Arial"/>
            </a:endParaRPr>
          </a:p>
          <a:p>
            <a:pPr indent="-292100" lvl="0" marL="457200" rtl="0" algn="l">
              <a:lnSpc>
                <a:spcPct val="100000"/>
              </a:lnSpc>
              <a:spcBef>
                <a:spcPts val="1000"/>
              </a:spcBef>
              <a:spcAft>
                <a:spcPts val="0"/>
              </a:spcAft>
              <a:buSzPts val="1000"/>
              <a:buChar char="•"/>
            </a:pPr>
            <a:r>
              <a:rPr lang="en-IN" sz="1000">
                <a:latin typeface="Arial"/>
                <a:ea typeface="Arial"/>
                <a:cs typeface="Arial"/>
                <a:sym typeface="Arial"/>
              </a:rPr>
              <a:t>Ng, Dianwen, Xiang Lan, Melissa Min-Szu Yao, Wing P. Chan, &amp; Meng ling Feng. "Federated learning: a collaborative effort to achieve better medical imaging models for individual sites that have small labelled datasets." </a:t>
            </a:r>
            <a:r>
              <a:rPr i="1" lang="en-IN" sz="1000">
                <a:latin typeface="Arial"/>
                <a:ea typeface="Arial"/>
                <a:cs typeface="Arial"/>
                <a:sym typeface="Arial"/>
              </a:rPr>
              <a:t>Quantitative Imaging in Medicine and Surgery</a:t>
            </a:r>
            <a:r>
              <a:rPr lang="en-IN" sz="1000">
                <a:latin typeface="Arial"/>
                <a:ea typeface="Arial"/>
                <a:cs typeface="Arial"/>
                <a:sym typeface="Arial"/>
              </a:rPr>
              <a:t> [Online], 11.2 (2021): 852-857</a:t>
            </a:r>
            <a:endParaRPr sz="1000">
              <a:latin typeface="Arial"/>
              <a:ea typeface="Arial"/>
              <a:cs typeface="Arial"/>
              <a:sym typeface="Arial"/>
            </a:endParaRPr>
          </a:p>
          <a:p>
            <a:pPr indent="0" lvl="0" marL="457200" rtl="0" algn="l">
              <a:lnSpc>
                <a:spcPct val="100000"/>
              </a:lnSpc>
              <a:spcBef>
                <a:spcPts val="1000"/>
              </a:spcBef>
              <a:spcAft>
                <a:spcPts val="0"/>
              </a:spcAft>
              <a:buSzPts val="852"/>
              <a:buNone/>
            </a:pPr>
            <a:r>
              <a:t/>
            </a:r>
            <a:endParaRPr sz="1000">
              <a:latin typeface="Arial"/>
              <a:ea typeface="Arial"/>
              <a:cs typeface="Arial"/>
              <a:sym typeface="Arial"/>
            </a:endParaRPr>
          </a:p>
          <a:p>
            <a:pPr indent="-292100" lvl="0" marL="457200" rtl="0" algn="l">
              <a:lnSpc>
                <a:spcPct val="100000"/>
              </a:lnSpc>
              <a:spcBef>
                <a:spcPts val="1000"/>
              </a:spcBef>
              <a:spcAft>
                <a:spcPts val="0"/>
              </a:spcAft>
              <a:buSzPts val="1000"/>
              <a:buChar char="•"/>
            </a:pPr>
            <a:r>
              <a:rPr lang="en-IN" sz="1000">
                <a:latin typeface="Arial"/>
                <a:ea typeface="Arial"/>
                <a:cs typeface="Arial"/>
                <a:sym typeface="Arial"/>
              </a:rPr>
              <a:t>Stelter, Lena et al. “Assessing the Impact of Federated Learning and Differential Privacy on Multi-centre Polyp Segmentation.” </a:t>
            </a:r>
            <a:r>
              <a:rPr i="1" lang="en-IN" sz="1000">
                <a:latin typeface="Arial"/>
                <a:ea typeface="Arial"/>
                <a:cs typeface="Arial"/>
                <a:sym typeface="Arial"/>
              </a:rPr>
              <a:t>Annual International Conference of the IEEE Engineering in Medicine and Biology Society. IEEE Engineering in Medicine and Biology Society. Annual International Conference</a:t>
            </a:r>
            <a:r>
              <a:rPr lang="en-IN" sz="1000">
                <a:latin typeface="Arial"/>
                <a:ea typeface="Arial"/>
                <a:cs typeface="Arial"/>
                <a:sym typeface="Arial"/>
              </a:rPr>
              <a:t> vol. 2024 (2024): 1-4. doi:10.1109/EMBC53108.2024.10782682</a:t>
            </a:r>
            <a:endParaRPr sz="1000">
              <a:latin typeface="Arial"/>
              <a:ea typeface="Arial"/>
              <a:cs typeface="Arial"/>
              <a:sym typeface="Arial"/>
            </a:endParaRPr>
          </a:p>
          <a:p>
            <a:pPr indent="0" lvl="0" marL="457200" rtl="0" algn="l">
              <a:lnSpc>
                <a:spcPct val="100000"/>
              </a:lnSpc>
              <a:spcBef>
                <a:spcPts val="1000"/>
              </a:spcBef>
              <a:spcAft>
                <a:spcPts val="0"/>
              </a:spcAft>
              <a:buSzPts val="852"/>
              <a:buNone/>
            </a:pPr>
            <a:r>
              <a:t/>
            </a:r>
            <a:endParaRPr sz="1000">
              <a:latin typeface="Arial"/>
              <a:ea typeface="Arial"/>
              <a:cs typeface="Arial"/>
              <a:sym typeface="Arial"/>
            </a:endParaRPr>
          </a:p>
          <a:p>
            <a:pPr indent="-292100" lvl="0" marL="457200" rtl="0" algn="l">
              <a:lnSpc>
                <a:spcPct val="100000"/>
              </a:lnSpc>
              <a:spcBef>
                <a:spcPts val="1000"/>
              </a:spcBef>
              <a:spcAft>
                <a:spcPts val="0"/>
              </a:spcAft>
              <a:buSzPts val="1000"/>
              <a:buChar char="•"/>
            </a:pPr>
            <a:r>
              <a:rPr lang="en-IN" sz="1000">
                <a:latin typeface="Arial"/>
                <a:ea typeface="Arial"/>
                <a:cs typeface="Arial"/>
                <a:sym typeface="Arial"/>
              </a:rPr>
              <a:t>Hernandez-Cruz, N.; Saha,P.; Sarker, M.M.K.; Noble, J.A. Review of Federated Learning and Machine Learning-Based Methods for Medical Image Analysis. Big Data Cogn.Comput. 2024, 8, 99. https://doi.org/10.3390/bdcc8090099</a:t>
            </a:r>
            <a:endParaRPr sz="1000">
              <a:solidFill>
                <a:srgbClr val="222222"/>
              </a:solidFill>
              <a:highlight>
                <a:srgbClr val="FFFFFF"/>
              </a:highlight>
              <a:latin typeface="Arial"/>
              <a:ea typeface="Arial"/>
              <a:cs typeface="Arial"/>
              <a:sym typeface="Arial"/>
            </a:endParaRPr>
          </a:p>
        </p:txBody>
      </p:sp>
      <p:pic>
        <p:nvPicPr>
          <p:cNvPr id="489" name="Google Shape;489;p8"/>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490" name="Google Shape;49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491" name="Google Shape;49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8cd6bca61b_3_38"/>
          <p:cNvSpPr txBox="1"/>
          <p:nvPr>
            <p:ph type="title"/>
          </p:nvPr>
        </p:nvSpPr>
        <p:spPr>
          <a:xfrm>
            <a:off x="323625" y="175825"/>
            <a:ext cx="11030100" cy="81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latin typeface="Arial"/>
                <a:ea typeface="Arial"/>
                <a:cs typeface="Arial"/>
                <a:sym typeface="Arial"/>
              </a:rPr>
              <a:t>References</a:t>
            </a:r>
            <a:endParaRPr>
              <a:latin typeface="Arial"/>
              <a:ea typeface="Arial"/>
              <a:cs typeface="Arial"/>
              <a:sym typeface="Arial"/>
            </a:endParaRPr>
          </a:p>
        </p:txBody>
      </p:sp>
      <p:sp>
        <p:nvSpPr>
          <p:cNvPr id="498" name="Google Shape;498;g38cd6bca61b_3_38"/>
          <p:cNvSpPr txBox="1"/>
          <p:nvPr>
            <p:ph idx="1" type="body"/>
          </p:nvPr>
        </p:nvSpPr>
        <p:spPr>
          <a:xfrm>
            <a:off x="323625" y="991525"/>
            <a:ext cx="11475900" cy="5364900"/>
          </a:xfrm>
          <a:prstGeom prst="rect">
            <a:avLst/>
          </a:prstGeom>
          <a:noFill/>
          <a:ln>
            <a:noFill/>
          </a:ln>
        </p:spPr>
        <p:txBody>
          <a:bodyPr anchorCtr="0" anchor="t" bIns="45700" lIns="91425" spcFirstLastPara="1" rIns="91425" wrap="square" tIns="45700">
            <a:noAutofit/>
          </a:bodyPr>
          <a:lstStyle/>
          <a:p>
            <a:pPr indent="-304800" lvl="0" marL="457200" rtl="0" algn="l">
              <a:spcBef>
                <a:spcPts val="1000"/>
              </a:spcBef>
              <a:spcAft>
                <a:spcPts val="0"/>
              </a:spcAft>
              <a:buClr>
                <a:srgbClr val="222222"/>
              </a:buClr>
              <a:buSzPts val="1200"/>
              <a:buChar char="●"/>
            </a:pPr>
            <a:r>
              <a:rPr lang="en-IN" sz="1200">
                <a:solidFill>
                  <a:srgbClr val="222222"/>
                </a:solidFill>
                <a:highlight>
                  <a:schemeClr val="lt1"/>
                </a:highlight>
                <a:latin typeface="Arial"/>
                <a:ea typeface="Arial"/>
                <a:cs typeface="Arial"/>
                <a:sym typeface="Arial"/>
              </a:rPr>
              <a:t>Elayan, Haya, Moayad Aloqaily, and Mohsen Guizani. "Sustainability of healthcare data analysis IoT based systems using deep federated learning." IEEE Internet of Things Journal 9, no. 10 (2021): 7338 7346Haripriya, Rahul, Nilay Khare, and Manish Pandey. "Privacy-preserving federated learning for collabora ve medical data mining in mul-ins tu onal se ngs." Scien fic Reports 15, no. 1 (2025): 12482.</a:t>
            </a:r>
            <a:endParaRPr sz="1200">
              <a:solidFill>
                <a:srgbClr val="222222"/>
              </a:solidFill>
              <a:highlight>
                <a:schemeClr val="lt1"/>
              </a:highlight>
              <a:latin typeface="Arial"/>
              <a:ea typeface="Arial"/>
              <a:cs typeface="Arial"/>
              <a:sym typeface="Arial"/>
            </a:endParaRPr>
          </a:p>
          <a:p>
            <a:pPr indent="0" lvl="0" marL="0" rtl="0" algn="l">
              <a:spcBef>
                <a:spcPts val="1000"/>
              </a:spcBef>
              <a:spcAft>
                <a:spcPts val="0"/>
              </a:spcAft>
              <a:buNone/>
            </a:pPr>
            <a:r>
              <a:t/>
            </a:r>
            <a:endParaRPr sz="1200">
              <a:solidFill>
                <a:srgbClr val="222222"/>
              </a:solidFill>
              <a:highlight>
                <a:schemeClr val="lt1"/>
              </a:highlight>
              <a:latin typeface="Arial"/>
              <a:ea typeface="Arial"/>
              <a:cs typeface="Arial"/>
              <a:sym typeface="Arial"/>
            </a:endParaRPr>
          </a:p>
          <a:p>
            <a:pPr indent="-304800" lvl="0" marL="457200" rtl="0" algn="l">
              <a:spcBef>
                <a:spcPts val="1000"/>
              </a:spcBef>
              <a:spcAft>
                <a:spcPts val="0"/>
              </a:spcAft>
              <a:buClr>
                <a:srgbClr val="222222"/>
              </a:buClr>
              <a:buSzPts val="1200"/>
              <a:buChar char="●"/>
            </a:pPr>
            <a:r>
              <a:rPr lang="en-IN" sz="1200">
                <a:solidFill>
                  <a:srgbClr val="222222"/>
                </a:solidFill>
                <a:highlight>
                  <a:schemeClr val="lt1"/>
                </a:highlight>
                <a:latin typeface="Arial"/>
                <a:ea typeface="Arial"/>
                <a:cs typeface="Arial"/>
                <a:sym typeface="Arial"/>
              </a:rPr>
              <a:t>Połap, Dawid, Gautam Srivastava, and Keping Yu. "Agent architecture of an intelligent medical system based on federated learning and blockchain technology." Journal of Informa on Security and Applica ons 58 (2021): 102748.</a:t>
            </a:r>
            <a:endParaRPr sz="1200">
              <a:latin typeface="Arial"/>
              <a:ea typeface="Arial"/>
              <a:cs typeface="Arial"/>
              <a:sym typeface="Arial"/>
            </a:endParaRPr>
          </a:p>
          <a:p>
            <a:pPr indent="0" lvl="0" marL="0" rtl="0" algn="l">
              <a:spcBef>
                <a:spcPts val="1000"/>
              </a:spcBef>
              <a:spcAft>
                <a:spcPts val="0"/>
              </a:spcAft>
              <a:buNone/>
            </a:pPr>
            <a:r>
              <a:t/>
            </a:r>
            <a:endParaRPr sz="1200">
              <a:solidFill>
                <a:srgbClr val="222222"/>
              </a:solidFill>
              <a:highlight>
                <a:schemeClr val="lt1"/>
              </a:highlight>
              <a:latin typeface="Arial"/>
              <a:ea typeface="Arial"/>
              <a:cs typeface="Arial"/>
              <a:sym typeface="Arial"/>
            </a:endParaRPr>
          </a:p>
          <a:p>
            <a:pPr indent="-304800" lvl="0" marL="457200" rtl="0" algn="l">
              <a:spcBef>
                <a:spcPts val="1000"/>
              </a:spcBef>
              <a:spcAft>
                <a:spcPts val="0"/>
              </a:spcAft>
              <a:buClr>
                <a:srgbClr val="222222"/>
              </a:buClr>
              <a:buSzPts val="1200"/>
              <a:buChar char="●"/>
            </a:pPr>
            <a:r>
              <a:rPr lang="en-IN" sz="1200">
                <a:solidFill>
                  <a:srgbClr val="222222"/>
                </a:solidFill>
                <a:highlight>
                  <a:schemeClr val="lt1"/>
                </a:highlight>
                <a:latin typeface="Arial"/>
                <a:ea typeface="Arial"/>
                <a:cs typeface="Arial"/>
                <a:sym typeface="Arial"/>
              </a:rPr>
              <a:t>Kapila, Ramdas, and Sumalatha Sale . "Federated learning-based disease predic on: A fusion approach with feature selec on and extrac on." Biomedical Signal Processing and Control 100 (2025): 106961. </a:t>
            </a:r>
            <a:endParaRPr sz="1200">
              <a:solidFill>
                <a:srgbClr val="222222"/>
              </a:solidFill>
              <a:highlight>
                <a:schemeClr val="lt1"/>
              </a:highlight>
              <a:latin typeface="Arial"/>
              <a:ea typeface="Arial"/>
              <a:cs typeface="Arial"/>
              <a:sym typeface="Arial"/>
            </a:endParaRPr>
          </a:p>
          <a:p>
            <a:pPr indent="0" lvl="0" marL="457200" rtl="0" algn="l">
              <a:spcBef>
                <a:spcPts val="1000"/>
              </a:spcBef>
              <a:spcAft>
                <a:spcPts val="0"/>
              </a:spcAft>
              <a:buNone/>
            </a:pPr>
            <a:r>
              <a:t/>
            </a:r>
            <a:endParaRPr sz="1200">
              <a:solidFill>
                <a:srgbClr val="222222"/>
              </a:solidFill>
              <a:highlight>
                <a:schemeClr val="lt1"/>
              </a:highlight>
              <a:latin typeface="Arial"/>
              <a:ea typeface="Arial"/>
              <a:cs typeface="Arial"/>
              <a:sym typeface="Arial"/>
            </a:endParaRPr>
          </a:p>
          <a:p>
            <a:pPr indent="-304800" lvl="0" marL="457200" rtl="0" algn="l">
              <a:spcBef>
                <a:spcPts val="1000"/>
              </a:spcBef>
              <a:spcAft>
                <a:spcPts val="0"/>
              </a:spcAft>
              <a:buSzPts val="1200"/>
              <a:buChar char="●"/>
            </a:pPr>
            <a:r>
              <a:rPr lang="en-IN" sz="1200">
                <a:latin typeface="Arial"/>
                <a:ea typeface="Arial"/>
                <a:cs typeface="Arial"/>
                <a:sym typeface="Arial"/>
              </a:rPr>
              <a:t>Nguyen, Dinh C., Quoc-Viet Pham, Pubudu N. Pathirana, Ming Ding, Aruna Seneviratne, Zihuai Lin, Octavia Dobre, and Won-Joo Hwang. "Federated learning for smart healthcare: A survey." </a:t>
            </a:r>
            <a:r>
              <a:rPr i="1" lang="en-IN" sz="1200">
                <a:latin typeface="Arial"/>
                <a:ea typeface="Arial"/>
                <a:cs typeface="Arial"/>
                <a:sym typeface="Arial"/>
              </a:rPr>
              <a:t>ACM Computing Surveys (Csur)</a:t>
            </a:r>
            <a:r>
              <a:rPr lang="en-IN" sz="1200">
                <a:latin typeface="Arial"/>
                <a:ea typeface="Arial"/>
                <a:cs typeface="Arial"/>
                <a:sym typeface="Arial"/>
              </a:rPr>
              <a:t> 55, no. 3 (2022): 1-37.</a:t>
            </a:r>
            <a:endParaRPr sz="1200">
              <a:latin typeface="Arial"/>
              <a:ea typeface="Arial"/>
              <a:cs typeface="Arial"/>
              <a:sym typeface="Arial"/>
            </a:endParaRPr>
          </a:p>
          <a:p>
            <a:pPr indent="0" lvl="0" marL="457200" rtl="0" algn="l">
              <a:spcBef>
                <a:spcPts val="1000"/>
              </a:spcBef>
              <a:spcAft>
                <a:spcPts val="0"/>
              </a:spcAft>
              <a:buNone/>
            </a:pPr>
            <a:r>
              <a:t/>
            </a:r>
            <a:endParaRPr sz="1200">
              <a:latin typeface="Arial"/>
              <a:ea typeface="Arial"/>
              <a:cs typeface="Arial"/>
              <a:sym typeface="Arial"/>
            </a:endParaRPr>
          </a:p>
          <a:p>
            <a:pPr indent="-304800" lvl="0" marL="457200" rtl="0" algn="l">
              <a:spcBef>
                <a:spcPts val="1000"/>
              </a:spcBef>
              <a:spcAft>
                <a:spcPts val="0"/>
              </a:spcAft>
              <a:buSzPts val="1200"/>
              <a:buChar char="●"/>
            </a:pPr>
            <a:r>
              <a:rPr lang="en-IN" sz="1200">
                <a:latin typeface="Arial"/>
                <a:ea typeface="Arial"/>
                <a:cs typeface="Arial"/>
                <a:sym typeface="Arial"/>
              </a:rPr>
              <a:t>Patel, Vishwa Amitkumar, Pronaya Bhattacharya, Sudeep Tanwar, Rajesh Gupta, Gulshan Sharma, Pitshou N. Bokoro, and Ravi Sharma. "Adoption of federated learning for healthcare informatics: Emerging applications and future directions." </a:t>
            </a:r>
            <a:r>
              <a:rPr i="1" lang="en-IN" sz="1200">
                <a:latin typeface="Arial"/>
                <a:ea typeface="Arial"/>
                <a:cs typeface="Arial"/>
                <a:sym typeface="Arial"/>
              </a:rPr>
              <a:t>IEEE Access</a:t>
            </a:r>
            <a:r>
              <a:rPr lang="en-IN" sz="1200">
                <a:latin typeface="Arial"/>
                <a:ea typeface="Arial"/>
                <a:cs typeface="Arial"/>
                <a:sym typeface="Arial"/>
              </a:rPr>
              <a:t> 10 (2022): 90792-90826.</a:t>
            </a:r>
            <a:endParaRPr sz="1200">
              <a:latin typeface="Arial"/>
              <a:ea typeface="Arial"/>
              <a:cs typeface="Arial"/>
              <a:sym typeface="Arial"/>
            </a:endParaRPr>
          </a:p>
          <a:p>
            <a:pPr indent="0" lvl="0" marL="457200" rtl="0" algn="l">
              <a:spcBef>
                <a:spcPts val="1000"/>
              </a:spcBef>
              <a:spcAft>
                <a:spcPts val="0"/>
              </a:spcAft>
              <a:buNone/>
            </a:pPr>
            <a:r>
              <a:t/>
            </a:r>
            <a:endParaRPr sz="1200">
              <a:latin typeface="Arial"/>
              <a:ea typeface="Arial"/>
              <a:cs typeface="Arial"/>
              <a:sym typeface="Arial"/>
            </a:endParaRPr>
          </a:p>
          <a:p>
            <a:pPr indent="-304800" lvl="0" marL="457200" rtl="0" algn="l">
              <a:spcBef>
                <a:spcPts val="1000"/>
              </a:spcBef>
              <a:spcAft>
                <a:spcPts val="0"/>
              </a:spcAft>
              <a:buSzPts val="1200"/>
              <a:buChar char="●"/>
            </a:pPr>
            <a:r>
              <a:rPr lang="en-IN" sz="1200">
                <a:latin typeface="Arial"/>
                <a:ea typeface="Arial"/>
                <a:cs typeface="Arial"/>
                <a:sym typeface="Arial"/>
              </a:rPr>
              <a:t> Alazab, Mamoun, Latif U. Khan, Srinivas Koppu, Swarna Priya Ramu, Parimala Boobalan, Thar Baker, Praveen Kumar Reddy Maddikunta, Thippa Reddy Gadekallu, and Ahamed Aljuhani. "Digital twins for healthcare 4.0—recent advances, architecture, and open challenges." </a:t>
            </a:r>
            <a:r>
              <a:rPr i="1" lang="en-IN" sz="1200">
                <a:latin typeface="Arial"/>
                <a:ea typeface="Arial"/>
                <a:cs typeface="Arial"/>
                <a:sym typeface="Arial"/>
              </a:rPr>
              <a:t>IEEE Consumer Electronics Magazine</a:t>
            </a:r>
            <a:r>
              <a:rPr lang="en-IN" sz="1200">
                <a:latin typeface="Arial"/>
                <a:ea typeface="Arial"/>
                <a:cs typeface="Arial"/>
                <a:sym typeface="Arial"/>
              </a:rPr>
              <a:t> 12, no. 6 (2022): 29-37.</a:t>
            </a:r>
            <a:endParaRPr sz="1200">
              <a:latin typeface="Arial"/>
              <a:ea typeface="Arial"/>
              <a:cs typeface="Arial"/>
              <a:sym typeface="Arial"/>
            </a:endParaRPr>
          </a:p>
          <a:p>
            <a:pPr indent="0" lvl="0" marL="457200" rtl="0" algn="l">
              <a:spcBef>
                <a:spcPts val="1000"/>
              </a:spcBef>
              <a:spcAft>
                <a:spcPts val="0"/>
              </a:spcAft>
              <a:buNone/>
            </a:pPr>
            <a:r>
              <a:t/>
            </a:r>
            <a:endParaRPr sz="1200">
              <a:latin typeface="Arial"/>
              <a:ea typeface="Arial"/>
              <a:cs typeface="Arial"/>
              <a:sym typeface="Arial"/>
            </a:endParaRPr>
          </a:p>
          <a:p>
            <a:pPr indent="-304800" lvl="0" marL="457200" rtl="0" algn="l">
              <a:spcBef>
                <a:spcPts val="1000"/>
              </a:spcBef>
              <a:spcAft>
                <a:spcPts val="0"/>
              </a:spcAft>
              <a:buSzPts val="1200"/>
              <a:buChar char="●"/>
            </a:pPr>
            <a:r>
              <a:rPr lang="en-IN" sz="1200">
                <a:latin typeface="Arial"/>
                <a:ea typeface="Arial"/>
                <a:cs typeface="Arial"/>
                <a:sym typeface="Arial"/>
              </a:rPr>
              <a:t>Pace, Pasquale, Gianluca Aloi, Raffaele Gravina, Giuseppe Caliciuri, Giancarlo Fortino, and Antonio Liotta. "An edge-based architecture to support efficient applications for healthcare industry 4.0." </a:t>
            </a:r>
            <a:r>
              <a:rPr i="1" lang="en-IN" sz="1200">
                <a:latin typeface="Arial"/>
                <a:ea typeface="Arial"/>
                <a:cs typeface="Arial"/>
                <a:sym typeface="Arial"/>
              </a:rPr>
              <a:t>IEEE Transactions on Industrial Informatics</a:t>
            </a:r>
            <a:r>
              <a:rPr lang="en-IN" sz="1200">
                <a:latin typeface="Arial"/>
                <a:ea typeface="Arial"/>
                <a:cs typeface="Arial"/>
                <a:sym typeface="Arial"/>
              </a:rPr>
              <a:t> 15, no. 1 (2018): 481-489.</a:t>
            </a:r>
            <a:endParaRPr sz="1200">
              <a:latin typeface="Arial"/>
              <a:ea typeface="Arial"/>
              <a:cs typeface="Arial"/>
              <a:sym typeface="Arial"/>
            </a:endParaRPr>
          </a:p>
          <a:p>
            <a:pPr indent="0" lvl="0" marL="0" rtl="0" algn="l">
              <a:spcBef>
                <a:spcPts val="1000"/>
              </a:spcBef>
              <a:spcAft>
                <a:spcPts val="0"/>
              </a:spcAft>
              <a:buNone/>
            </a:pPr>
            <a:r>
              <a:t/>
            </a:r>
            <a:endParaRPr sz="1200">
              <a:latin typeface="Arial"/>
              <a:ea typeface="Arial"/>
              <a:cs typeface="Arial"/>
              <a:sym typeface="Arial"/>
            </a:endParaRPr>
          </a:p>
        </p:txBody>
      </p:sp>
      <p:pic>
        <p:nvPicPr>
          <p:cNvPr id="499" name="Google Shape;499;g38cd6bca61b_3_38"/>
          <p:cNvPicPr preferRelativeResize="0"/>
          <p:nvPr/>
        </p:nvPicPr>
        <p:blipFill rotWithShape="1">
          <a:blip r:embed="rId3">
            <a:alphaModFix/>
          </a:blip>
          <a:srcRect b="0" l="0" r="0" t="0"/>
          <a:stretch/>
        </p:blipFill>
        <p:spPr>
          <a:xfrm>
            <a:off x="9602421" y="0"/>
            <a:ext cx="1751379" cy="815788"/>
          </a:xfrm>
          <a:prstGeom prst="rect">
            <a:avLst/>
          </a:prstGeom>
          <a:noFill/>
          <a:ln>
            <a:noFill/>
          </a:ln>
        </p:spPr>
      </p:pic>
      <p:sp>
        <p:nvSpPr>
          <p:cNvPr id="500" name="Google Shape;500;g38cd6bca61b_3_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Indian Institute of Information Technology Kottayam</a:t>
            </a:r>
            <a:endParaRPr/>
          </a:p>
        </p:txBody>
      </p:sp>
      <p:sp>
        <p:nvSpPr>
          <p:cNvPr id="501" name="Google Shape;501;g38cd6bca61b_3_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1600"/>
              <a:t>‹#›</a:t>
            </a:fld>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2021-08-20T07:15:07Z</dcterms:created>
  <dc:creator>Arun Cyril</dc:creator>
</cp:coreProperties>
</file>